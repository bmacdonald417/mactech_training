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introducing MacTech's Trust Codex — our CMMC Accelerator and CUI Vault Enclave solution. If you're a government contractor, especially a small business, you know that CMMC 2.0 Level 2 compliance isn't optional anymore — it's the price of entry for federal and DoD contracts. What we've built is a turnkey system that gets you from zero to fully aligned with all 110 NIST 800-171 controls in under one week. This isn't theory or consulting — it's a delivered, evidence-ready CUI environment that you can step into immediately. Let's walk through what this is, why you need it, and how we make it simple, contained, and seamless.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why this matters. If you handle Controlled Unclassified Information — or CUI — for any federal or Department of Defense contract, you're now required to meet CMMC 2.0 Level 2. That means implementing all 110 security controls from NIST 800-171 and proving it to a certified third-party assessor, called a C3PAO. No compliance means you're not eligible to bid or continue on contracts. And here's the kicker: small businesses face the exact same requirements as the big defense contractors. You can't skip it, and you can't fake it. The assessor needs clear boundaries, reproducible evidence, and a coherent story about how you protect CUI. That's the challenge we're solving.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mistake contractors make is letting CUI spread across their entire IT environment — laptops, file shares, email, cloud storage, you name it. When CUI is everywhere, your assessment scope becomes everything. That means every device, every server, every network segment has to meet all 110 controls. Evidence collection turns into a scavenger hunt. Auditors can't draw a clear boundary, so they have to assume the worst. Remediation drags on for months, and even then, you might fail the assessment. And while you're scrambling to get compliant, you're losing contract opportunities. The problem isn't just technical — it's architectural. You need a clear boundary, and most organizations don't have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simple: create one vault — a single, contained environment — where all CUI is stored and worked on. Think of it as a secure room in the cloud. No CUI lives on everyday laptops or file shares. Staff access the vault only by connecting through a VPN and remote desktop to a dedicated virtual machine. That's the whole scope. One system. When the auditor asks, "Where's your CUI?" you point to the vault. When they ask, "How do you protect it?" you show them the controls built into the vault. When they ask for evidence, you hand them the index. The vault is the scope — nothing more, nothing less. That's the architectural foundation that makes everything else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vault isn't just infrastructure — it's backed by the Trust Codex. The Codex is a comprehensive manual that maps every one of the 110 NIST 800-171 requirements to how the enclave satisfies them and where the evidence lives. It's not a generic compliance guide — it's specific to your vault. For example, control AC-2 requires account management. The Codex documents how accounts are created in the vault, where the logs are stored, what the policy says, and how to demonstrate it to an auditor. Every control gets the same treatment. We also include pre-built governance — policies, procedures, templates, and runbooks — so evidence collection and validation are repeatable, not ad hoc. The Codex turns your vault into an evidence-ready, auditor-friendly CUI environment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 purpose-built approach, CMMC compliance can take months — and even then, there's no guarantee you'll pass. With the CUI Vault Enclave and Trust Codex accelerator, we're talking about full CMMC 2.0 Level 2 alignment in under one week for small businesses. How? Because the architecture is pre-built, the hardening is already done, and the governance is bundled and ready to deploy. There's no guesswork. Every control is already mapped. Every piece of evidence is indexed. You're not starting from zero — you're stepping into a structure that's already built for the 110 controls. You walk into your C3PAO assessment with confidence, knowing your vault is ready. This is speed without shortcuts.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how we make this simple. First, one boundary: the enclave is the scope. You're not trying to secure your entire IT environment — just the vault. Second, one control set: the 110 NIST 800-171 controls are already mapped in the Trust Codex. You don't have to interpret the requirements or figure out how to apply them — we've done that work. Third, pre-built governance: policies, procedures, and templates are included. And fourth, a runbook so evidence collection and validation are repeatable. You're not scrambling at the last minute trying to find logs or screenshots. Everything is documented, indexed, and ready. That's what we mean by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Containment is critical. The vault is a hardened virtual machine — typically Windows Server running in Azure or another secure cloud. There's no public RDP access. Staff connect only through a VPN and then remote desktop into the vault. Identity and multi-factor authentication are enforced using something like Microsoft Entra ID. We disable USB redirection, clipboard sharing, and removable media. CUI stays inside the vault — no leakage, no exceptions. This isn't just best practice — it's how we satisfy controls around access control, boundary protection, and data-at-rest encryption. Containment is what makes the vault auditable. The auditor can see exactly where CUI lives and exactly how it's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it all comes together. MacTech delivers the Trust Codex plus the VM deployment. That includes the architecture, the hardening, the governance bundle, the evidence index, and automation — like evidence collection and validation scripts. You get a turnkey CUI enclave and the playbook to keep it compliant and assessment-ready. Small businesses don't have to build this from zero. You don't need a compliance team or a security architect on staff. You step into a structure that's already built for the 110 controls. We hand you the keys, the manual, and the runbook. That's what we mean by delivered seamlessly.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break down what's included in the delivery. First, the CUI Vault Enclave itself — a hardened virtual machine, fully configured and deployed. Second, the Trust Codex manual, which maps all 110 controls to your vault. Third, the governance bundle: policies, procedures, templates, and runbooks. Fourth, an evidence index that tells you exactly where every piece of evidence lives — logs, configs, screenshots, policy documents. Fifth, automation scripts for evidence collection and validation, so you're not doing this manually. And sixth, ongoing support for maintenance, updates, and assessment prep. This isn't a one-time delivery — it's a partnership. We make sure you stay compliant and assessment-ready.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Government contractors — especially small businesses — who handle CUI and need to meet CMMC 2.0 Level 2. If you don't have a large IT team or a dedicated compliance staff, this is for you. If you're facing your first CMMC assessment and don't know where to start, this is for you. If you need to get compliant fast without cutting corners, this is for you. And if you want a clear, auditable, evidence-ready CUI environment that you can explain to an assessor in five minutes, this is definitely for you. We built this for the contractors who are doing the work but don't have the resources to build a compliance program from scratch. Now, let's talk about why MacTech is the right partner for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MacTech? First, we have deep expertise in CMMC 2.0, NIST 800-171, and federal compliance. We know what assessors look for because we've been through it. Second, this is a pre-built, tested architecture — not custom consulting. You're not paying us to figure it out as we go. Third, turnkey delivery. You get a working vault, not a plan. Fourth, it's evidence-ready from day one. You can hand the Codex to your C3PAO and they'll understand exactly what you've built. And fifth, this is a proven approach. It's designed for small businesses and validated by assessors. We've done the hard work so you don't have to. So, how do you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the path forward? Three simple steps. First, engage. We start with an initial consultation to understand your CUI environment, your contract requirements, and your timeline. Second, deploy. MacTech delivers and configures your CUI Vault Enclave and Trust Codex. This includes the VM, the governance bundle, the evidence index, and the runbook. Third, assess. You walk into your C3PAO assessment with confidence, knowing you have a clear boundary, documented controls, and reproducible evidence. The timeline? Under one week for small businesses. That's from engagement to deployment to assessment-ready. We move fast because the architecture is already built. Now, let's talk about the urgency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bottom line: CMMC 2.0 Level 2 is required, not optional. If you're handling CUI, you need to be compliant or you'll lose contract eligibility. Scattered CUI and ad hoc compliance will fail the assessment. The CUI Vault Enclave and Trust Codex get you compliant fast — with a clear boundary, documented controls, and reproducible evidence. Don't let compliance block your contracts. Contact MacTech today to start your CMMC accelerator engagement. We'll get you assessment-ready in under one week. Let's make compliance simple, contained, and seamless. Here's how to reach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If you have questions or want to get started, here's how to reach us. Visit our website, send us an email, or give us a call. We're here to help you get CMMC 2.0 Level 2 compliant and assessment-ready. Remember: simple, contained, delivered seamlessly. That's the MacTech Trust Codex. Let's get you compliant and back to winning contracts.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1038941" cy="333970"/>
          </a:xfrm>
          <a:prstGeom prst="rect">
            <a:avLst/>
          </a:prstGeom>
          <a:solidFill>
            <a:srgbClr val="0F2942"/>
          </a:solidFill>
          <a:ln w="18288">
            <a:solidFill>
              <a:srgbClr val="FFFFFF"/>
            </a:solidFill>
            <a:prstDash val="solid"/>
          </a:ln>
        </p:spPr>
      </p:sp>
      <p:sp>
        <p:nvSpPr>
          <p:cNvPr id="5" name="Text 1"/>
          <p:cNvSpPr/>
          <p:nvPr/>
        </p:nvSpPr>
        <p:spPr>
          <a:xfrm>
            <a:off x="428625" y="428625"/>
            <a:ext cx="1038941" cy="333970"/>
          </a:xfrm>
          <a:prstGeom prst="rect">
            <a:avLst/>
          </a:prstGeom>
          <a:noFill/>
          <a:ln/>
        </p:spPr>
        <p:txBody>
          <a:bodyPr wrap="square" lIns="127508" tIns="42545" rIns="127508" bIns="42545" rtlCol="0" anchor="t">
            <a:spAutoFit/>
          </a:bodyPr>
          <a:lstStyle/>
          <a:p>
            <a:pPr algn="l" indent="0" marL="0">
              <a:lnSpc>
                <a:spcPts val="1600"/>
              </a:lnSpc>
              <a:buNone/>
            </a:pPr>
            <a:r>
              <a:rPr lang="en-US" sz="1269" dirty="0">
                <a:solidFill>
                  <a:srgbClr val="FFFFFF"/>
                </a:solidFill>
              </a:rPr>
              <a:t>MACTECH</a:t>
            </a:r>
            <a:endParaRPr lang="en-US" sz="1269" dirty="0"/>
          </a:p>
        </p:txBody>
      </p:sp>
      <p:sp>
        <p:nvSpPr>
          <p:cNvPr id="6" name="Shape 2"/>
          <p:cNvSpPr/>
          <p:nvPr/>
        </p:nvSpPr>
        <p:spPr>
          <a:xfrm>
            <a:off x="1357313" y="553836"/>
            <a:ext cx="6429375" cy="4035828"/>
          </a:xfrm>
          <a:prstGeom prst="rect">
            <a:avLst/>
          </a:prstGeom>
          <a:solidFill>
            <a:srgbClr val="0F2942">
              <a:alpha val="85000"/>
            </a:srgbClr>
          </a:solidFill>
          <a:ln w="9144">
            <a:solidFill>
              <a:srgbClr val="38BDF8"/>
            </a:solidFill>
            <a:prstDash val="solid"/>
          </a:ln>
        </p:spPr>
      </p:sp>
      <p:sp>
        <p:nvSpPr>
          <p:cNvPr id="7" name="Text 3"/>
          <p:cNvSpPr/>
          <p:nvPr/>
        </p:nvSpPr>
        <p:spPr>
          <a:xfrm>
            <a:off x="1785938" y="989605"/>
            <a:ext cx="5572125" cy="1508727"/>
          </a:xfrm>
          <a:prstGeom prst="rect">
            <a:avLst/>
          </a:prstGeom>
          <a:noFill/>
          <a:ln/>
        </p:spPr>
        <p:txBody>
          <a:bodyPr wrap="square" lIns="0" tIns="0" rIns="0" bIns="0" rtlCol="0" anchor="t">
            <a:spAutoFit/>
          </a:bodyPr>
          <a:lstStyle/>
          <a:p>
            <a:pPr algn="ctr" indent="0" marL="0">
              <a:lnSpc>
                <a:spcPts val="5900"/>
              </a:lnSpc>
              <a:buNone/>
            </a:pPr>
            <a:r>
              <a:rPr lang="en-US" sz="4974" b="1" spc="2" kern="0" dirty="0">
                <a:solidFill>
                  <a:srgbClr val="FFFFFF"/>
                </a:solidFill>
              </a:rPr>
              <a:t>MacTech Trust Codex</a:t>
            </a:r>
            <a:endParaRPr lang="en-US" sz="4974" dirty="0"/>
          </a:p>
        </p:txBody>
      </p:sp>
      <p:sp>
        <p:nvSpPr>
          <p:cNvPr id="8" name="Text 4"/>
          <p:cNvSpPr/>
          <p:nvPr/>
        </p:nvSpPr>
        <p:spPr>
          <a:xfrm>
            <a:off x="1785938" y="2641206"/>
            <a:ext cx="5572125" cy="700088"/>
          </a:xfrm>
          <a:prstGeom prst="rect">
            <a:avLst/>
          </a:prstGeom>
          <a:noFill/>
          <a:ln/>
        </p:spPr>
        <p:txBody>
          <a:bodyPr wrap="square" lIns="0" tIns="0" rIns="0" bIns="0" rtlCol="0" anchor="t">
            <a:spAutoFit/>
          </a:bodyPr>
          <a:lstStyle/>
          <a:p>
            <a:pPr algn="ctr" indent="0" marL="0">
              <a:lnSpc>
                <a:spcPts val="2400"/>
              </a:lnSpc>
              <a:buNone/>
            </a:pPr>
            <a:r>
              <a:rPr lang="en-US" sz="1808" b="1" spc="1" kern="0" dirty="0">
                <a:solidFill>
                  <a:srgbClr val="38BDF8"/>
                </a:solidFill>
              </a:rPr>
              <a:t>CMMC Accelerator &amp; CUI Vault Enclave</a:t>
            </a:r>
            <a:endParaRPr lang="en-US" sz="1808" dirty="0"/>
          </a:p>
        </p:txBody>
      </p:sp>
      <p:sp>
        <p:nvSpPr>
          <p:cNvPr id="9" name="Text 5"/>
          <p:cNvSpPr/>
          <p:nvPr/>
        </p:nvSpPr>
        <p:spPr>
          <a:xfrm>
            <a:off x="2457059" y="3919937"/>
            <a:ext cx="4229853" cy="233958"/>
          </a:xfrm>
          <a:prstGeom prst="rect">
            <a:avLst/>
          </a:prstGeom>
          <a:noFill/>
          <a:ln/>
        </p:spPr>
        <p:txBody>
          <a:bodyPr wrap="none" lIns="0" tIns="0" rIns="0" bIns="0" rtlCol="0" anchor="t">
            <a:spAutoFit/>
          </a:bodyPr>
          <a:lstStyle/>
          <a:p>
            <a:pPr algn="ctr" indent="0" marL="0">
              <a:lnSpc>
                <a:spcPts val="1600"/>
              </a:lnSpc>
              <a:buNone/>
            </a:pPr>
            <a:r>
              <a:rPr lang="en-US" sz="1269" dirty="0">
                <a:solidFill>
                  <a:srgbClr val="E2E8F0"/>
                </a:solidFill>
              </a:rPr>
              <a:t>Full CMMC 2.0 Level 2 Alignment in Under One Week</a:t>
            </a:r>
            <a:endParaRPr lang="en-US" sz="1269" dirty="0"/>
          </a:p>
        </p:txBody>
      </p:sp>
      <p:sp>
        <p:nvSpPr>
          <p:cNvPr id="10" name="Text 6"/>
          <p:cNvSpPr/>
          <p:nvPr/>
        </p:nvSpPr>
        <p:spPr>
          <a:xfrm>
            <a:off x="7678359" y="4379119"/>
            <a:ext cx="1108453" cy="407194"/>
          </a:xfrm>
          <a:prstGeom prst="rect">
            <a:avLst/>
          </a:prstGeom>
          <a:noFill/>
          <a:ln/>
        </p:spPr>
        <p:txBody>
          <a:bodyPr wrap="square" lIns="0" tIns="0" rIns="0" bIns="0" rtlCol="0" anchor="t">
            <a:spAutoFit/>
          </a:bodyPr>
          <a:lstStyle/>
          <a:p>
            <a:pPr algn="r" indent="0" marL="0">
              <a:lnSpc>
                <a:spcPts val="900"/>
              </a:lnSpc>
              <a:buNone/>
            </a:pPr>
            <a:r>
              <a:rPr lang="en-US" sz="727" dirty="0">
                <a:solidFill>
                  <a:srgbClr val="94A3B8">
                    <a:alpha val="70000"/>
                  </a:srgbClr>
                </a:solidFill>
              </a:rPr>
              <a:t>REF: CMMC-L2-ACCEL</a:t>
            </a:r>
            <a:pPr algn="r" indent="0" marL="0">
              <a:lnSpc>
                <a:spcPts val="900"/>
              </a:lnSpc>
              <a:buNone/>
            </a:pPr>
            <a:r>
              <a:rPr lang="en-US" sz="727" dirty="0">
                <a:solidFill>
                  <a:srgbClr val="94A3B8">
                    <a:alpha val="70000"/>
                  </a:srgbClr>
                </a:solidFill>
              </a:rPr>
              <a:t>
</a:t>
            </a:r>
            <a:pPr algn="r" indent="0" marL="0">
              <a:lnSpc>
                <a:spcPts val="900"/>
              </a:lnSpc>
              <a:buNone/>
            </a:pPr>
            <a:r>
              <a:rPr lang="en-US" sz="727" dirty="0">
                <a:solidFill>
                  <a:srgbClr val="94A3B8">
                    <a:alpha val="70000"/>
                  </a:srgbClr>
                </a:solidFill>
              </a:rPr>
              <a:t> VER: 2.0</a:t>
            </a:r>
            <a:pPr algn="r" indent="0" marL="0">
              <a:lnSpc>
                <a:spcPts val="900"/>
              </a:lnSpc>
              <a:buNone/>
            </a:pPr>
            <a:r>
              <a:rPr lang="en-US" sz="727" dirty="0">
                <a:solidFill>
                  <a:srgbClr val="94A3B8">
                    <a:alpha val="70000"/>
                  </a:srgbClr>
                </a:solidFill>
              </a:rPr>
              <a:t>
</a:t>
            </a:r>
            <a:pPr algn="r" indent="0" marL="0">
              <a:lnSpc>
                <a:spcPts val="900"/>
              </a:lnSpc>
              <a:buNone/>
            </a:pPr>
            <a:r>
              <a:rPr lang="en-US" sz="727" dirty="0">
                <a:solidFill>
                  <a:srgbClr val="94A3B8">
                    <a:alpha val="70000"/>
                  </a:srgbClr>
                </a:solidFill>
              </a:rPr>
              <a:t> STATUS: CONFIDENTIAL</a:t>
            </a:r>
            <a:endParaRPr lang="en-US" sz="72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71500" y="428625"/>
            <a:ext cx="8001000" cy="1157957"/>
          </a:xfrm>
          <a:prstGeom prst="rect">
            <a:avLst/>
          </a:prstGeom>
          <a:solidFill>
            <a:srgbClr val="000000">
              <a:alpha val="0"/>
            </a:srgbClr>
          </a:solidFill>
          <a:ln/>
        </p:spPr>
      </p:sp>
      <p:sp>
        <p:nvSpPr>
          <p:cNvPr id="5" name="Shape 1"/>
          <p:cNvSpPr/>
          <p:nvPr/>
        </p:nvSpPr>
        <p:spPr>
          <a:xfrm>
            <a:off x="571500" y="1572295"/>
            <a:ext cx="8001000" cy="14288"/>
          </a:xfrm>
          <a:prstGeom prst="rect">
            <a:avLst/>
          </a:prstGeom>
          <a:solidFill>
            <a:srgbClr val="38BDF8"/>
          </a:solidFill>
          <a:ln/>
        </p:spPr>
      </p:sp>
      <p:sp>
        <p:nvSpPr>
          <p:cNvPr id="6" name="Text 2"/>
          <p:cNvSpPr/>
          <p:nvPr/>
        </p:nvSpPr>
        <p:spPr>
          <a:xfrm>
            <a:off x="571500" y="428625"/>
            <a:ext cx="8001000" cy="175022"/>
          </a:xfrm>
          <a:prstGeom prst="rect">
            <a:avLst/>
          </a:prstGeom>
          <a:noFill/>
          <a:ln/>
        </p:spPr>
        <p:txBody>
          <a:bodyPr wrap="none" lIns="0" tIns="0" rIns="0" bIns="0" rtlCol="0" anchor="t">
            <a:spAutoFit/>
          </a:bodyPr>
          <a:lstStyle/>
          <a:p>
            <a:pPr algn="l" indent="0" marL="0">
              <a:lnSpc>
                <a:spcPts val="1200"/>
              </a:lnSpc>
              <a:buNone/>
            </a:pPr>
            <a:r>
              <a:rPr lang="en-US" sz="942" spc="2" kern="0" dirty="0">
                <a:solidFill>
                  <a:srgbClr val="38BDF8"/>
                </a:solidFill>
              </a:rPr>
              <a:t>The Challenge</a:t>
            </a:r>
            <a:endParaRPr lang="en-US" sz="942" dirty="0"/>
          </a:p>
        </p:txBody>
      </p:sp>
      <p:sp>
        <p:nvSpPr>
          <p:cNvPr id="7" name="Text 3"/>
          <p:cNvSpPr/>
          <p:nvPr/>
        </p:nvSpPr>
        <p:spPr>
          <a:xfrm>
            <a:off x="571500" y="675084"/>
            <a:ext cx="6429375"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rPr>
              <a:t>Government Contracting Now Requires CMMC 2.0 Level 2</a:t>
            </a:r>
            <a:endParaRPr lang="en-US" sz="2436" dirty="0"/>
          </a:p>
        </p:txBody>
      </p:sp>
      <p:sp>
        <p:nvSpPr>
          <p:cNvPr id="8" name="Shape 4"/>
          <p:cNvSpPr/>
          <p:nvPr/>
        </p:nvSpPr>
        <p:spPr>
          <a:xfrm>
            <a:off x="7858125" y="1543720"/>
            <a:ext cx="714375" cy="71438"/>
          </a:xfrm>
          <a:prstGeom prst="rect">
            <a:avLst/>
          </a:prstGeom>
          <a:solidFill>
            <a:srgbClr val="38BDF8"/>
          </a:solidFill>
          <a:ln/>
        </p:spPr>
      </p:sp>
      <p:sp>
        <p:nvSpPr>
          <p:cNvPr id="9" name="Shape 5"/>
          <p:cNvSpPr/>
          <p:nvPr/>
        </p:nvSpPr>
        <p:spPr>
          <a:xfrm>
            <a:off x="571500" y="1715170"/>
            <a:ext cx="4517696" cy="769739"/>
          </a:xfrm>
          <a:prstGeom prst="rect">
            <a:avLst/>
          </a:prstGeom>
          <a:solidFill>
            <a:srgbClr val="0F2942">
              <a:alpha val="60000"/>
            </a:srgbClr>
          </a:solidFill>
          <a:ln/>
        </p:spPr>
      </p:sp>
      <p:sp>
        <p:nvSpPr>
          <p:cNvPr id="10" name="Shape 6"/>
          <p:cNvSpPr/>
          <p:nvPr/>
        </p:nvSpPr>
        <p:spPr>
          <a:xfrm>
            <a:off x="571500" y="1715170"/>
            <a:ext cx="28575" cy="769739"/>
          </a:xfrm>
          <a:prstGeom prst="rect">
            <a:avLst/>
          </a:prstGeom>
          <a:solidFill>
            <a:srgbClr val="94A3B8"/>
          </a:solidFill>
          <a:ln/>
        </p:spPr>
      </p:sp>
      <p:pic>
        <p:nvPicPr>
          <p:cNvPr id="11" name="Image 1" descr="preencoded.png">    </p:cNvPr>
          <p:cNvPicPr>
            <a:picLocks noChangeAspect="1"/>
          </p:cNvPicPr>
          <p:nvPr/>
        </p:nvPicPr>
        <p:blipFill>
          <a:blip r:embed="rId2"/>
          <a:stretch>
            <a:fillRect/>
          </a:stretch>
        </p:blipFill>
        <p:spPr>
          <a:xfrm>
            <a:off x="771525" y="1843757"/>
            <a:ext cx="142875" cy="142875"/>
          </a:xfrm>
          <a:prstGeom prst="rect">
            <a:avLst/>
          </a:prstGeom>
        </p:spPr>
      </p:pic>
      <p:sp>
        <p:nvSpPr>
          <p:cNvPr id="12" name="Text 7"/>
          <p:cNvSpPr/>
          <p:nvPr/>
        </p:nvSpPr>
        <p:spPr>
          <a:xfrm>
            <a:off x="1100138" y="1772320"/>
            <a:ext cx="3860471"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rPr>
              <a:t>Mandatory Compliance</a:t>
            </a:r>
            <a:endParaRPr lang="en-US" sz="1193" dirty="0"/>
          </a:p>
        </p:txBody>
      </p:sp>
      <p:sp>
        <p:nvSpPr>
          <p:cNvPr id="13" name="Text 8"/>
          <p:cNvSpPr/>
          <p:nvPr/>
        </p:nvSpPr>
        <p:spPr>
          <a:xfrm>
            <a:off x="1100138" y="2041996"/>
            <a:ext cx="3860471"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E2E8F0"/>
                </a:solidFill>
              </a:rPr>
              <a:t>Federal and DoD contracts increasingly mandate CMMC 2.0 Level 2 compliance.</a:t>
            </a:r>
            <a:endParaRPr lang="en-US" sz="942" dirty="0"/>
          </a:p>
        </p:txBody>
      </p:sp>
      <p:sp>
        <p:nvSpPr>
          <p:cNvPr id="14" name="Shape 9"/>
          <p:cNvSpPr/>
          <p:nvPr/>
        </p:nvSpPr>
        <p:spPr>
          <a:xfrm>
            <a:off x="571500" y="2556346"/>
            <a:ext cx="4517696" cy="769739"/>
          </a:xfrm>
          <a:prstGeom prst="rect">
            <a:avLst/>
          </a:prstGeom>
          <a:solidFill>
            <a:srgbClr val="0F2942">
              <a:alpha val="60000"/>
            </a:srgbClr>
          </a:solidFill>
          <a:ln/>
        </p:spPr>
      </p:sp>
      <p:sp>
        <p:nvSpPr>
          <p:cNvPr id="15" name="Shape 10"/>
          <p:cNvSpPr/>
          <p:nvPr/>
        </p:nvSpPr>
        <p:spPr>
          <a:xfrm>
            <a:off x="571500" y="2556346"/>
            <a:ext cx="28575" cy="769739"/>
          </a:xfrm>
          <a:prstGeom prst="rect">
            <a:avLst/>
          </a:prstGeom>
          <a:solidFill>
            <a:srgbClr val="94A3B8"/>
          </a:solidFill>
          <a:ln/>
        </p:spPr>
      </p:sp>
      <p:pic>
        <p:nvPicPr>
          <p:cNvPr id="16" name="Image 2" descr="preencoded.png">    </p:cNvPr>
          <p:cNvPicPr>
            <a:picLocks noChangeAspect="1"/>
          </p:cNvPicPr>
          <p:nvPr/>
        </p:nvPicPr>
        <p:blipFill>
          <a:blip r:embed="rId3"/>
          <a:stretch>
            <a:fillRect/>
          </a:stretch>
        </p:blipFill>
        <p:spPr>
          <a:xfrm>
            <a:off x="771525" y="2684934"/>
            <a:ext cx="142875" cy="142875"/>
          </a:xfrm>
          <a:prstGeom prst="rect">
            <a:avLst/>
          </a:prstGeom>
        </p:spPr>
      </p:pic>
      <p:sp>
        <p:nvSpPr>
          <p:cNvPr id="17" name="Text 11"/>
          <p:cNvSpPr/>
          <p:nvPr/>
        </p:nvSpPr>
        <p:spPr>
          <a:xfrm>
            <a:off x="1100138" y="2613496"/>
            <a:ext cx="3860471"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rPr>
              <a:t>110 NIST Controls</a:t>
            </a:r>
            <a:endParaRPr lang="en-US" sz="1193" dirty="0"/>
          </a:p>
        </p:txBody>
      </p:sp>
      <p:sp>
        <p:nvSpPr>
          <p:cNvPr id="18" name="Text 12"/>
          <p:cNvSpPr/>
          <p:nvPr/>
        </p:nvSpPr>
        <p:spPr>
          <a:xfrm>
            <a:off x="1100138" y="2883173"/>
            <a:ext cx="3860471"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E2E8F0"/>
                </a:solidFill>
              </a:rPr>
              <a:t>Requires implementation and evidence for all 110 NIST 800-171 controls.</a:t>
            </a:r>
            <a:endParaRPr lang="en-US" sz="942" dirty="0"/>
          </a:p>
        </p:txBody>
      </p:sp>
      <p:sp>
        <p:nvSpPr>
          <p:cNvPr id="19" name="Shape 13"/>
          <p:cNvSpPr/>
          <p:nvPr/>
        </p:nvSpPr>
        <p:spPr>
          <a:xfrm>
            <a:off x="571500" y="3397523"/>
            <a:ext cx="4517696" cy="576858"/>
          </a:xfrm>
          <a:prstGeom prst="rect">
            <a:avLst/>
          </a:prstGeom>
          <a:solidFill>
            <a:srgbClr val="38BDF8">
              <a:alpha val="10000"/>
            </a:srgbClr>
          </a:solidFill>
          <a:ln/>
        </p:spPr>
      </p:sp>
      <p:sp>
        <p:nvSpPr>
          <p:cNvPr id="20" name="Shape 14"/>
          <p:cNvSpPr/>
          <p:nvPr/>
        </p:nvSpPr>
        <p:spPr>
          <a:xfrm>
            <a:off x="571500" y="3397523"/>
            <a:ext cx="28575" cy="576858"/>
          </a:xfrm>
          <a:prstGeom prst="rect">
            <a:avLst/>
          </a:prstGeom>
          <a:solidFill>
            <a:srgbClr val="38BDF8"/>
          </a:solidFill>
          <a:ln/>
        </p:spPr>
      </p:sp>
      <p:pic>
        <p:nvPicPr>
          <p:cNvPr id="21" name="Image 3" descr="preencoded.png">    </p:cNvPr>
          <p:cNvPicPr>
            <a:picLocks noChangeAspect="1"/>
          </p:cNvPicPr>
          <p:nvPr/>
        </p:nvPicPr>
        <p:blipFill>
          <a:blip r:embed="rId4"/>
          <a:stretch>
            <a:fillRect/>
          </a:stretch>
        </p:blipFill>
        <p:spPr>
          <a:xfrm>
            <a:off x="771525" y="3526110"/>
            <a:ext cx="142875" cy="142875"/>
          </a:xfrm>
          <a:prstGeom prst="rect">
            <a:avLst/>
          </a:prstGeom>
        </p:spPr>
      </p:pic>
      <p:sp>
        <p:nvSpPr>
          <p:cNvPr id="22" name="Text 15"/>
          <p:cNvSpPr/>
          <p:nvPr/>
        </p:nvSpPr>
        <p:spPr>
          <a:xfrm>
            <a:off x="1100138" y="3454673"/>
            <a:ext cx="2883619"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rPr>
              <a:t>No Compliance = No Contract</a:t>
            </a:r>
            <a:endParaRPr lang="en-US" sz="1193" dirty="0"/>
          </a:p>
        </p:txBody>
      </p:sp>
      <p:sp>
        <p:nvSpPr>
          <p:cNvPr id="23" name="Text 16"/>
          <p:cNvSpPr/>
          <p:nvPr/>
        </p:nvSpPr>
        <p:spPr>
          <a:xfrm>
            <a:off x="1100138" y="3724349"/>
            <a:ext cx="2883619" cy="192881"/>
          </a:xfrm>
          <a:prstGeom prst="rect">
            <a:avLst/>
          </a:prstGeom>
          <a:noFill/>
          <a:ln/>
        </p:spPr>
        <p:txBody>
          <a:bodyPr wrap="none" lIns="0" tIns="0" rIns="0" bIns="0" rtlCol="0" anchor="t">
            <a:spAutoFit/>
          </a:bodyPr>
          <a:lstStyle/>
          <a:p>
            <a:pPr algn="l" indent="0" marL="0">
              <a:lnSpc>
                <a:spcPts val="1500"/>
              </a:lnSpc>
              <a:buNone/>
            </a:pPr>
            <a:r>
              <a:rPr lang="en-US" sz="942" dirty="0">
                <a:solidFill>
                  <a:srgbClr val="E2E8F0"/>
                </a:solidFill>
              </a:rPr>
              <a:t>Eligibility is strictly enforced. No exceptions.</a:t>
            </a:r>
            <a:endParaRPr lang="en-US" sz="942" dirty="0"/>
          </a:p>
        </p:txBody>
      </p:sp>
      <p:sp>
        <p:nvSpPr>
          <p:cNvPr id="24" name="Shape 17"/>
          <p:cNvSpPr/>
          <p:nvPr/>
        </p:nvSpPr>
        <p:spPr>
          <a:xfrm>
            <a:off x="571500" y="4045818"/>
            <a:ext cx="4517696" cy="576858"/>
          </a:xfrm>
          <a:prstGeom prst="rect">
            <a:avLst/>
          </a:prstGeom>
          <a:solidFill>
            <a:srgbClr val="0F2942">
              <a:alpha val="60000"/>
            </a:srgbClr>
          </a:solidFill>
          <a:ln/>
        </p:spPr>
      </p:sp>
      <p:sp>
        <p:nvSpPr>
          <p:cNvPr id="25" name="Shape 18"/>
          <p:cNvSpPr/>
          <p:nvPr/>
        </p:nvSpPr>
        <p:spPr>
          <a:xfrm>
            <a:off x="571500" y="4045818"/>
            <a:ext cx="28575" cy="576858"/>
          </a:xfrm>
          <a:prstGeom prst="rect">
            <a:avLst/>
          </a:prstGeom>
          <a:solidFill>
            <a:srgbClr val="94A3B8"/>
          </a:solidFill>
          <a:ln/>
        </p:spPr>
      </p:sp>
      <p:pic>
        <p:nvPicPr>
          <p:cNvPr id="26" name="Image 4" descr="preencoded.png">    </p:cNvPr>
          <p:cNvPicPr>
            <a:picLocks noChangeAspect="1"/>
          </p:cNvPicPr>
          <p:nvPr/>
        </p:nvPicPr>
        <p:blipFill>
          <a:blip r:embed="rId5"/>
          <a:stretch>
            <a:fillRect/>
          </a:stretch>
        </p:blipFill>
        <p:spPr>
          <a:xfrm>
            <a:off x="771525" y="4174406"/>
            <a:ext cx="142875" cy="142875"/>
          </a:xfrm>
          <a:prstGeom prst="rect">
            <a:avLst/>
          </a:prstGeom>
        </p:spPr>
      </p:pic>
      <p:sp>
        <p:nvSpPr>
          <p:cNvPr id="27" name="Text 19"/>
          <p:cNvSpPr/>
          <p:nvPr/>
        </p:nvSpPr>
        <p:spPr>
          <a:xfrm>
            <a:off x="1100138" y="4102968"/>
            <a:ext cx="3632095"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rPr>
              <a:t>Auditor-Ready Evidence</a:t>
            </a:r>
            <a:endParaRPr lang="en-US" sz="1193" dirty="0"/>
          </a:p>
        </p:txBody>
      </p:sp>
      <p:sp>
        <p:nvSpPr>
          <p:cNvPr id="28" name="Text 20"/>
          <p:cNvSpPr/>
          <p:nvPr/>
        </p:nvSpPr>
        <p:spPr>
          <a:xfrm>
            <a:off x="1100138" y="4372645"/>
            <a:ext cx="3632095" cy="192881"/>
          </a:xfrm>
          <a:prstGeom prst="rect">
            <a:avLst/>
          </a:prstGeom>
          <a:noFill/>
          <a:ln/>
        </p:spPr>
        <p:txBody>
          <a:bodyPr wrap="none" lIns="0" tIns="0" rIns="0" bIns="0" rtlCol="0" anchor="t">
            <a:spAutoFit/>
          </a:bodyPr>
          <a:lstStyle/>
          <a:p>
            <a:pPr algn="l" indent="0" marL="0">
              <a:lnSpc>
                <a:spcPts val="1500"/>
              </a:lnSpc>
              <a:buNone/>
            </a:pPr>
            <a:r>
              <a:rPr lang="en-US" sz="942" dirty="0">
                <a:solidFill>
                  <a:srgbClr val="E2E8F0"/>
                </a:solidFill>
              </a:rPr>
              <a:t>Assessment by C3PAO requires reproducible, clear evidence.</a:t>
            </a:r>
            <a:endParaRPr lang="en-US" sz="942" dirty="0"/>
          </a:p>
        </p:txBody>
      </p:sp>
      <p:sp>
        <p:nvSpPr>
          <p:cNvPr id="29" name="Shape 21"/>
          <p:cNvSpPr/>
          <p:nvPr/>
        </p:nvSpPr>
        <p:spPr>
          <a:xfrm>
            <a:off x="5374946" y="1715170"/>
            <a:ext cx="3197554" cy="2912864"/>
          </a:xfrm>
          <a:prstGeom prst="rect">
            <a:avLst/>
          </a:prstGeom>
          <a:solidFill>
            <a:srgbClr val="0F2942">
              <a:alpha val="50000"/>
            </a:srgbClr>
          </a:solidFill>
          <a:ln w="9144">
            <a:solidFill>
              <a:srgbClr val="38BDF8"/>
            </a:solidFill>
            <a:prstDash val="dash"/>
          </a:ln>
        </p:spPr>
      </p:sp>
      <p:sp>
        <p:nvSpPr>
          <p:cNvPr id="30" name="Shape 22"/>
          <p:cNvSpPr/>
          <p:nvPr/>
        </p:nvSpPr>
        <p:spPr>
          <a:xfrm>
            <a:off x="6477958" y="1843757"/>
            <a:ext cx="1000125" cy="714375"/>
          </a:xfrm>
          <a:prstGeom prst="rect">
            <a:avLst/>
          </a:prstGeom>
          <a:solidFill>
            <a:srgbClr val="0F2942"/>
          </a:solidFill>
          <a:ln w="18288">
            <a:solidFill>
              <a:srgbClr val="E2E8F0"/>
            </a:solidFill>
            <a:prstDash val="solid"/>
          </a:ln>
        </p:spPr>
      </p:sp>
      <p:pic>
        <p:nvPicPr>
          <p:cNvPr id="31" name="Image 5" descr="preencoded.png">    </p:cNvPr>
          <p:cNvPicPr>
            <a:picLocks noChangeAspect="1"/>
          </p:cNvPicPr>
          <p:nvPr/>
        </p:nvPicPr>
        <p:blipFill>
          <a:blip r:embed="rId6"/>
          <a:stretch>
            <a:fillRect/>
          </a:stretch>
        </p:blipFill>
        <p:spPr>
          <a:xfrm>
            <a:off x="6849433" y="1923231"/>
            <a:ext cx="257175" cy="342900"/>
          </a:xfrm>
          <a:prstGeom prst="rect">
            <a:avLst/>
          </a:prstGeom>
        </p:spPr>
      </p:pic>
      <p:sp>
        <p:nvSpPr>
          <p:cNvPr id="32" name="Text 23"/>
          <p:cNvSpPr/>
          <p:nvPr/>
        </p:nvSpPr>
        <p:spPr>
          <a:xfrm>
            <a:off x="6562818" y="2323281"/>
            <a:ext cx="830405" cy="155377"/>
          </a:xfrm>
          <a:prstGeom prst="rect">
            <a:avLst/>
          </a:prstGeom>
          <a:noFill/>
          <a:ln/>
        </p:spPr>
        <p:txBody>
          <a:bodyPr wrap="none" lIns="0" tIns="0" rIns="0" bIns="0" rtlCol="0" anchor="t">
            <a:spAutoFit/>
          </a:bodyPr>
          <a:lstStyle/>
          <a:p>
            <a:pPr algn="ctr" indent="0" marL="0">
              <a:lnSpc>
                <a:spcPts val="1100"/>
              </a:lnSpc>
              <a:buNone/>
            </a:pPr>
            <a:r>
              <a:rPr lang="en-US" sz="834" dirty="0">
                <a:solidFill>
                  <a:srgbClr val="E2E8F0"/>
                </a:solidFill>
              </a:rPr>
              <a:t>Contract Award</a:t>
            </a:r>
            <a:endParaRPr lang="en-US" sz="834" dirty="0"/>
          </a:p>
        </p:txBody>
      </p:sp>
      <p:sp>
        <p:nvSpPr>
          <p:cNvPr id="33" name="Shape 24"/>
          <p:cNvSpPr/>
          <p:nvPr/>
        </p:nvSpPr>
        <p:spPr>
          <a:xfrm>
            <a:off x="6477958" y="2643857"/>
            <a:ext cx="1000125" cy="714375"/>
          </a:xfrm>
          <a:prstGeom prst="rect">
            <a:avLst/>
          </a:prstGeom>
          <a:solidFill>
            <a:srgbClr val="0F2942"/>
          </a:solidFill>
          <a:ln w="18288">
            <a:solidFill>
              <a:srgbClr val="38BDF8"/>
            </a:solidFill>
            <a:prstDash val="solid"/>
          </a:ln>
        </p:spPr>
      </p:sp>
      <p:pic>
        <p:nvPicPr>
          <p:cNvPr id="34" name="Image 6" descr="preencoded.png">    </p:cNvPr>
          <p:cNvPicPr>
            <a:picLocks noChangeAspect="1"/>
          </p:cNvPicPr>
          <p:nvPr/>
        </p:nvPicPr>
        <p:blipFill>
          <a:blip r:embed="rId7"/>
          <a:stretch>
            <a:fillRect/>
          </a:stretch>
        </p:blipFill>
        <p:spPr>
          <a:xfrm>
            <a:off x="6806571" y="2723331"/>
            <a:ext cx="342900" cy="342900"/>
          </a:xfrm>
          <a:prstGeom prst="rect">
            <a:avLst/>
          </a:prstGeom>
        </p:spPr>
      </p:pic>
      <p:sp>
        <p:nvSpPr>
          <p:cNvPr id="35" name="Text 25"/>
          <p:cNvSpPr/>
          <p:nvPr/>
        </p:nvSpPr>
        <p:spPr>
          <a:xfrm>
            <a:off x="6724613" y="3123381"/>
            <a:ext cx="506816" cy="155377"/>
          </a:xfrm>
          <a:prstGeom prst="rect">
            <a:avLst/>
          </a:prstGeom>
          <a:noFill/>
          <a:ln/>
        </p:spPr>
        <p:txBody>
          <a:bodyPr wrap="none" lIns="0" tIns="0" rIns="0" bIns="0" rtlCol="0" anchor="t">
            <a:spAutoFit/>
          </a:bodyPr>
          <a:lstStyle/>
          <a:p>
            <a:pPr algn="ctr" indent="0" marL="0">
              <a:lnSpc>
                <a:spcPts val="1100"/>
              </a:lnSpc>
              <a:buNone/>
            </a:pPr>
            <a:r>
              <a:rPr lang="en-US" sz="834" dirty="0">
                <a:solidFill>
                  <a:srgbClr val="E2E8F0"/>
                </a:solidFill>
              </a:rPr>
              <a:t>CMMC L2</a:t>
            </a:r>
            <a:endParaRPr lang="en-US" sz="834" dirty="0"/>
          </a:p>
        </p:txBody>
      </p:sp>
      <p:sp>
        <p:nvSpPr>
          <p:cNvPr id="36" name="Shape 26"/>
          <p:cNvSpPr/>
          <p:nvPr/>
        </p:nvSpPr>
        <p:spPr>
          <a:xfrm>
            <a:off x="6477958" y="3443957"/>
            <a:ext cx="1000125" cy="714375"/>
          </a:xfrm>
          <a:prstGeom prst="rect">
            <a:avLst/>
          </a:prstGeom>
          <a:solidFill>
            <a:srgbClr val="0F2942"/>
          </a:solidFill>
          <a:ln w="18288">
            <a:solidFill>
              <a:srgbClr val="E2E8F0"/>
            </a:solidFill>
            <a:prstDash val="solid"/>
          </a:ln>
        </p:spPr>
      </p:sp>
      <p:pic>
        <p:nvPicPr>
          <p:cNvPr id="37" name="Image 7" descr="preencoded.png">    </p:cNvPr>
          <p:cNvPicPr>
            <a:picLocks noChangeAspect="1"/>
          </p:cNvPicPr>
          <p:nvPr/>
        </p:nvPicPr>
        <p:blipFill>
          <a:blip r:embed="rId8"/>
          <a:stretch>
            <a:fillRect/>
          </a:stretch>
        </p:blipFill>
        <p:spPr>
          <a:xfrm>
            <a:off x="6806571" y="3523431"/>
            <a:ext cx="342900" cy="342900"/>
          </a:xfrm>
          <a:prstGeom prst="rect">
            <a:avLst/>
          </a:prstGeom>
        </p:spPr>
      </p:pic>
      <p:sp>
        <p:nvSpPr>
          <p:cNvPr id="38" name="Text 27"/>
          <p:cNvSpPr/>
          <p:nvPr/>
        </p:nvSpPr>
        <p:spPr>
          <a:xfrm>
            <a:off x="6639278" y="3923481"/>
            <a:ext cx="677456" cy="155377"/>
          </a:xfrm>
          <a:prstGeom prst="rect">
            <a:avLst/>
          </a:prstGeom>
          <a:noFill/>
          <a:ln/>
        </p:spPr>
        <p:txBody>
          <a:bodyPr wrap="none" lIns="0" tIns="0" rIns="0" bIns="0" rtlCol="0" anchor="t">
            <a:spAutoFit/>
          </a:bodyPr>
          <a:lstStyle/>
          <a:p>
            <a:pPr algn="ctr" indent="0" marL="0">
              <a:lnSpc>
                <a:spcPts val="1100"/>
              </a:lnSpc>
              <a:buNone/>
            </a:pPr>
            <a:r>
              <a:rPr lang="en-US" sz="834" dirty="0">
                <a:solidFill>
                  <a:srgbClr val="E2E8F0"/>
                </a:solidFill>
              </a:rPr>
              <a:t>110 Controls</a:t>
            </a:r>
            <a:endParaRPr lang="en-US" sz="834" dirty="0"/>
          </a:p>
        </p:txBody>
      </p:sp>
      <p:sp>
        <p:nvSpPr>
          <p:cNvPr id="39" name="Shape 28"/>
          <p:cNvSpPr/>
          <p:nvPr/>
        </p:nvSpPr>
        <p:spPr>
          <a:xfrm>
            <a:off x="6332600" y="4244057"/>
            <a:ext cx="1290814" cy="283964"/>
          </a:xfrm>
          <a:prstGeom prst="rect">
            <a:avLst/>
          </a:prstGeom>
          <a:solidFill>
            <a:srgbClr val="FF6B6B">
              <a:alpha val="10000"/>
            </a:srgbClr>
          </a:solidFill>
          <a:ln w="9144">
            <a:solidFill>
              <a:srgbClr val="FF6B6B"/>
            </a:solidFill>
            <a:prstDash val="solid"/>
          </a:ln>
        </p:spPr>
      </p:sp>
      <p:sp>
        <p:nvSpPr>
          <p:cNvPr id="40" name="Text 29"/>
          <p:cNvSpPr/>
          <p:nvPr/>
        </p:nvSpPr>
        <p:spPr>
          <a:xfrm>
            <a:off x="6332600" y="4244057"/>
            <a:ext cx="1290814" cy="283964"/>
          </a:xfrm>
          <a:prstGeom prst="rect">
            <a:avLst/>
          </a:prstGeom>
          <a:noFill/>
          <a:ln/>
        </p:spPr>
        <p:txBody>
          <a:bodyPr wrap="square" lIns="136017" tIns="68072" rIns="136017" bIns="68072" rtlCol="0" anchor="t">
            <a:spAutoFit/>
          </a:bodyPr>
          <a:lstStyle/>
          <a:p>
            <a:pPr algn="l" indent="0" marL="0">
              <a:lnSpc>
                <a:spcPts val="1100"/>
              </a:lnSpc>
              <a:buNone/>
            </a:pPr>
            <a:r>
              <a:rPr lang="en-US" sz="784" b="1" dirty="0">
                <a:solidFill>
                  <a:srgbClr val="FF6B6B"/>
                </a:solidFill>
              </a:rPr>
              <a:t>Mandatory Gate</a:t>
            </a:r>
            <a:endParaRPr lang="en-US" sz="784" dirty="0"/>
          </a:p>
        </p:txBody>
      </p:sp>
      <p:sp>
        <p:nvSpPr>
          <p:cNvPr id="41" name="Text 30"/>
          <p:cNvSpPr/>
          <p:nvPr/>
        </p:nvSpPr>
        <p:spPr>
          <a:xfrm>
            <a:off x="7177236" y="4793456"/>
            <a:ext cx="1681014"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94A3B8">
                    <a:alpha val="60000"/>
                  </a:srgbClr>
                </a:solidFill>
              </a:rPr>
              <a:t>MACTECH TRUST CODEX // SLIDE 02</a:t>
            </a:r>
            <a:endParaRPr lang="en-US" sz="72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71500" y="428625"/>
            <a:ext cx="8001000" cy="1086520"/>
          </a:xfrm>
          <a:prstGeom prst="rect">
            <a:avLst/>
          </a:prstGeom>
          <a:solidFill>
            <a:srgbClr val="000000">
              <a:alpha val="0"/>
            </a:srgbClr>
          </a:solidFill>
          <a:ln/>
        </p:spPr>
      </p:sp>
      <p:sp>
        <p:nvSpPr>
          <p:cNvPr id="5" name="Shape 1"/>
          <p:cNvSpPr/>
          <p:nvPr/>
        </p:nvSpPr>
        <p:spPr>
          <a:xfrm>
            <a:off x="571500" y="1500857"/>
            <a:ext cx="8001000" cy="14288"/>
          </a:xfrm>
          <a:prstGeom prst="rect">
            <a:avLst/>
          </a:prstGeom>
          <a:solidFill>
            <a:srgbClr val="FF6B6B"/>
          </a:solidFill>
          <a:ln/>
        </p:spPr>
      </p:sp>
      <p:sp>
        <p:nvSpPr>
          <p:cNvPr id="6" name="Text 2"/>
          <p:cNvSpPr/>
          <p:nvPr/>
        </p:nvSpPr>
        <p:spPr>
          <a:xfrm>
            <a:off x="571500" y="428625"/>
            <a:ext cx="8001000" cy="175022"/>
          </a:xfrm>
          <a:prstGeom prst="rect">
            <a:avLst/>
          </a:prstGeom>
          <a:noFill/>
          <a:ln/>
        </p:spPr>
        <p:txBody>
          <a:bodyPr wrap="none" lIns="0" tIns="0" rIns="0" bIns="0" rtlCol="0" anchor="t">
            <a:spAutoFit/>
          </a:bodyPr>
          <a:lstStyle/>
          <a:p>
            <a:pPr algn="l" indent="0" marL="0">
              <a:lnSpc>
                <a:spcPts val="1200"/>
              </a:lnSpc>
              <a:buNone/>
            </a:pPr>
            <a:r>
              <a:rPr lang="en-US" sz="942" spc="2" kern="0" dirty="0">
                <a:solidFill>
                  <a:srgbClr val="FF6B6B"/>
                </a:solidFill>
              </a:rPr>
              <a:t>The Problem</a:t>
            </a:r>
            <a:endParaRPr lang="en-US" sz="942" dirty="0"/>
          </a:p>
        </p:txBody>
      </p:sp>
      <p:sp>
        <p:nvSpPr>
          <p:cNvPr id="7" name="Text 3"/>
          <p:cNvSpPr/>
          <p:nvPr/>
        </p:nvSpPr>
        <p:spPr>
          <a:xfrm>
            <a:off x="571500" y="675084"/>
            <a:ext cx="6429375"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rPr>
              <a:t>Scattered CUI Creates Chaos and Risk</a:t>
            </a:r>
            <a:endParaRPr lang="en-US" sz="2436" dirty="0"/>
          </a:p>
        </p:txBody>
      </p:sp>
      <p:sp>
        <p:nvSpPr>
          <p:cNvPr id="8" name="Shape 4"/>
          <p:cNvSpPr/>
          <p:nvPr/>
        </p:nvSpPr>
        <p:spPr>
          <a:xfrm>
            <a:off x="7858125" y="1472282"/>
            <a:ext cx="714375" cy="71438"/>
          </a:xfrm>
          <a:prstGeom prst="rect">
            <a:avLst/>
          </a:prstGeom>
          <a:solidFill>
            <a:srgbClr val="FF6B6B"/>
          </a:solidFill>
          <a:ln/>
        </p:spPr>
      </p:sp>
      <p:sp>
        <p:nvSpPr>
          <p:cNvPr id="9" name="Shape 5"/>
          <p:cNvSpPr/>
          <p:nvPr/>
        </p:nvSpPr>
        <p:spPr>
          <a:xfrm>
            <a:off x="571500" y="1715170"/>
            <a:ext cx="3864769" cy="3092574"/>
          </a:xfrm>
          <a:prstGeom prst="rect">
            <a:avLst/>
          </a:prstGeom>
          <a:solidFill>
            <a:srgbClr val="0F2942">
              <a:alpha val="30000"/>
            </a:srgbClr>
          </a:solidFill>
          <a:ln w="9144">
            <a:solidFill>
              <a:srgbClr val="94A3B8"/>
            </a:solidFill>
            <a:prstDash val="dash"/>
          </a:ln>
        </p:spPr>
      </p:sp>
      <p:pic>
        <p:nvPicPr>
          <p:cNvPr id="10" name="Image 1" descr="preencoded.png">    </p:cNvPr>
          <p:cNvPicPr>
            <a:picLocks noChangeAspect="1"/>
          </p:cNvPicPr>
          <p:nvPr/>
        </p:nvPicPr>
        <p:blipFill>
          <a:blip r:embed="rId2"/>
          <a:stretch>
            <a:fillRect/>
          </a:stretch>
        </p:blipFill>
        <p:spPr>
          <a:xfrm>
            <a:off x="1015194" y="2333662"/>
            <a:ext cx="285750" cy="228600"/>
          </a:xfrm>
          <a:prstGeom prst="rect">
            <a:avLst/>
          </a:prstGeom>
        </p:spPr>
      </p:pic>
      <p:sp>
        <p:nvSpPr>
          <p:cNvPr id="11" name="Text 6"/>
          <p:cNvSpPr/>
          <p:nvPr/>
        </p:nvSpPr>
        <p:spPr>
          <a:xfrm>
            <a:off x="957263" y="2597981"/>
            <a:ext cx="40164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94A3B8"/>
                </a:solidFill>
              </a:rPr>
              <a:t>Laptop 01</a:t>
            </a:r>
            <a:endParaRPr lang="en-US" sz="621" dirty="0"/>
          </a:p>
        </p:txBody>
      </p:sp>
      <p:pic>
        <p:nvPicPr>
          <p:cNvPr id="12" name="Image 2" descr="preencoded.png">    </p:cNvPr>
          <p:cNvPicPr>
            <a:picLocks noChangeAspect="1"/>
          </p:cNvPicPr>
          <p:nvPr/>
        </p:nvPicPr>
        <p:blipFill>
          <a:blip r:embed="rId3"/>
          <a:stretch>
            <a:fillRect/>
          </a:stretch>
        </p:blipFill>
        <p:spPr>
          <a:xfrm>
            <a:off x="1437456" y="3570703"/>
            <a:ext cx="228600" cy="228600"/>
          </a:xfrm>
          <a:prstGeom prst="rect">
            <a:avLst/>
          </a:prstGeom>
        </p:spPr>
      </p:pic>
      <p:sp>
        <p:nvSpPr>
          <p:cNvPr id="13" name="Text 7"/>
          <p:cNvSpPr/>
          <p:nvPr/>
        </p:nvSpPr>
        <p:spPr>
          <a:xfrm>
            <a:off x="1343025" y="3835022"/>
            <a:ext cx="41749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94A3B8"/>
                </a:solidFill>
              </a:rPr>
              <a:t>File Server</a:t>
            </a:r>
            <a:endParaRPr lang="en-US" sz="621" dirty="0"/>
          </a:p>
        </p:txBody>
      </p:sp>
      <p:pic>
        <p:nvPicPr>
          <p:cNvPr id="14" name="Image 3" descr="preencoded.png">    </p:cNvPr>
          <p:cNvPicPr>
            <a:picLocks noChangeAspect="1"/>
          </p:cNvPicPr>
          <p:nvPr/>
        </p:nvPicPr>
        <p:blipFill>
          <a:blip r:embed="rId4"/>
          <a:stretch>
            <a:fillRect/>
          </a:stretch>
        </p:blipFill>
        <p:spPr>
          <a:xfrm>
            <a:off x="3621881" y="2179039"/>
            <a:ext cx="228600" cy="228600"/>
          </a:xfrm>
          <a:prstGeom prst="rect">
            <a:avLst/>
          </a:prstGeom>
        </p:spPr>
      </p:pic>
      <p:sp>
        <p:nvSpPr>
          <p:cNvPr id="15" name="Text 8"/>
          <p:cNvSpPr/>
          <p:nvPr/>
        </p:nvSpPr>
        <p:spPr>
          <a:xfrm>
            <a:off x="3626095" y="2443358"/>
            <a:ext cx="220145"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94A3B8"/>
                </a:solidFill>
              </a:rPr>
              <a:t>Email</a:t>
            </a:r>
            <a:endParaRPr lang="en-US" sz="621" dirty="0"/>
          </a:p>
        </p:txBody>
      </p:sp>
      <p:pic>
        <p:nvPicPr>
          <p:cNvPr id="16" name="Image 4" descr="preencoded.png">    </p:cNvPr>
          <p:cNvPicPr>
            <a:picLocks noChangeAspect="1"/>
          </p:cNvPicPr>
          <p:nvPr/>
        </p:nvPicPr>
        <p:blipFill>
          <a:blip r:embed="rId5"/>
          <a:stretch>
            <a:fillRect/>
          </a:stretch>
        </p:blipFill>
        <p:spPr>
          <a:xfrm>
            <a:off x="3707327" y="3261457"/>
            <a:ext cx="285750" cy="228600"/>
          </a:xfrm>
          <a:prstGeom prst="rect">
            <a:avLst/>
          </a:prstGeom>
        </p:spPr>
      </p:pic>
      <p:sp>
        <p:nvSpPr>
          <p:cNvPr id="17" name="Text 9"/>
          <p:cNvSpPr/>
          <p:nvPr/>
        </p:nvSpPr>
        <p:spPr>
          <a:xfrm>
            <a:off x="3657070" y="3525775"/>
            <a:ext cx="386293"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94A3B8"/>
                </a:solidFill>
              </a:rPr>
              <a:t>Dropbox?</a:t>
            </a:r>
            <a:endParaRPr lang="en-US" sz="621" dirty="0"/>
          </a:p>
        </p:txBody>
      </p:sp>
      <p:pic>
        <p:nvPicPr>
          <p:cNvPr id="18" name="Image 5" descr="preencoded.png">    </p:cNvPr>
          <p:cNvPicPr>
            <a:picLocks noChangeAspect="1"/>
          </p:cNvPicPr>
          <p:nvPr/>
        </p:nvPicPr>
        <p:blipFill>
          <a:blip r:embed="rId6"/>
          <a:stretch>
            <a:fillRect/>
          </a:stretch>
        </p:blipFill>
        <p:spPr>
          <a:xfrm>
            <a:off x="2543538" y="3808847"/>
            <a:ext cx="285750" cy="228600"/>
          </a:xfrm>
          <a:prstGeom prst="rect">
            <a:avLst/>
          </a:prstGeom>
        </p:spPr>
      </p:pic>
      <p:sp>
        <p:nvSpPr>
          <p:cNvPr id="19" name="Text 10"/>
          <p:cNvSpPr/>
          <p:nvPr/>
        </p:nvSpPr>
        <p:spPr>
          <a:xfrm>
            <a:off x="2500313" y="4073165"/>
            <a:ext cx="372228"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94A3B8"/>
                </a:solidFill>
              </a:rPr>
              <a:t>Home PC</a:t>
            </a:r>
            <a:endParaRPr lang="en-US" sz="621" dirty="0"/>
          </a:p>
        </p:txBody>
      </p:sp>
      <p:sp>
        <p:nvSpPr>
          <p:cNvPr id="20" name="Text 11"/>
          <p:cNvSpPr/>
          <p:nvPr/>
        </p:nvSpPr>
        <p:spPr>
          <a:xfrm>
            <a:off x="1728788" y="2797559"/>
            <a:ext cx="225949"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6B6B"/>
                </a:solidFill>
              </a:rPr>
              <a:t>CUI?</a:t>
            </a:r>
            <a:endParaRPr lang="en-US" sz="683" dirty="0"/>
          </a:p>
        </p:txBody>
      </p:sp>
      <p:sp>
        <p:nvSpPr>
          <p:cNvPr id="21" name="Text 12"/>
          <p:cNvSpPr/>
          <p:nvPr/>
        </p:nvSpPr>
        <p:spPr>
          <a:xfrm>
            <a:off x="2660126" y="2488313"/>
            <a:ext cx="225949"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6B6B"/>
                </a:solidFill>
              </a:rPr>
              <a:t>CUI?</a:t>
            </a:r>
            <a:endParaRPr lang="en-US" sz="683" dirty="0"/>
          </a:p>
        </p:txBody>
      </p:sp>
      <p:sp>
        <p:nvSpPr>
          <p:cNvPr id="22" name="Text 13"/>
          <p:cNvSpPr/>
          <p:nvPr/>
        </p:nvSpPr>
        <p:spPr>
          <a:xfrm>
            <a:off x="3045889" y="3435000"/>
            <a:ext cx="225949"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6B6B"/>
                </a:solidFill>
              </a:rPr>
              <a:t>CUI?</a:t>
            </a:r>
            <a:endParaRPr lang="en-US" sz="683" dirty="0"/>
          </a:p>
        </p:txBody>
      </p:sp>
      <p:sp>
        <p:nvSpPr>
          <p:cNvPr id="23" name="Shape 14"/>
          <p:cNvSpPr/>
          <p:nvPr/>
        </p:nvSpPr>
        <p:spPr>
          <a:xfrm rot="2700000">
            <a:off x="1565081" y="3108759"/>
            <a:ext cx="1870462" cy="305395"/>
          </a:xfrm>
          <a:prstGeom prst="rect">
            <a:avLst/>
          </a:prstGeom>
          <a:solidFill>
            <a:srgbClr val="0F2942"/>
          </a:solidFill>
          <a:ln/>
        </p:spPr>
      </p:sp>
      <p:sp>
        <p:nvSpPr>
          <p:cNvPr id="24" name="Text 15"/>
          <p:cNvSpPr/>
          <p:nvPr/>
        </p:nvSpPr>
        <p:spPr>
          <a:xfrm rot="2700000">
            <a:off x="1956348" y="2717492"/>
            <a:ext cx="1087929" cy="1087929"/>
          </a:xfrm>
          <a:prstGeom prst="rect">
            <a:avLst/>
          </a:prstGeom>
          <a:noFill/>
          <a:ln/>
        </p:spPr>
        <p:txBody>
          <a:bodyPr wrap="square" lIns="42545" tIns="42545" rIns="42545" bIns="42545" rtlCol="0" anchor="t">
            <a:spAutoFit/>
          </a:bodyPr>
          <a:lstStyle/>
          <a:p>
            <a:pPr algn="l" indent="0" marL="0">
              <a:lnSpc>
                <a:spcPts val="1600"/>
              </a:lnSpc>
              <a:buNone/>
            </a:pPr>
            <a:r>
              <a:rPr lang="en-US" sz="1269" dirty="0">
                <a:solidFill>
                  <a:srgbClr val="FF6B6B"/>
                </a:solidFill>
              </a:rPr>
              <a:t>NO CLEAR BOUNDARY</a:t>
            </a:r>
            <a:endParaRPr lang="en-US" sz="1269" dirty="0"/>
          </a:p>
        </p:txBody>
      </p:sp>
      <p:sp>
        <p:nvSpPr>
          <p:cNvPr id="25" name="Shape 16"/>
          <p:cNvSpPr/>
          <p:nvPr/>
        </p:nvSpPr>
        <p:spPr>
          <a:xfrm>
            <a:off x="4714875" y="1834158"/>
            <a:ext cx="3857625" cy="875444"/>
          </a:xfrm>
          <a:prstGeom prst="rect">
            <a:avLst/>
          </a:prstGeom>
          <a:solidFill>
            <a:srgbClr val="FF6B6B">
              <a:alpha val="5000"/>
            </a:srgbClr>
          </a:solidFill>
          <a:ln/>
        </p:spPr>
      </p:sp>
      <p:sp>
        <p:nvSpPr>
          <p:cNvPr id="26" name="Shape 17"/>
          <p:cNvSpPr/>
          <p:nvPr/>
        </p:nvSpPr>
        <p:spPr>
          <a:xfrm>
            <a:off x="4714875" y="1834158"/>
            <a:ext cx="28575" cy="875444"/>
          </a:xfrm>
          <a:prstGeom prst="rect">
            <a:avLst/>
          </a:prstGeom>
          <a:solidFill>
            <a:srgbClr val="FF6B6B"/>
          </a:solidFill>
          <a:ln/>
        </p:spPr>
      </p:sp>
      <p:sp>
        <p:nvSpPr>
          <p:cNvPr id="27" name="Text 18"/>
          <p:cNvSpPr/>
          <p:nvPr/>
        </p:nvSpPr>
        <p:spPr>
          <a:xfrm>
            <a:off x="4857750" y="1977033"/>
            <a:ext cx="3571875"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6B6B"/>
                </a:solidFill>
              </a:rPr>
              <a:t>Scope Explosion</a:t>
            </a:r>
            <a:endParaRPr lang="en-US" sz="1193" dirty="0"/>
          </a:p>
        </p:txBody>
      </p:sp>
      <p:sp>
        <p:nvSpPr>
          <p:cNvPr id="28" name="Text 19"/>
          <p:cNvSpPr/>
          <p:nvPr/>
        </p:nvSpPr>
        <p:spPr>
          <a:xfrm>
            <a:off x="4857750" y="2246709"/>
            <a:ext cx="3571875"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E2E8F0"/>
                </a:solidFill>
              </a:rPr>
              <a:t>If CUI is everywhere, your assessment scope is everything. Every device must meet 110 controls.</a:t>
            </a:r>
            <a:endParaRPr lang="en-US" sz="834" dirty="0"/>
          </a:p>
        </p:txBody>
      </p:sp>
      <p:sp>
        <p:nvSpPr>
          <p:cNvPr id="29" name="Shape 20"/>
          <p:cNvSpPr/>
          <p:nvPr/>
        </p:nvSpPr>
        <p:spPr>
          <a:xfrm>
            <a:off x="4714875" y="2852477"/>
            <a:ext cx="3857625" cy="875444"/>
          </a:xfrm>
          <a:prstGeom prst="rect">
            <a:avLst/>
          </a:prstGeom>
          <a:solidFill>
            <a:srgbClr val="FF6B6B">
              <a:alpha val="5000"/>
            </a:srgbClr>
          </a:solidFill>
          <a:ln/>
        </p:spPr>
      </p:sp>
      <p:sp>
        <p:nvSpPr>
          <p:cNvPr id="30" name="Shape 21"/>
          <p:cNvSpPr/>
          <p:nvPr/>
        </p:nvSpPr>
        <p:spPr>
          <a:xfrm>
            <a:off x="4714875" y="2852477"/>
            <a:ext cx="28575" cy="875444"/>
          </a:xfrm>
          <a:prstGeom prst="rect">
            <a:avLst/>
          </a:prstGeom>
          <a:solidFill>
            <a:srgbClr val="FF6B6B"/>
          </a:solidFill>
          <a:ln/>
        </p:spPr>
      </p:sp>
      <p:sp>
        <p:nvSpPr>
          <p:cNvPr id="31" name="Text 22"/>
          <p:cNvSpPr/>
          <p:nvPr/>
        </p:nvSpPr>
        <p:spPr>
          <a:xfrm>
            <a:off x="4857750" y="2995352"/>
            <a:ext cx="3571875"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6B6B"/>
                </a:solidFill>
              </a:rPr>
              <a:t>Evidence Nightmare</a:t>
            </a:r>
            <a:endParaRPr lang="en-US" sz="1193" dirty="0"/>
          </a:p>
        </p:txBody>
      </p:sp>
      <p:sp>
        <p:nvSpPr>
          <p:cNvPr id="32" name="Text 23"/>
          <p:cNvSpPr/>
          <p:nvPr/>
        </p:nvSpPr>
        <p:spPr>
          <a:xfrm>
            <a:off x="4857750" y="3265029"/>
            <a:ext cx="3571875"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E2E8F0"/>
                </a:solidFill>
              </a:rPr>
              <a:t>Auditors can't verify security when data is scattered. Collection becomes a manual scavenger hunt.</a:t>
            </a:r>
            <a:endParaRPr lang="en-US" sz="834" dirty="0"/>
          </a:p>
        </p:txBody>
      </p:sp>
      <p:sp>
        <p:nvSpPr>
          <p:cNvPr id="33" name="Shape 24"/>
          <p:cNvSpPr/>
          <p:nvPr/>
        </p:nvSpPr>
        <p:spPr>
          <a:xfrm>
            <a:off x="4714875" y="4013671"/>
            <a:ext cx="3857625" cy="675084"/>
          </a:xfrm>
          <a:prstGeom prst="rect">
            <a:avLst/>
          </a:prstGeom>
          <a:solidFill>
            <a:srgbClr val="FF6B6B"/>
          </a:solidFill>
          <a:ln/>
        </p:spPr>
      </p:sp>
      <p:sp>
        <p:nvSpPr>
          <p:cNvPr id="34" name="Text 25"/>
          <p:cNvSpPr/>
          <p:nvPr/>
        </p:nvSpPr>
        <p:spPr>
          <a:xfrm>
            <a:off x="4714875" y="4013671"/>
            <a:ext cx="3857625" cy="675084"/>
          </a:xfrm>
          <a:prstGeom prst="rect">
            <a:avLst/>
          </a:prstGeom>
          <a:noFill/>
          <a:ln/>
        </p:spPr>
        <p:txBody>
          <a:bodyPr wrap="square" lIns="170053" tIns="170053" rIns="170053" bIns="170053" rtlCol="0" anchor="t">
            <a:spAutoFit/>
          </a:bodyPr>
          <a:lstStyle/>
          <a:p>
            <a:pPr algn="ctr" indent="0" marL="0">
              <a:lnSpc>
                <a:spcPts val="1400"/>
              </a:lnSpc>
              <a:buNone/>
            </a:pPr>
            <a:r>
              <a:rPr lang="en-US" sz="987" b="1" dirty="0">
                <a:solidFill>
                  <a:srgbClr val="0F2942"/>
                </a:solidFill>
              </a:rPr>
              <a:t>The Result: Months of Work, Failed Assessments, Lost Contracts</a:t>
            </a:r>
            <a:endParaRPr lang="en-US" sz="987" dirty="0"/>
          </a:p>
        </p:txBody>
      </p:sp>
      <p:sp>
        <p:nvSpPr>
          <p:cNvPr id="35" name="Text 26"/>
          <p:cNvSpPr/>
          <p:nvPr/>
        </p:nvSpPr>
        <p:spPr>
          <a:xfrm>
            <a:off x="571500" y="4936331"/>
            <a:ext cx="8001000" cy="135731"/>
          </a:xfrm>
          <a:prstGeom prst="rect">
            <a:avLst/>
          </a:prstGeom>
          <a:noFill/>
          <a:ln/>
        </p:spPr>
        <p:txBody>
          <a:bodyPr wrap="none" lIns="0" tIns="0" rIns="0" bIns="0" rtlCol="0" anchor="t">
            <a:spAutoFit/>
          </a:bodyPr>
          <a:lstStyle/>
          <a:p>
            <a:pPr algn="r" indent="0" marL="0">
              <a:lnSpc>
                <a:spcPts val="900"/>
              </a:lnSpc>
              <a:buNone/>
            </a:pPr>
            <a:r>
              <a:rPr lang="en-US" sz="727" dirty="0">
                <a:solidFill>
                  <a:srgbClr val="94A3B8">
                    <a:alpha val="60000"/>
                  </a:srgbClr>
                </a:solidFill>
              </a:rPr>
              <a:t>MACTECH TRUST CODEX // SLIDE 03</a:t>
            </a:r>
            <a:endParaRPr lang="en-US" sz="72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71500" y="428625"/>
            <a:ext cx="8001000" cy="1086520"/>
          </a:xfrm>
          <a:prstGeom prst="rect">
            <a:avLst/>
          </a:prstGeom>
          <a:solidFill>
            <a:srgbClr val="000000">
              <a:alpha val="0"/>
            </a:srgbClr>
          </a:solidFill>
          <a:ln/>
        </p:spPr>
      </p:sp>
      <p:sp>
        <p:nvSpPr>
          <p:cNvPr id="5" name="Shape 1"/>
          <p:cNvSpPr/>
          <p:nvPr/>
        </p:nvSpPr>
        <p:spPr>
          <a:xfrm>
            <a:off x="571500" y="1500857"/>
            <a:ext cx="8001000" cy="14288"/>
          </a:xfrm>
          <a:prstGeom prst="rect">
            <a:avLst/>
          </a:prstGeom>
          <a:solidFill>
            <a:srgbClr val="38BDF8"/>
          </a:solidFill>
          <a:ln/>
        </p:spPr>
      </p:sp>
      <p:sp>
        <p:nvSpPr>
          <p:cNvPr id="6" name="Text 2"/>
          <p:cNvSpPr/>
          <p:nvPr/>
        </p:nvSpPr>
        <p:spPr>
          <a:xfrm>
            <a:off x="571500" y="428625"/>
            <a:ext cx="8001000" cy="175022"/>
          </a:xfrm>
          <a:prstGeom prst="rect">
            <a:avLst/>
          </a:prstGeom>
          <a:noFill/>
          <a:ln/>
        </p:spPr>
        <p:txBody>
          <a:bodyPr wrap="none" lIns="0" tIns="0" rIns="0" bIns="0" rtlCol="0" anchor="t">
            <a:spAutoFit/>
          </a:bodyPr>
          <a:lstStyle/>
          <a:p>
            <a:pPr algn="l" indent="0" marL="0">
              <a:lnSpc>
                <a:spcPts val="1200"/>
              </a:lnSpc>
              <a:buNone/>
            </a:pPr>
            <a:r>
              <a:rPr lang="en-US" sz="942" spc="2" kern="0" dirty="0">
                <a:solidFill>
                  <a:srgbClr val="38BDF8"/>
                </a:solidFill>
              </a:rPr>
              <a:t>The Solution</a:t>
            </a:r>
            <a:endParaRPr lang="en-US" sz="942" dirty="0"/>
          </a:p>
        </p:txBody>
      </p:sp>
      <p:sp>
        <p:nvSpPr>
          <p:cNvPr id="7" name="Text 3"/>
          <p:cNvSpPr/>
          <p:nvPr/>
        </p:nvSpPr>
        <p:spPr>
          <a:xfrm>
            <a:off x="571500" y="675084"/>
            <a:ext cx="6429375"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rPr>
              <a:t>The CUI Vault Enclave: A Single, Contained Environment</a:t>
            </a:r>
            <a:endParaRPr lang="en-US" sz="2436" dirty="0"/>
          </a:p>
        </p:txBody>
      </p:sp>
      <p:sp>
        <p:nvSpPr>
          <p:cNvPr id="8" name="Shape 4"/>
          <p:cNvSpPr/>
          <p:nvPr/>
        </p:nvSpPr>
        <p:spPr>
          <a:xfrm>
            <a:off x="7858125" y="1472282"/>
            <a:ext cx="714375" cy="71438"/>
          </a:xfrm>
          <a:prstGeom prst="rect">
            <a:avLst/>
          </a:prstGeom>
          <a:solidFill>
            <a:srgbClr val="38BDF8"/>
          </a:solidFill>
          <a:ln/>
        </p:spPr>
      </p:sp>
      <p:sp>
        <p:nvSpPr>
          <p:cNvPr id="9" name="Text 5"/>
          <p:cNvSpPr/>
          <p:nvPr/>
        </p:nvSpPr>
        <p:spPr>
          <a:xfrm>
            <a:off x="735806" y="1764171"/>
            <a:ext cx="3020606"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rPr>
              <a:t>One Clear Boundary</a:t>
            </a:r>
            <a:endParaRPr lang="en-US" sz="1090" dirty="0"/>
          </a:p>
        </p:txBody>
      </p:sp>
      <p:sp>
        <p:nvSpPr>
          <p:cNvPr id="10" name="Text 6"/>
          <p:cNvSpPr/>
          <p:nvPr/>
        </p:nvSpPr>
        <p:spPr>
          <a:xfrm>
            <a:off x="735806" y="2014203"/>
            <a:ext cx="3020606"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94A3B8"/>
                </a:solidFill>
              </a:rPr>
              <a:t>All CUI lives in a dedicated, hardened enclave. Think of it as a secure "room" in the cloud.</a:t>
            </a:r>
            <a:endParaRPr lang="en-US" sz="834" dirty="0"/>
          </a:p>
        </p:txBody>
      </p:sp>
      <p:sp>
        <p:nvSpPr>
          <p:cNvPr id="11" name="Text 7"/>
          <p:cNvSpPr/>
          <p:nvPr/>
        </p:nvSpPr>
        <p:spPr>
          <a:xfrm>
            <a:off x="735806" y="2512814"/>
            <a:ext cx="3020606"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rPr>
              <a:t>No CUI on Endpoints</a:t>
            </a:r>
            <a:endParaRPr lang="en-US" sz="1090" dirty="0"/>
          </a:p>
        </p:txBody>
      </p:sp>
      <p:sp>
        <p:nvSpPr>
          <p:cNvPr id="12" name="Text 8"/>
          <p:cNvSpPr/>
          <p:nvPr/>
        </p:nvSpPr>
        <p:spPr>
          <a:xfrm>
            <a:off x="735806" y="2762845"/>
            <a:ext cx="3020606"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94A3B8"/>
                </a:solidFill>
              </a:rPr>
              <a:t>Staff access the vault remotely. </a:t>
            </a:r>
            <a:pPr algn="l" indent="0" marL="0">
              <a:lnSpc>
                <a:spcPts val="1300"/>
              </a:lnSpc>
              <a:buNone/>
            </a:pPr>
            <a:r>
              <a:rPr lang="en-US" sz="784" b="1" dirty="0">
                <a:solidFill>
                  <a:srgbClr val="38BDF8"/>
                </a:solidFill>
              </a:rPr>
              <a:t>No CUI</a:t>
            </a:r>
            <a:pPr algn="l" indent="0" marL="0">
              <a:lnSpc>
                <a:spcPts val="1300"/>
              </a:lnSpc>
              <a:buNone/>
            </a:pPr>
            <a:r>
              <a:rPr lang="en-US" sz="834" dirty="0">
                <a:solidFill>
                  <a:srgbClr val="94A3B8"/>
                </a:solidFill>
              </a:rPr>
              <a:t> ever touches </a:t>
            </a:r>
            <a:pPr algn="l" indent="0" marL="0">
              <a:lnSpc>
                <a:spcPts val="1300"/>
              </a:lnSpc>
              <a:buNone/>
            </a:pPr>
            <a:r>
              <a:rPr lang="en-US" sz="834" dirty="0">
                <a:solidFill>
                  <a:srgbClr val="94A3B8"/>
                </a:solidFill>
              </a:rPr>
              <a:t>everyday laptops or file shares.</a:t>
            </a:r>
            <a:endParaRPr lang="en-US" sz="834" dirty="0"/>
          </a:p>
        </p:txBody>
      </p:sp>
      <p:sp>
        <p:nvSpPr>
          <p:cNvPr id="13" name="Text 9"/>
          <p:cNvSpPr/>
          <p:nvPr/>
        </p:nvSpPr>
        <p:spPr>
          <a:xfrm>
            <a:off x="735806" y="3261457"/>
            <a:ext cx="3020606"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rPr>
              <a:t>One System to Assess</a:t>
            </a:r>
            <a:endParaRPr lang="en-US" sz="1090" dirty="0"/>
          </a:p>
        </p:txBody>
      </p:sp>
      <p:sp>
        <p:nvSpPr>
          <p:cNvPr id="14" name="Text 10"/>
          <p:cNvSpPr/>
          <p:nvPr/>
        </p:nvSpPr>
        <p:spPr>
          <a:xfrm>
            <a:off x="735806" y="3511488"/>
            <a:ext cx="3020606"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94A3B8"/>
                </a:solidFill>
              </a:rPr>
              <a:t>The vault is the scope. Evidence is centralized, making the assessment straightforward.</a:t>
            </a:r>
            <a:endParaRPr lang="en-US" sz="834" dirty="0"/>
          </a:p>
        </p:txBody>
      </p:sp>
      <p:sp>
        <p:nvSpPr>
          <p:cNvPr id="15" name="Text 11"/>
          <p:cNvSpPr/>
          <p:nvPr/>
        </p:nvSpPr>
        <p:spPr>
          <a:xfrm>
            <a:off x="735806" y="4010099"/>
            <a:ext cx="3020606"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rPr>
              <a:t>Auditor-Friendly</a:t>
            </a:r>
            <a:endParaRPr lang="en-US" sz="1090" dirty="0"/>
          </a:p>
        </p:txBody>
      </p:sp>
      <p:sp>
        <p:nvSpPr>
          <p:cNvPr id="16" name="Text 12"/>
          <p:cNvSpPr/>
          <p:nvPr/>
        </p:nvSpPr>
        <p:spPr>
          <a:xfrm>
            <a:off x="735806" y="4260131"/>
            <a:ext cx="3020606"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94A3B8"/>
                </a:solidFill>
              </a:rPr>
              <a:t>Clear entry points, clear controls, and reproducible evidence ready for the C3PAO.</a:t>
            </a:r>
            <a:endParaRPr lang="en-US" sz="834" dirty="0"/>
          </a:p>
        </p:txBody>
      </p:sp>
      <p:pic>
        <p:nvPicPr>
          <p:cNvPr id="17" name="Image 1" descr="preencoded.png">    </p:cNvPr>
          <p:cNvPicPr>
            <a:picLocks noChangeAspect="1"/>
          </p:cNvPicPr>
          <p:nvPr/>
        </p:nvPicPr>
        <p:blipFill>
          <a:blip r:embed="rId2"/>
          <a:stretch>
            <a:fillRect/>
          </a:stretch>
        </p:blipFill>
        <p:spPr>
          <a:xfrm>
            <a:off x="4363631" y="2926593"/>
            <a:ext cx="357188" cy="285750"/>
          </a:xfrm>
          <a:prstGeom prst="rect">
            <a:avLst/>
          </a:prstGeom>
        </p:spPr>
      </p:pic>
      <p:sp>
        <p:nvSpPr>
          <p:cNvPr id="18" name="Text 13"/>
          <p:cNvSpPr/>
          <p:nvPr/>
        </p:nvSpPr>
        <p:spPr>
          <a:xfrm>
            <a:off x="4113600" y="3283781"/>
            <a:ext cx="857250" cy="135731"/>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94A3B8"/>
                </a:solidFill>
              </a:rPr>
              <a:t>Staff Laptop</a:t>
            </a:r>
            <a:endParaRPr lang="en-US" sz="727" dirty="0"/>
          </a:p>
        </p:txBody>
      </p:sp>
      <p:sp>
        <p:nvSpPr>
          <p:cNvPr id="19" name="Shape 14"/>
          <p:cNvSpPr/>
          <p:nvPr/>
        </p:nvSpPr>
        <p:spPr>
          <a:xfrm>
            <a:off x="4276539" y="3455231"/>
            <a:ext cx="531372" cy="141089"/>
          </a:xfrm>
          <a:prstGeom prst="rect">
            <a:avLst/>
          </a:prstGeom>
          <a:solidFill>
            <a:srgbClr val="0F2942"/>
          </a:solidFill>
          <a:ln w="9144">
            <a:solidFill>
              <a:srgbClr val="94A3B8"/>
            </a:solidFill>
            <a:prstDash val="solid"/>
          </a:ln>
        </p:spPr>
      </p:sp>
      <p:sp>
        <p:nvSpPr>
          <p:cNvPr id="20" name="Text 15"/>
          <p:cNvSpPr/>
          <p:nvPr/>
        </p:nvSpPr>
        <p:spPr>
          <a:xfrm>
            <a:off x="4276539" y="3455231"/>
            <a:ext cx="531372" cy="141089"/>
          </a:xfrm>
          <a:prstGeom prst="rect">
            <a:avLst/>
          </a:prstGeom>
          <a:noFill/>
          <a:ln/>
        </p:spPr>
        <p:txBody>
          <a:bodyPr wrap="square" lIns="42545" tIns="17018" rIns="42545" bIns="17018" rtlCol="0" anchor="t">
            <a:spAutoFit/>
          </a:bodyPr>
          <a:lstStyle/>
          <a:p>
            <a:pPr algn="ctr" indent="0" marL="0">
              <a:lnSpc>
                <a:spcPts val="700"/>
              </a:lnSpc>
              <a:buNone/>
            </a:pPr>
            <a:r>
              <a:rPr lang="en-US" sz="516" dirty="0">
                <a:solidFill>
                  <a:srgbClr val="94A3B8"/>
                </a:solidFill>
              </a:rPr>
              <a:t>NO CUI HERE</a:t>
            </a:r>
            <a:endParaRPr lang="en-US" sz="516" dirty="0"/>
          </a:p>
        </p:txBody>
      </p:sp>
      <p:sp>
        <p:nvSpPr>
          <p:cNvPr id="21" name="Shape 16"/>
          <p:cNvSpPr/>
          <p:nvPr/>
        </p:nvSpPr>
        <p:spPr>
          <a:xfrm>
            <a:off x="5042288" y="3247169"/>
            <a:ext cx="744150" cy="28575"/>
          </a:xfrm>
          <a:prstGeom prst="rect">
            <a:avLst/>
          </a:prstGeom>
          <a:solidFill>
            <a:srgbClr val="38BDF8"/>
          </a:solidFill>
          <a:ln/>
        </p:spPr>
      </p:sp>
      <p:sp>
        <p:nvSpPr>
          <p:cNvPr id="22" name="Shape 17"/>
          <p:cNvSpPr/>
          <p:nvPr/>
        </p:nvSpPr>
        <p:spPr>
          <a:xfrm>
            <a:off x="5041074" y="3068575"/>
            <a:ext cx="746550" cy="116086"/>
          </a:xfrm>
          <a:prstGeom prst="rect">
            <a:avLst/>
          </a:prstGeom>
          <a:solidFill>
            <a:srgbClr val="0F2942"/>
          </a:solidFill>
          <a:ln/>
        </p:spPr>
      </p:sp>
      <p:sp>
        <p:nvSpPr>
          <p:cNvPr id="23" name="Text 18"/>
          <p:cNvSpPr/>
          <p:nvPr/>
        </p:nvSpPr>
        <p:spPr>
          <a:xfrm>
            <a:off x="5041074" y="3068575"/>
            <a:ext cx="746550" cy="116086"/>
          </a:xfrm>
          <a:prstGeom prst="rect">
            <a:avLst/>
          </a:prstGeom>
          <a:noFill/>
          <a:ln/>
        </p:spPr>
        <p:txBody>
          <a:bodyPr wrap="none" lIns="42545" tIns="0" rIns="42545" bIns="0" rtlCol="0" anchor="t">
            <a:spAutoFit/>
          </a:bodyPr>
          <a:lstStyle/>
          <a:p>
            <a:pPr algn="l" indent="0" marL="0">
              <a:lnSpc>
                <a:spcPts val="800"/>
              </a:lnSpc>
              <a:buNone/>
            </a:pPr>
            <a:r>
              <a:rPr lang="en-US" sz="621" dirty="0">
                <a:solidFill>
                  <a:srgbClr val="38BDF8"/>
                </a:solidFill>
              </a:rPr>
              <a:t>VPN + RDP ONLY</a:t>
            </a:r>
            <a:endParaRPr lang="en-US" sz="621" dirty="0"/>
          </a:p>
        </p:txBody>
      </p:sp>
      <p:sp>
        <p:nvSpPr>
          <p:cNvPr id="24" name="Shape 19"/>
          <p:cNvSpPr/>
          <p:nvPr/>
        </p:nvSpPr>
        <p:spPr>
          <a:xfrm>
            <a:off x="5857875" y="2118457"/>
            <a:ext cx="2714625" cy="2286000"/>
          </a:xfrm>
          <a:prstGeom prst="rect">
            <a:avLst/>
          </a:prstGeom>
          <a:solidFill>
            <a:srgbClr val="0F2942">
              <a:alpha val="80000"/>
            </a:srgbClr>
          </a:solidFill>
          <a:ln w="18288">
            <a:solidFill>
              <a:srgbClr val="38BDF8"/>
            </a:solidFill>
            <a:prstDash val="solid"/>
          </a:ln>
        </p:spPr>
      </p:sp>
      <p:sp>
        <p:nvSpPr>
          <p:cNvPr id="25" name="Shape 20"/>
          <p:cNvSpPr/>
          <p:nvPr/>
        </p:nvSpPr>
        <p:spPr>
          <a:xfrm>
            <a:off x="5857875" y="2118457"/>
            <a:ext cx="2714625" cy="226814"/>
          </a:xfrm>
          <a:prstGeom prst="rect">
            <a:avLst/>
          </a:prstGeom>
          <a:solidFill>
            <a:srgbClr val="38BDF8"/>
          </a:solidFill>
          <a:ln/>
        </p:spPr>
      </p:sp>
      <p:sp>
        <p:nvSpPr>
          <p:cNvPr id="26" name="Text 21"/>
          <p:cNvSpPr/>
          <p:nvPr/>
        </p:nvSpPr>
        <p:spPr>
          <a:xfrm>
            <a:off x="5965031" y="2154175"/>
            <a:ext cx="962313"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F2942"/>
                </a:solidFill>
              </a:rPr>
              <a:t>SECURE ENCLAVE</a:t>
            </a:r>
            <a:endParaRPr lang="en-US" sz="784" dirty="0"/>
          </a:p>
        </p:txBody>
      </p:sp>
      <p:pic>
        <p:nvPicPr>
          <p:cNvPr id="27" name="Image 2" descr="preencoded.png">    </p:cNvPr>
          <p:cNvPicPr>
            <a:picLocks noChangeAspect="1"/>
          </p:cNvPicPr>
          <p:nvPr/>
        </p:nvPicPr>
        <p:blipFill>
          <a:blip r:embed="rId3"/>
          <a:stretch>
            <a:fillRect/>
          </a:stretch>
        </p:blipFill>
        <p:spPr>
          <a:xfrm>
            <a:off x="8365331" y="2174714"/>
            <a:ext cx="100013" cy="114300"/>
          </a:xfrm>
          <a:prstGeom prst="rect">
            <a:avLst/>
          </a:prstGeom>
        </p:spPr>
      </p:pic>
      <p:sp>
        <p:nvSpPr>
          <p:cNvPr id="28" name="Shape 22"/>
          <p:cNvSpPr/>
          <p:nvPr/>
        </p:nvSpPr>
        <p:spPr>
          <a:xfrm>
            <a:off x="6000750" y="2723890"/>
            <a:ext cx="1143000" cy="573286"/>
          </a:xfrm>
          <a:prstGeom prst="rect">
            <a:avLst/>
          </a:prstGeom>
          <a:solidFill>
            <a:srgbClr val="38BDF8">
              <a:alpha val="5000"/>
            </a:srgbClr>
          </a:solidFill>
          <a:ln w="9144">
            <a:solidFill>
              <a:srgbClr val="38BDF8"/>
            </a:solidFill>
            <a:prstDash val="dash"/>
          </a:ln>
        </p:spPr>
      </p:sp>
      <p:sp>
        <p:nvSpPr>
          <p:cNvPr id="29" name="Text 23"/>
          <p:cNvSpPr/>
          <p:nvPr/>
        </p:nvSpPr>
        <p:spPr>
          <a:xfrm>
            <a:off x="6107906" y="2986422"/>
            <a:ext cx="928688" cy="116086"/>
          </a:xfrm>
          <a:prstGeom prst="rect">
            <a:avLst/>
          </a:prstGeom>
          <a:noFill/>
          <a:ln/>
        </p:spPr>
        <p:txBody>
          <a:bodyPr wrap="none" lIns="0" tIns="0" rIns="0" bIns="0" rtlCol="0" anchor="t">
            <a:spAutoFit/>
          </a:bodyPr>
          <a:lstStyle/>
          <a:p>
            <a:pPr algn="ctr" indent="0" marL="0">
              <a:lnSpc>
                <a:spcPts val="800"/>
              </a:lnSpc>
              <a:buNone/>
            </a:pPr>
            <a:r>
              <a:rPr lang="en-US" sz="621" dirty="0">
                <a:solidFill>
                  <a:srgbClr val="E2E8F0"/>
                </a:solidFill>
              </a:rPr>
              <a:t>CUI FILES</a:t>
            </a:r>
            <a:endParaRPr lang="en-US" sz="621" dirty="0"/>
          </a:p>
        </p:txBody>
      </p:sp>
      <p:sp>
        <p:nvSpPr>
          <p:cNvPr id="30" name="Shape 24"/>
          <p:cNvSpPr/>
          <p:nvPr/>
        </p:nvSpPr>
        <p:spPr>
          <a:xfrm>
            <a:off x="7286625" y="2723890"/>
            <a:ext cx="1143000" cy="573286"/>
          </a:xfrm>
          <a:prstGeom prst="rect">
            <a:avLst/>
          </a:prstGeom>
          <a:solidFill>
            <a:srgbClr val="38BDF8">
              <a:alpha val="5000"/>
            </a:srgbClr>
          </a:solidFill>
          <a:ln w="9144">
            <a:solidFill>
              <a:srgbClr val="38BDF8"/>
            </a:solidFill>
            <a:prstDash val="dash"/>
          </a:ln>
        </p:spPr>
      </p:sp>
      <p:pic>
        <p:nvPicPr>
          <p:cNvPr id="31" name="Image 3" descr="preencoded.png">    </p:cNvPr>
          <p:cNvPicPr>
            <a:picLocks noChangeAspect="1"/>
          </p:cNvPicPr>
          <p:nvPr/>
        </p:nvPicPr>
        <p:blipFill>
          <a:blip r:embed="rId4"/>
          <a:stretch>
            <a:fillRect/>
          </a:stretch>
        </p:blipFill>
        <p:spPr>
          <a:xfrm>
            <a:off x="7783116" y="2838190"/>
            <a:ext cx="150019" cy="171450"/>
          </a:xfrm>
          <a:prstGeom prst="rect">
            <a:avLst/>
          </a:prstGeom>
        </p:spPr>
      </p:pic>
      <p:sp>
        <p:nvSpPr>
          <p:cNvPr id="32" name="Text 25"/>
          <p:cNvSpPr/>
          <p:nvPr/>
        </p:nvSpPr>
        <p:spPr>
          <a:xfrm>
            <a:off x="7393781" y="3066790"/>
            <a:ext cx="928688" cy="116086"/>
          </a:xfrm>
          <a:prstGeom prst="rect">
            <a:avLst/>
          </a:prstGeom>
          <a:noFill/>
          <a:ln/>
        </p:spPr>
        <p:txBody>
          <a:bodyPr wrap="none" lIns="0" tIns="0" rIns="0" bIns="0" rtlCol="0" anchor="t">
            <a:spAutoFit/>
          </a:bodyPr>
          <a:lstStyle/>
          <a:p>
            <a:pPr algn="ctr" indent="0" marL="0">
              <a:lnSpc>
                <a:spcPts val="800"/>
              </a:lnSpc>
              <a:buNone/>
            </a:pPr>
            <a:r>
              <a:rPr lang="en-US" sz="621" dirty="0">
                <a:solidFill>
                  <a:srgbClr val="E2E8F0"/>
                </a:solidFill>
              </a:rPr>
              <a:t>DATABASES</a:t>
            </a:r>
            <a:endParaRPr lang="en-US" sz="621" dirty="0"/>
          </a:p>
        </p:txBody>
      </p:sp>
      <p:sp>
        <p:nvSpPr>
          <p:cNvPr id="33" name="Shape 26"/>
          <p:cNvSpPr/>
          <p:nvPr/>
        </p:nvSpPr>
        <p:spPr>
          <a:xfrm>
            <a:off x="6000750" y="3432907"/>
            <a:ext cx="1143000" cy="573286"/>
          </a:xfrm>
          <a:prstGeom prst="rect">
            <a:avLst/>
          </a:prstGeom>
          <a:solidFill>
            <a:srgbClr val="38BDF8">
              <a:alpha val="5000"/>
            </a:srgbClr>
          </a:solidFill>
          <a:ln w="9144">
            <a:solidFill>
              <a:srgbClr val="38BDF8"/>
            </a:solidFill>
            <a:prstDash val="dash"/>
          </a:ln>
        </p:spPr>
      </p:sp>
      <p:pic>
        <p:nvPicPr>
          <p:cNvPr id="34" name="Image 4" descr="preencoded.png">    </p:cNvPr>
          <p:cNvPicPr>
            <a:picLocks noChangeAspect="1"/>
          </p:cNvPicPr>
          <p:nvPr/>
        </p:nvPicPr>
        <p:blipFill>
          <a:blip r:embed="rId5"/>
          <a:stretch>
            <a:fillRect/>
          </a:stretch>
        </p:blipFill>
        <p:spPr>
          <a:xfrm>
            <a:off x="6475809" y="3540063"/>
            <a:ext cx="192881" cy="171450"/>
          </a:xfrm>
          <a:prstGeom prst="rect">
            <a:avLst/>
          </a:prstGeom>
        </p:spPr>
      </p:pic>
      <p:sp>
        <p:nvSpPr>
          <p:cNvPr id="35" name="Text 27"/>
          <p:cNvSpPr/>
          <p:nvPr/>
        </p:nvSpPr>
        <p:spPr>
          <a:xfrm>
            <a:off x="6107906" y="3768663"/>
            <a:ext cx="928688" cy="116086"/>
          </a:xfrm>
          <a:prstGeom prst="rect">
            <a:avLst/>
          </a:prstGeom>
          <a:noFill/>
          <a:ln/>
        </p:spPr>
        <p:txBody>
          <a:bodyPr wrap="none" lIns="0" tIns="0" rIns="0" bIns="0" rtlCol="0" anchor="t">
            <a:spAutoFit/>
          </a:bodyPr>
          <a:lstStyle/>
          <a:p>
            <a:pPr algn="ctr" indent="0" marL="0">
              <a:lnSpc>
                <a:spcPts val="800"/>
              </a:lnSpc>
              <a:buNone/>
            </a:pPr>
            <a:r>
              <a:rPr lang="en-US" sz="621" dirty="0">
                <a:solidFill>
                  <a:srgbClr val="E2E8F0"/>
                </a:solidFill>
              </a:rPr>
              <a:t>VIRTUAL DESKTOP</a:t>
            </a:r>
            <a:endParaRPr lang="en-US" sz="621" dirty="0"/>
          </a:p>
        </p:txBody>
      </p:sp>
      <p:sp>
        <p:nvSpPr>
          <p:cNvPr id="36" name="Shape 28"/>
          <p:cNvSpPr/>
          <p:nvPr/>
        </p:nvSpPr>
        <p:spPr>
          <a:xfrm>
            <a:off x="7286625" y="3432907"/>
            <a:ext cx="1143000" cy="573286"/>
          </a:xfrm>
          <a:prstGeom prst="rect">
            <a:avLst/>
          </a:prstGeom>
          <a:solidFill>
            <a:srgbClr val="38BDF8">
              <a:alpha val="5000"/>
            </a:srgbClr>
          </a:solidFill>
          <a:ln w="9144">
            <a:solidFill>
              <a:srgbClr val="38BDF8"/>
            </a:solidFill>
            <a:prstDash val="dash"/>
          </a:ln>
        </p:spPr>
      </p:sp>
      <p:pic>
        <p:nvPicPr>
          <p:cNvPr id="37" name="Image 5" descr="preencoded.png">    </p:cNvPr>
          <p:cNvPicPr>
            <a:picLocks noChangeAspect="1"/>
          </p:cNvPicPr>
          <p:nvPr/>
        </p:nvPicPr>
        <p:blipFill>
          <a:blip r:embed="rId6"/>
          <a:stretch>
            <a:fillRect/>
          </a:stretch>
        </p:blipFill>
        <p:spPr>
          <a:xfrm>
            <a:off x="7793831" y="3547207"/>
            <a:ext cx="128588" cy="171450"/>
          </a:xfrm>
          <a:prstGeom prst="rect">
            <a:avLst/>
          </a:prstGeom>
        </p:spPr>
      </p:pic>
      <p:sp>
        <p:nvSpPr>
          <p:cNvPr id="38" name="Text 29"/>
          <p:cNvSpPr/>
          <p:nvPr/>
        </p:nvSpPr>
        <p:spPr>
          <a:xfrm>
            <a:off x="7393781" y="3775807"/>
            <a:ext cx="928688" cy="116086"/>
          </a:xfrm>
          <a:prstGeom prst="rect">
            <a:avLst/>
          </a:prstGeom>
          <a:noFill/>
          <a:ln/>
        </p:spPr>
        <p:txBody>
          <a:bodyPr wrap="none" lIns="0" tIns="0" rIns="0" bIns="0" rtlCol="0" anchor="t">
            <a:spAutoFit/>
          </a:bodyPr>
          <a:lstStyle/>
          <a:p>
            <a:pPr algn="ctr" indent="0" marL="0">
              <a:lnSpc>
                <a:spcPts val="800"/>
              </a:lnSpc>
              <a:buNone/>
            </a:pPr>
            <a:r>
              <a:rPr lang="en-US" sz="621" dirty="0">
                <a:solidFill>
                  <a:srgbClr val="E2E8F0"/>
                </a:solidFill>
              </a:rPr>
              <a:t>AUDIT LOGS</a:t>
            </a:r>
            <a:endParaRPr lang="en-US" sz="621" dirty="0"/>
          </a:p>
        </p:txBody>
      </p:sp>
      <p:pic>
        <p:nvPicPr>
          <p:cNvPr id="39" name="Image 6" descr="preencoded.png">    </p:cNvPr>
          <p:cNvPicPr>
            <a:picLocks noChangeAspect="1"/>
          </p:cNvPicPr>
          <p:nvPr/>
        </p:nvPicPr>
        <p:blipFill>
          <a:blip r:embed="rId7"/>
          <a:stretch>
            <a:fillRect/>
          </a:stretch>
        </p:blipFill>
        <p:spPr>
          <a:xfrm>
            <a:off x="6536531" y="4365166"/>
            <a:ext cx="94655" cy="100013"/>
          </a:xfrm>
          <a:prstGeom prst="rect">
            <a:avLst/>
          </a:prstGeom>
        </p:spPr>
      </p:pic>
      <p:sp>
        <p:nvSpPr>
          <p:cNvPr id="40" name="Text 30"/>
          <p:cNvSpPr/>
          <p:nvPr/>
        </p:nvSpPr>
        <p:spPr>
          <a:xfrm>
            <a:off x="6631186" y="4347307"/>
            <a:ext cx="721686" cy="135731"/>
          </a:xfrm>
          <a:prstGeom prst="rect">
            <a:avLst/>
          </a:prstGeom>
          <a:noFill/>
          <a:ln/>
        </p:spPr>
        <p:txBody>
          <a:bodyPr wrap="none" lIns="0" tIns="0" rIns="0" bIns="0" rtlCol="0" anchor="t">
            <a:spAutoFit/>
          </a:bodyPr>
          <a:lstStyle/>
          <a:p>
            <a:pPr algn="l" indent="0" marL="0">
              <a:lnSpc>
                <a:spcPts val="900"/>
              </a:lnSpc>
              <a:buNone/>
            </a:pPr>
            <a:r>
              <a:rPr lang="en-US" sz="727" spc="1" kern="0" dirty="0">
                <a:solidFill>
                  <a:srgbClr val="38BDF8"/>
                </a:solidFill>
              </a:rPr>
              <a:t>ASSESSMENT</a:t>
            </a:r>
            <a:endParaRPr lang="en-US" sz="727" dirty="0"/>
          </a:p>
        </p:txBody>
      </p:sp>
      <p:sp>
        <p:nvSpPr>
          <p:cNvPr id="41" name="Text 31"/>
          <p:cNvSpPr/>
          <p:nvPr/>
        </p:nvSpPr>
        <p:spPr>
          <a:xfrm>
            <a:off x="6536531" y="4483038"/>
            <a:ext cx="603145" cy="135731"/>
          </a:xfrm>
          <a:prstGeom prst="rect">
            <a:avLst/>
          </a:prstGeom>
          <a:noFill/>
          <a:ln/>
        </p:spPr>
        <p:txBody>
          <a:bodyPr wrap="none" lIns="0" tIns="0" rIns="0" bIns="0" rtlCol="0" anchor="t">
            <a:spAutoFit/>
          </a:bodyPr>
          <a:lstStyle/>
          <a:p>
            <a:pPr algn="l" indent="0" marL="0">
              <a:lnSpc>
                <a:spcPts val="900"/>
              </a:lnSpc>
              <a:buNone/>
            </a:pPr>
            <a:r>
              <a:rPr lang="en-US" sz="727" spc="1" kern="0" dirty="0">
                <a:solidFill>
                  <a:srgbClr val="38BDF8"/>
                </a:solidFill>
              </a:rPr>
              <a:t>BOUNDARY</a:t>
            </a:r>
            <a:endParaRPr lang="en-US" sz="727" dirty="0"/>
          </a:p>
        </p:txBody>
      </p:sp>
      <p:sp>
        <p:nvSpPr>
          <p:cNvPr id="42" name="Text 32"/>
          <p:cNvSpPr/>
          <p:nvPr/>
        </p:nvSpPr>
        <p:spPr>
          <a:xfrm>
            <a:off x="571500" y="4936331"/>
            <a:ext cx="8001000" cy="135731"/>
          </a:xfrm>
          <a:prstGeom prst="rect">
            <a:avLst/>
          </a:prstGeom>
          <a:noFill/>
          <a:ln/>
        </p:spPr>
        <p:txBody>
          <a:bodyPr wrap="none" lIns="0" tIns="0" rIns="0" bIns="0" rtlCol="0" anchor="t">
            <a:spAutoFit/>
          </a:bodyPr>
          <a:lstStyle/>
          <a:p>
            <a:pPr algn="r" indent="0" marL="0">
              <a:lnSpc>
                <a:spcPts val="900"/>
              </a:lnSpc>
              <a:buNone/>
            </a:pPr>
            <a:r>
              <a:rPr lang="en-US" sz="727" dirty="0">
                <a:solidFill>
                  <a:srgbClr val="94A3B8">
                    <a:alpha val="60000"/>
                  </a:srgbClr>
                </a:solidFill>
              </a:rPr>
              <a:t>MACTECH TRUST CODEX // SLIDE 04</a:t>
            </a:r>
            <a:endParaRPr lang="en-US" sz="72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319471"/>
          </a:xfrm>
          <a:prstGeom prst="rect">
            <a:avLst/>
          </a:prstGeom>
        </p:spPr>
      </p:pic>
      <p:sp>
        <p:nvSpPr>
          <p:cNvPr id="4" name="Shape 0"/>
          <p:cNvSpPr/>
          <p:nvPr/>
        </p:nvSpPr>
        <p:spPr>
          <a:xfrm>
            <a:off x="571500" y="428625"/>
            <a:ext cx="8001000" cy="1086520"/>
          </a:xfrm>
          <a:prstGeom prst="rect">
            <a:avLst/>
          </a:prstGeom>
          <a:solidFill>
            <a:srgbClr val="000000">
              <a:alpha val="0"/>
            </a:srgbClr>
          </a:solidFill>
          <a:ln/>
        </p:spPr>
      </p:sp>
      <p:sp>
        <p:nvSpPr>
          <p:cNvPr id="5" name="Shape 1"/>
          <p:cNvSpPr/>
          <p:nvPr/>
        </p:nvSpPr>
        <p:spPr>
          <a:xfrm>
            <a:off x="571500" y="1500857"/>
            <a:ext cx="8001000" cy="14288"/>
          </a:xfrm>
          <a:prstGeom prst="rect">
            <a:avLst/>
          </a:prstGeom>
          <a:solidFill>
            <a:srgbClr val="38BDF8"/>
          </a:solidFill>
          <a:ln/>
        </p:spPr>
      </p:sp>
      <p:sp>
        <p:nvSpPr>
          <p:cNvPr id="6" name="Text 2"/>
          <p:cNvSpPr/>
          <p:nvPr/>
        </p:nvSpPr>
        <p:spPr>
          <a:xfrm>
            <a:off x="571500" y="428625"/>
            <a:ext cx="8001000" cy="175022"/>
          </a:xfrm>
          <a:prstGeom prst="rect">
            <a:avLst/>
          </a:prstGeom>
          <a:noFill/>
          <a:ln/>
        </p:spPr>
        <p:txBody>
          <a:bodyPr wrap="none" lIns="0" tIns="0" rIns="0" bIns="0" rtlCol="0" anchor="t">
            <a:spAutoFit/>
          </a:bodyPr>
          <a:lstStyle/>
          <a:p>
            <a:pPr algn="l" indent="0" marL="0">
              <a:lnSpc>
                <a:spcPts val="1200"/>
              </a:lnSpc>
              <a:buNone/>
            </a:pPr>
            <a:r>
              <a:rPr lang="en-US" sz="942" spc="2" kern="0" dirty="0">
                <a:solidFill>
                  <a:srgbClr val="38BDF8"/>
                </a:solidFill>
              </a:rPr>
              <a:t>The Strategy</a:t>
            </a:r>
            <a:endParaRPr lang="en-US" sz="942" dirty="0"/>
          </a:p>
        </p:txBody>
      </p:sp>
      <p:sp>
        <p:nvSpPr>
          <p:cNvPr id="7" name="Text 3"/>
          <p:cNvSpPr/>
          <p:nvPr/>
        </p:nvSpPr>
        <p:spPr>
          <a:xfrm>
            <a:off x="571500" y="675084"/>
            <a:ext cx="6429375"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rPr>
              <a:t>The Trust Codex: Your CMMC 2.0 Compliance Manual</a:t>
            </a:r>
            <a:endParaRPr lang="en-US" sz="2436" dirty="0"/>
          </a:p>
        </p:txBody>
      </p:sp>
      <p:sp>
        <p:nvSpPr>
          <p:cNvPr id="8" name="Shape 4"/>
          <p:cNvSpPr/>
          <p:nvPr/>
        </p:nvSpPr>
        <p:spPr>
          <a:xfrm>
            <a:off x="7858125" y="1472282"/>
            <a:ext cx="714375" cy="71438"/>
          </a:xfrm>
          <a:prstGeom prst="rect">
            <a:avLst/>
          </a:prstGeom>
          <a:solidFill>
            <a:srgbClr val="38BDF8"/>
          </a:solidFill>
          <a:ln/>
        </p:spPr>
      </p:sp>
      <p:sp>
        <p:nvSpPr>
          <p:cNvPr id="9" name="Shape 5"/>
          <p:cNvSpPr/>
          <p:nvPr/>
        </p:nvSpPr>
        <p:spPr>
          <a:xfrm>
            <a:off x="1202299" y="1715170"/>
            <a:ext cx="1824475" cy="298252"/>
          </a:xfrm>
          <a:prstGeom prst="rect">
            <a:avLst/>
          </a:prstGeom>
          <a:solidFill>
            <a:srgbClr val="94A3B8"/>
          </a:solidFill>
          <a:ln/>
        </p:spPr>
      </p:sp>
      <p:sp>
        <p:nvSpPr>
          <p:cNvPr id="10" name="Text 6"/>
          <p:cNvSpPr/>
          <p:nvPr/>
        </p:nvSpPr>
        <p:spPr>
          <a:xfrm>
            <a:off x="1202299" y="1715170"/>
            <a:ext cx="1824475" cy="298252"/>
          </a:xfrm>
          <a:prstGeom prst="rect">
            <a:avLst/>
          </a:prstGeom>
          <a:noFill/>
          <a:ln/>
        </p:spPr>
        <p:txBody>
          <a:bodyPr wrap="square" lIns="170053" tIns="85090" rIns="170053" bIns="85090" rtlCol="0" anchor="t">
            <a:spAutoFit/>
          </a:bodyPr>
          <a:lstStyle/>
          <a:p>
            <a:pPr algn="l" indent="0" marL="0">
              <a:lnSpc>
                <a:spcPts val="1100"/>
              </a:lnSpc>
              <a:buNone/>
            </a:pPr>
            <a:r>
              <a:rPr lang="en-US" sz="784" b="1" dirty="0">
                <a:solidFill>
                  <a:srgbClr val="0F2942"/>
                </a:solidFill>
              </a:rPr>
              <a:t>NIST 800-171 (110 Controls)</a:t>
            </a:r>
            <a:endParaRPr lang="en-US" sz="784" dirty="0"/>
          </a:p>
        </p:txBody>
      </p:sp>
      <p:sp>
        <p:nvSpPr>
          <p:cNvPr id="11" name="Shape 7"/>
          <p:cNvSpPr/>
          <p:nvPr/>
        </p:nvSpPr>
        <p:spPr>
          <a:xfrm>
            <a:off x="1471613" y="2535055"/>
            <a:ext cx="1285875" cy="1500188"/>
          </a:xfrm>
          <a:prstGeom prst="rect">
            <a:avLst/>
          </a:prstGeom>
          <a:solidFill>
            <a:srgbClr val="0F2942"/>
          </a:solidFill>
          <a:ln w="27432">
            <a:solidFill>
              <a:srgbClr val="38BDF8"/>
            </a:solidFill>
            <a:prstDash val="solid"/>
          </a:ln>
        </p:spPr>
      </p:sp>
      <p:sp>
        <p:nvSpPr>
          <p:cNvPr id="12" name="Text 8"/>
          <p:cNvSpPr/>
          <p:nvPr/>
        </p:nvSpPr>
        <p:spPr>
          <a:xfrm>
            <a:off x="1834632" y="3150868"/>
            <a:ext cx="559808" cy="411435"/>
          </a:xfrm>
          <a:prstGeom prst="rect">
            <a:avLst/>
          </a:prstGeom>
          <a:noFill/>
          <a:ln/>
        </p:spPr>
        <p:txBody>
          <a:bodyPr wrap="square" lIns="0" tIns="0" rIns="0" bIns="0" rtlCol="0" anchor="t">
            <a:spAutoFit/>
          </a:bodyPr>
          <a:lstStyle/>
          <a:p>
            <a:pPr algn="ctr" indent="0" marL="0">
              <a:lnSpc>
                <a:spcPts val="1600"/>
              </a:lnSpc>
              <a:buNone/>
            </a:pPr>
            <a:r>
              <a:rPr lang="en-US" sz="1269" dirty="0">
                <a:solidFill>
                  <a:srgbClr val="38BDF8"/>
                </a:solidFill>
              </a:rPr>
              <a:t>Trust</a:t>
            </a:r>
            <a:pPr algn="ctr" indent="0" marL="0">
              <a:lnSpc>
                <a:spcPts val="1600"/>
              </a:lnSpc>
              <a:buNone/>
            </a:pPr>
            <a:r>
              <a:rPr lang="en-US" sz="1269" dirty="0">
                <a:solidFill>
                  <a:srgbClr val="38BDF8"/>
                </a:solidFill>
              </a:rPr>
              <a:t>
</a:t>
            </a:r>
            <a:pPr algn="ctr" indent="0" marL="0">
              <a:lnSpc>
                <a:spcPts val="1600"/>
              </a:lnSpc>
              <a:buNone/>
            </a:pPr>
            <a:r>
              <a:rPr lang="en-US" sz="1269" dirty="0">
                <a:solidFill>
                  <a:srgbClr val="38BDF8"/>
                </a:solidFill>
              </a:rPr>
              <a:t>Codex</a:t>
            </a:r>
            <a:endParaRPr lang="en-US" sz="1269" dirty="0"/>
          </a:p>
        </p:txBody>
      </p:sp>
      <p:sp>
        <p:nvSpPr>
          <p:cNvPr id="13" name="Shape 9"/>
          <p:cNvSpPr/>
          <p:nvPr/>
        </p:nvSpPr>
        <p:spPr>
          <a:xfrm>
            <a:off x="757238" y="4590808"/>
            <a:ext cx="1000125" cy="264319"/>
          </a:xfrm>
          <a:prstGeom prst="rect">
            <a:avLst/>
          </a:prstGeom>
          <a:solidFill>
            <a:srgbClr val="38BDF8">
              <a:alpha val="10000"/>
            </a:srgbClr>
          </a:solidFill>
          <a:ln w="9144">
            <a:solidFill>
              <a:srgbClr val="38BDF8"/>
            </a:solidFill>
            <a:prstDash val="solid"/>
          </a:ln>
        </p:spPr>
      </p:sp>
      <p:sp>
        <p:nvSpPr>
          <p:cNvPr id="14" name="Text 10"/>
          <p:cNvSpPr/>
          <p:nvPr/>
        </p:nvSpPr>
        <p:spPr>
          <a:xfrm>
            <a:off x="757238" y="4590808"/>
            <a:ext cx="1000125" cy="264319"/>
          </a:xfrm>
          <a:prstGeom prst="rect">
            <a:avLst/>
          </a:prstGeom>
          <a:noFill/>
          <a:ln/>
        </p:spPr>
        <p:txBody>
          <a:bodyPr wrap="square" lIns="127508" tIns="68072" rIns="127508" bIns="68072" rtlCol="0" anchor="t">
            <a:spAutoFit/>
          </a:bodyPr>
          <a:lstStyle/>
          <a:p>
            <a:pPr algn="ctr" indent="0" marL="0">
              <a:lnSpc>
                <a:spcPts val="900"/>
              </a:lnSpc>
              <a:buNone/>
            </a:pPr>
            <a:r>
              <a:rPr lang="en-US" sz="727" dirty="0">
                <a:solidFill>
                  <a:srgbClr val="38BDF8"/>
                </a:solidFill>
              </a:rPr>
              <a:t>Evidence Index</a:t>
            </a:r>
            <a:endParaRPr lang="en-US" sz="727" dirty="0"/>
          </a:p>
        </p:txBody>
      </p:sp>
      <p:sp>
        <p:nvSpPr>
          <p:cNvPr id="15" name="Shape 11"/>
          <p:cNvSpPr/>
          <p:nvPr/>
        </p:nvSpPr>
        <p:spPr>
          <a:xfrm>
            <a:off x="1614488" y="4590808"/>
            <a:ext cx="1000125" cy="264319"/>
          </a:xfrm>
          <a:prstGeom prst="rect">
            <a:avLst/>
          </a:prstGeom>
          <a:solidFill>
            <a:srgbClr val="38BDF8">
              <a:alpha val="10000"/>
            </a:srgbClr>
          </a:solidFill>
          <a:ln w="9144">
            <a:solidFill>
              <a:srgbClr val="38BDF8"/>
            </a:solidFill>
            <a:prstDash val="solid"/>
          </a:ln>
        </p:spPr>
      </p:sp>
      <p:sp>
        <p:nvSpPr>
          <p:cNvPr id="16" name="Text 12"/>
          <p:cNvSpPr/>
          <p:nvPr/>
        </p:nvSpPr>
        <p:spPr>
          <a:xfrm>
            <a:off x="1614488" y="4590808"/>
            <a:ext cx="1000125" cy="264319"/>
          </a:xfrm>
          <a:prstGeom prst="rect">
            <a:avLst/>
          </a:prstGeom>
          <a:noFill/>
          <a:ln/>
        </p:spPr>
        <p:txBody>
          <a:bodyPr wrap="square" lIns="127508" tIns="68072" rIns="127508" bIns="68072" rtlCol="0" anchor="t">
            <a:spAutoFit/>
          </a:bodyPr>
          <a:lstStyle/>
          <a:p>
            <a:pPr algn="ctr" indent="0" marL="0">
              <a:lnSpc>
                <a:spcPts val="900"/>
              </a:lnSpc>
              <a:buNone/>
            </a:pPr>
            <a:r>
              <a:rPr lang="en-US" sz="727" dirty="0">
                <a:solidFill>
                  <a:srgbClr val="38BDF8"/>
                </a:solidFill>
              </a:rPr>
              <a:t>Governance</a:t>
            </a:r>
            <a:endParaRPr lang="en-US" sz="727" dirty="0"/>
          </a:p>
        </p:txBody>
      </p:sp>
      <p:sp>
        <p:nvSpPr>
          <p:cNvPr id="17" name="Shape 13"/>
          <p:cNvSpPr/>
          <p:nvPr/>
        </p:nvSpPr>
        <p:spPr>
          <a:xfrm>
            <a:off x="2471738" y="4590808"/>
            <a:ext cx="1000125" cy="264319"/>
          </a:xfrm>
          <a:prstGeom prst="rect">
            <a:avLst/>
          </a:prstGeom>
          <a:solidFill>
            <a:srgbClr val="38BDF8">
              <a:alpha val="10000"/>
            </a:srgbClr>
          </a:solidFill>
          <a:ln w="9144">
            <a:solidFill>
              <a:srgbClr val="38BDF8"/>
            </a:solidFill>
            <a:prstDash val="solid"/>
          </a:ln>
        </p:spPr>
      </p:sp>
      <p:sp>
        <p:nvSpPr>
          <p:cNvPr id="18" name="Text 14"/>
          <p:cNvSpPr/>
          <p:nvPr/>
        </p:nvSpPr>
        <p:spPr>
          <a:xfrm>
            <a:off x="2471738" y="4590808"/>
            <a:ext cx="1000125" cy="264319"/>
          </a:xfrm>
          <a:prstGeom prst="rect">
            <a:avLst/>
          </a:prstGeom>
          <a:noFill/>
          <a:ln/>
        </p:spPr>
        <p:txBody>
          <a:bodyPr wrap="square" lIns="127508" tIns="68072" rIns="127508" bIns="68072" rtlCol="0" anchor="t">
            <a:spAutoFit/>
          </a:bodyPr>
          <a:lstStyle/>
          <a:p>
            <a:pPr algn="ctr" indent="0" marL="0">
              <a:lnSpc>
                <a:spcPts val="900"/>
              </a:lnSpc>
              <a:buNone/>
            </a:pPr>
            <a:r>
              <a:rPr lang="en-US" sz="727" dirty="0">
                <a:solidFill>
                  <a:srgbClr val="38BDF8"/>
                </a:solidFill>
              </a:rPr>
              <a:t>Satisfaction</a:t>
            </a:r>
            <a:endParaRPr lang="en-US" sz="727" dirty="0"/>
          </a:p>
        </p:txBody>
      </p:sp>
      <p:sp>
        <p:nvSpPr>
          <p:cNvPr id="19" name="Shape 15"/>
          <p:cNvSpPr/>
          <p:nvPr/>
        </p:nvSpPr>
        <p:spPr>
          <a:xfrm>
            <a:off x="3943350" y="1572295"/>
            <a:ext cx="4629150" cy="736141"/>
          </a:xfrm>
          <a:prstGeom prst="rect">
            <a:avLst/>
          </a:prstGeom>
          <a:solidFill>
            <a:srgbClr val="0F2942">
              <a:alpha val="60000"/>
            </a:srgbClr>
          </a:solidFill>
          <a:ln w="9144">
            <a:solidFill>
              <a:srgbClr val="38BDF8"/>
            </a:solidFill>
            <a:prstDash val="solid"/>
          </a:ln>
        </p:spPr>
      </p:sp>
      <p:sp>
        <p:nvSpPr>
          <p:cNvPr id="20" name="Shape 16"/>
          <p:cNvSpPr/>
          <p:nvPr/>
        </p:nvSpPr>
        <p:spPr>
          <a:xfrm>
            <a:off x="4029075" y="1658020"/>
            <a:ext cx="357188" cy="357188"/>
          </a:xfrm>
          <a:prstGeom prst="rect">
            <a:avLst/>
          </a:prstGeom>
          <a:solidFill>
            <a:srgbClr val="38BDF8">
              <a:alpha val="10000"/>
            </a:srgbClr>
          </a:solidFill>
          <a:ln/>
        </p:spPr>
      </p:sp>
      <p:pic>
        <p:nvPicPr>
          <p:cNvPr id="21" name="Image 1" descr="preencoded.png">    </p:cNvPr>
          <p:cNvPicPr>
            <a:picLocks noChangeAspect="1"/>
          </p:cNvPicPr>
          <p:nvPr/>
        </p:nvPicPr>
        <p:blipFill>
          <a:blip r:embed="rId2"/>
          <a:stretch>
            <a:fillRect/>
          </a:stretch>
        </p:blipFill>
        <p:spPr>
          <a:xfrm>
            <a:off x="4111228" y="1750888"/>
            <a:ext cx="192881" cy="171450"/>
          </a:xfrm>
          <a:prstGeom prst="rect">
            <a:avLst/>
          </a:prstGeom>
        </p:spPr>
      </p:pic>
      <p:sp>
        <p:nvSpPr>
          <p:cNvPr id="22" name="Text 17"/>
          <p:cNvSpPr/>
          <p:nvPr/>
        </p:nvSpPr>
        <p:spPr>
          <a:xfrm>
            <a:off x="4529138" y="1658020"/>
            <a:ext cx="3957638"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Complete Mapping</a:t>
            </a:r>
            <a:endParaRPr lang="en-US" sz="987" dirty="0"/>
          </a:p>
        </p:txBody>
      </p:sp>
      <p:sp>
        <p:nvSpPr>
          <p:cNvPr id="23" name="Text 18"/>
          <p:cNvSpPr/>
          <p:nvPr/>
        </p:nvSpPr>
        <p:spPr>
          <a:xfrm>
            <a:off x="4529138" y="1888406"/>
            <a:ext cx="395763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94A3B8"/>
                </a:solidFill>
              </a:rPr>
              <a:t>Maps every one of the 110 NIST 800-171 controls directly to the CUI Vault Enclave architecture.</a:t>
            </a:r>
            <a:endParaRPr lang="en-US" sz="834" dirty="0"/>
          </a:p>
        </p:txBody>
      </p:sp>
      <p:sp>
        <p:nvSpPr>
          <p:cNvPr id="24" name="Shape 19"/>
          <p:cNvSpPr/>
          <p:nvPr/>
        </p:nvSpPr>
        <p:spPr>
          <a:xfrm>
            <a:off x="3943350" y="2351298"/>
            <a:ext cx="4629150" cy="736141"/>
          </a:xfrm>
          <a:prstGeom prst="rect">
            <a:avLst/>
          </a:prstGeom>
          <a:solidFill>
            <a:srgbClr val="0F2942">
              <a:alpha val="60000"/>
            </a:srgbClr>
          </a:solidFill>
          <a:ln w="9144">
            <a:solidFill>
              <a:srgbClr val="38BDF8"/>
            </a:solidFill>
            <a:prstDash val="solid"/>
          </a:ln>
        </p:spPr>
      </p:sp>
      <p:sp>
        <p:nvSpPr>
          <p:cNvPr id="25" name="Shape 20"/>
          <p:cNvSpPr/>
          <p:nvPr/>
        </p:nvSpPr>
        <p:spPr>
          <a:xfrm>
            <a:off x="4029075" y="2437023"/>
            <a:ext cx="357188" cy="357188"/>
          </a:xfrm>
          <a:prstGeom prst="rect">
            <a:avLst/>
          </a:prstGeom>
          <a:solidFill>
            <a:srgbClr val="38BDF8">
              <a:alpha val="10000"/>
            </a:srgbClr>
          </a:solidFill>
          <a:ln/>
        </p:spPr>
      </p:sp>
      <p:pic>
        <p:nvPicPr>
          <p:cNvPr id="26" name="Image 2" descr="preencoded.png">    </p:cNvPr>
          <p:cNvPicPr>
            <a:picLocks noChangeAspect="1"/>
          </p:cNvPicPr>
          <p:nvPr/>
        </p:nvPicPr>
        <p:blipFill>
          <a:blip r:embed="rId3"/>
          <a:stretch>
            <a:fillRect/>
          </a:stretch>
        </p:blipFill>
        <p:spPr>
          <a:xfrm>
            <a:off x="4111228" y="2529892"/>
            <a:ext cx="192881" cy="171450"/>
          </a:xfrm>
          <a:prstGeom prst="rect">
            <a:avLst/>
          </a:prstGeom>
        </p:spPr>
      </p:pic>
      <p:sp>
        <p:nvSpPr>
          <p:cNvPr id="27" name="Text 21"/>
          <p:cNvSpPr/>
          <p:nvPr/>
        </p:nvSpPr>
        <p:spPr>
          <a:xfrm>
            <a:off x="4529138" y="2437023"/>
            <a:ext cx="3957638"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Satisfaction Documented</a:t>
            </a:r>
            <a:endParaRPr lang="en-US" sz="987" dirty="0"/>
          </a:p>
        </p:txBody>
      </p:sp>
      <p:sp>
        <p:nvSpPr>
          <p:cNvPr id="28" name="Text 22"/>
          <p:cNvSpPr/>
          <p:nvPr/>
        </p:nvSpPr>
        <p:spPr>
          <a:xfrm>
            <a:off x="4529138" y="2667409"/>
            <a:ext cx="395763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94A3B8"/>
                </a:solidFill>
              </a:rPr>
              <a:t>Documents exactly how each control is satisfied, removing ambiguity for the assessor.</a:t>
            </a:r>
            <a:endParaRPr lang="en-US" sz="834" dirty="0"/>
          </a:p>
        </p:txBody>
      </p:sp>
      <p:sp>
        <p:nvSpPr>
          <p:cNvPr id="29" name="Shape 23"/>
          <p:cNvSpPr/>
          <p:nvPr/>
        </p:nvSpPr>
        <p:spPr>
          <a:xfrm>
            <a:off x="3943350" y="3130302"/>
            <a:ext cx="4629150" cy="736141"/>
          </a:xfrm>
          <a:prstGeom prst="rect">
            <a:avLst/>
          </a:prstGeom>
          <a:solidFill>
            <a:srgbClr val="0F2942">
              <a:alpha val="60000"/>
            </a:srgbClr>
          </a:solidFill>
          <a:ln w="9144">
            <a:solidFill>
              <a:srgbClr val="38BDF8"/>
            </a:solidFill>
            <a:prstDash val="solid"/>
          </a:ln>
        </p:spPr>
      </p:sp>
      <p:sp>
        <p:nvSpPr>
          <p:cNvPr id="30" name="Shape 24"/>
          <p:cNvSpPr/>
          <p:nvPr/>
        </p:nvSpPr>
        <p:spPr>
          <a:xfrm>
            <a:off x="4029075" y="3216027"/>
            <a:ext cx="357188" cy="357188"/>
          </a:xfrm>
          <a:prstGeom prst="rect">
            <a:avLst/>
          </a:prstGeom>
          <a:solidFill>
            <a:srgbClr val="38BDF8">
              <a:alpha val="10000"/>
            </a:srgbClr>
          </a:solidFill>
          <a:ln/>
        </p:spPr>
      </p:sp>
      <p:pic>
        <p:nvPicPr>
          <p:cNvPr id="31" name="Image 3" descr="preencoded.png">    </p:cNvPr>
          <p:cNvPicPr>
            <a:picLocks noChangeAspect="1"/>
          </p:cNvPicPr>
          <p:nvPr/>
        </p:nvPicPr>
        <p:blipFill>
          <a:blip r:embed="rId4"/>
          <a:stretch>
            <a:fillRect/>
          </a:stretch>
        </p:blipFill>
        <p:spPr>
          <a:xfrm>
            <a:off x="4121944" y="3308896"/>
            <a:ext cx="171450" cy="171450"/>
          </a:xfrm>
          <a:prstGeom prst="rect">
            <a:avLst/>
          </a:prstGeom>
        </p:spPr>
      </p:pic>
      <p:sp>
        <p:nvSpPr>
          <p:cNvPr id="32" name="Text 25"/>
          <p:cNvSpPr/>
          <p:nvPr/>
        </p:nvSpPr>
        <p:spPr>
          <a:xfrm>
            <a:off x="4529138" y="3216027"/>
            <a:ext cx="3957638"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Evidence Pointers</a:t>
            </a:r>
            <a:endParaRPr lang="en-US" sz="987" dirty="0"/>
          </a:p>
        </p:txBody>
      </p:sp>
      <p:sp>
        <p:nvSpPr>
          <p:cNvPr id="33" name="Text 26"/>
          <p:cNvSpPr/>
          <p:nvPr/>
        </p:nvSpPr>
        <p:spPr>
          <a:xfrm>
            <a:off x="4529138" y="3446413"/>
            <a:ext cx="395763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94A3B8"/>
                </a:solidFill>
              </a:rPr>
              <a:t>Points to exactly where evidence lives: specific logs, configurations, policies, and screenshots.</a:t>
            </a:r>
            <a:endParaRPr lang="en-US" sz="834" dirty="0"/>
          </a:p>
        </p:txBody>
      </p:sp>
      <p:sp>
        <p:nvSpPr>
          <p:cNvPr id="34" name="Shape 27"/>
          <p:cNvSpPr/>
          <p:nvPr/>
        </p:nvSpPr>
        <p:spPr>
          <a:xfrm>
            <a:off x="3943350" y="3909306"/>
            <a:ext cx="4629150" cy="576132"/>
          </a:xfrm>
          <a:prstGeom prst="rect">
            <a:avLst/>
          </a:prstGeom>
          <a:solidFill>
            <a:srgbClr val="0F2942">
              <a:alpha val="60000"/>
            </a:srgbClr>
          </a:solidFill>
          <a:ln w="9144">
            <a:solidFill>
              <a:srgbClr val="38BDF8"/>
            </a:solidFill>
            <a:prstDash val="solid"/>
          </a:ln>
        </p:spPr>
      </p:sp>
      <p:sp>
        <p:nvSpPr>
          <p:cNvPr id="35" name="Shape 28"/>
          <p:cNvSpPr/>
          <p:nvPr/>
        </p:nvSpPr>
        <p:spPr>
          <a:xfrm>
            <a:off x="4029075" y="3995031"/>
            <a:ext cx="357188" cy="357188"/>
          </a:xfrm>
          <a:prstGeom prst="rect">
            <a:avLst/>
          </a:prstGeom>
          <a:solidFill>
            <a:srgbClr val="38BDF8">
              <a:alpha val="10000"/>
            </a:srgbClr>
          </a:solidFill>
          <a:ln/>
        </p:spPr>
      </p:sp>
      <p:pic>
        <p:nvPicPr>
          <p:cNvPr id="36" name="Image 4" descr="preencoded.png">    </p:cNvPr>
          <p:cNvPicPr>
            <a:picLocks noChangeAspect="1"/>
          </p:cNvPicPr>
          <p:nvPr/>
        </p:nvPicPr>
        <p:blipFill>
          <a:blip r:embed="rId5"/>
          <a:stretch>
            <a:fillRect/>
          </a:stretch>
        </p:blipFill>
        <p:spPr>
          <a:xfrm>
            <a:off x="4121944" y="4087899"/>
            <a:ext cx="171450" cy="171450"/>
          </a:xfrm>
          <a:prstGeom prst="rect">
            <a:avLst/>
          </a:prstGeom>
        </p:spPr>
      </p:pic>
      <p:sp>
        <p:nvSpPr>
          <p:cNvPr id="37" name="Text 29"/>
          <p:cNvSpPr/>
          <p:nvPr/>
        </p:nvSpPr>
        <p:spPr>
          <a:xfrm>
            <a:off x="4529138" y="3995031"/>
            <a:ext cx="3866192"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Pre-Built Governance</a:t>
            </a:r>
            <a:endParaRPr lang="en-US" sz="987" dirty="0"/>
          </a:p>
        </p:txBody>
      </p:sp>
      <p:sp>
        <p:nvSpPr>
          <p:cNvPr id="38" name="Text 30"/>
          <p:cNvSpPr/>
          <p:nvPr/>
        </p:nvSpPr>
        <p:spPr>
          <a:xfrm>
            <a:off x="4529138" y="4225417"/>
            <a:ext cx="3866192"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94A3B8"/>
                </a:solidFill>
              </a:rPr>
              <a:t>Includes ready-to-deploy policies, procedures, templates, and runbooks.</a:t>
            </a:r>
            <a:endParaRPr lang="en-US" sz="834" dirty="0"/>
          </a:p>
        </p:txBody>
      </p:sp>
      <p:sp>
        <p:nvSpPr>
          <p:cNvPr id="39" name="Shape 31"/>
          <p:cNvSpPr/>
          <p:nvPr/>
        </p:nvSpPr>
        <p:spPr>
          <a:xfrm>
            <a:off x="3943350" y="4571163"/>
            <a:ext cx="4629150" cy="369689"/>
          </a:xfrm>
          <a:prstGeom prst="rect">
            <a:avLst/>
          </a:prstGeom>
          <a:solidFill>
            <a:srgbClr val="38BDF8"/>
          </a:solidFill>
          <a:ln/>
        </p:spPr>
      </p:sp>
      <p:sp>
        <p:nvSpPr>
          <p:cNvPr id="40" name="Text 32"/>
          <p:cNvSpPr/>
          <p:nvPr/>
        </p:nvSpPr>
        <p:spPr>
          <a:xfrm>
            <a:off x="3943350" y="4571163"/>
            <a:ext cx="4629150" cy="369689"/>
          </a:xfrm>
          <a:prstGeom prst="rect">
            <a:avLst/>
          </a:prstGeom>
          <a:noFill/>
          <a:ln/>
        </p:spPr>
        <p:txBody>
          <a:bodyPr wrap="square" lIns="127508" tIns="127508" rIns="127508" bIns="127508" rtlCol="0" anchor="t">
            <a:spAutoFit/>
          </a:bodyPr>
          <a:lstStyle/>
          <a:p>
            <a:pPr algn="ctr" indent="0" marL="0">
              <a:lnSpc>
                <a:spcPts val="1100"/>
              </a:lnSpc>
              <a:buNone/>
            </a:pPr>
            <a:r>
              <a:rPr lang="en-US" sz="784" b="1" spc="1" kern="0" dirty="0">
                <a:solidFill>
                  <a:srgbClr val="0F2942"/>
                </a:solidFill>
              </a:rPr>
              <a:t>Evidence-Ready and Auditor-Friendly From Day One</a:t>
            </a:r>
            <a:endParaRPr lang="en-US" sz="784" dirty="0"/>
          </a:p>
        </p:txBody>
      </p:sp>
      <p:sp>
        <p:nvSpPr>
          <p:cNvPr id="41" name="Text 33"/>
          <p:cNvSpPr/>
          <p:nvPr/>
        </p:nvSpPr>
        <p:spPr>
          <a:xfrm>
            <a:off x="571500" y="5069439"/>
            <a:ext cx="8001000" cy="135731"/>
          </a:xfrm>
          <a:prstGeom prst="rect">
            <a:avLst/>
          </a:prstGeom>
          <a:noFill/>
          <a:ln/>
        </p:spPr>
        <p:txBody>
          <a:bodyPr wrap="none" lIns="0" tIns="0" rIns="0" bIns="0" rtlCol="0" anchor="t">
            <a:spAutoFit/>
          </a:bodyPr>
          <a:lstStyle/>
          <a:p>
            <a:pPr algn="r" indent="0" marL="0">
              <a:lnSpc>
                <a:spcPts val="900"/>
              </a:lnSpc>
              <a:buNone/>
            </a:pPr>
            <a:r>
              <a:rPr lang="en-US" sz="727" dirty="0">
                <a:solidFill>
                  <a:srgbClr val="94A3B8">
                    <a:alpha val="60000"/>
                  </a:srgbClr>
                </a:solidFill>
              </a:rPr>
              <a:t>MACTECH TRUST CODEX // SLIDE 05</a:t>
            </a:r>
            <a:endParaRPr lang="en-US" sz="72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70959"/>
          </a:xfrm>
          <a:prstGeom prst="rect">
            <a:avLst/>
          </a:prstGeom>
        </p:spPr>
      </p:pic>
      <p:sp>
        <p:nvSpPr>
          <p:cNvPr id="4" name="Shape 0"/>
          <p:cNvSpPr/>
          <p:nvPr/>
        </p:nvSpPr>
        <p:spPr>
          <a:xfrm>
            <a:off x="571500" y="428625"/>
            <a:ext cx="8001000" cy="1086520"/>
          </a:xfrm>
          <a:prstGeom prst="rect">
            <a:avLst/>
          </a:prstGeom>
          <a:solidFill>
            <a:srgbClr val="000000">
              <a:alpha val="0"/>
            </a:srgbClr>
          </a:solidFill>
          <a:ln/>
        </p:spPr>
      </p:sp>
      <p:sp>
        <p:nvSpPr>
          <p:cNvPr id="5" name="Shape 1"/>
          <p:cNvSpPr/>
          <p:nvPr/>
        </p:nvSpPr>
        <p:spPr>
          <a:xfrm>
            <a:off x="571500" y="1500857"/>
            <a:ext cx="8001000" cy="14288"/>
          </a:xfrm>
          <a:prstGeom prst="rect">
            <a:avLst/>
          </a:prstGeom>
          <a:solidFill>
            <a:srgbClr val="38BDF8"/>
          </a:solidFill>
          <a:ln/>
        </p:spPr>
      </p:sp>
      <p:sp>
        <p:nvSpPr>
          <p:cNvPr id="6" name="Text 2"/>
          <p:cNvSpPr/>
          <p:nvPr/>
        </p:nvSpPr>
        <p:spPr>
          <a:xfrm>
            <a:off x="571500" y="428625"/>
            <a:ext cx="8001000" cy="175022"/>
          </a:xfrm>
          <a:prstGeom prst="rect">
            <a:avLst/>
          </a:prstGeom>
          <a:noFill/>
          <a:ln/>
        </p:spPr>
        <p:txBody>
          <a:bodyPr wrap="none" lIns="0" tIns="0" rIns="0" bIns="0" rtlCol="0" anchor="t">
            <a:spAutoFit/>
          </a:bodyPr>
          <a:lstStyle/>
          <a:p>
            <a:pPr algn="l" indent="0" marL="0">
              <a:lnSpc>
                <a:spcPts val="1200"/>
              </a:lnSpc>
              <a:buNone/>
            </a:pPr>
            <a:r>
              <a:rPr lang="en-US" sz="942" spc="2" kern="0" dirty="0">
                <a:solidFill>
                  <a:srgbClr val="38BDF8"/>
                </a:solidFill>
              </a:rPr>
              <a:t>Why a Vault? Speed and Confidence</a:t>
            </a:r>
            <a:endParaRPr lang="en-US" sz="942" dirty="0"/>
          </a:p>
        </p:txBody>
      </p:sp>
      <p:sp>
        <p:nvSpPr>
          <p:cNvPr id="7" name="Text 3"/>
          <p:cNvSpPr/>
          <p:nvPr/>
        </p:nvSpPr>
        <p:spPr>
          <a:xfrm>
            <a:off x="571500" y="675084"/>
            <a:ext cx="7143750"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rPr>
              <a:t>Full CMMC 2.0 Level 2 Alignment in Under One Week</a:t>
            </a:r>
            <a:endParaRPr lang="en-US" sz="2436" dirty="0"/>
          </a:p>
        </p:txBody>
      </p:sp>
      <p:sp>
        <p:nvSpPr>
          <p:cNvPr id="8" name="Shape 4"/>
          <p:cNvSpPr/>
          <p:nvPr/>
        </p:nvSpPr>
        <p:spPr>
          <a:xfrm>
            <a:off x="7858125" y="1472282"/>
            <a:ext cx="714375" cy="71438"/>
          </a:xfrm>
          <a:prstGeom prst="rect">
            <a:avLst/>
          </a:prstGeom>
          <a:solidFill>
            <a:srgbClr val="38BDF8"/>
          </a:solidFill>
          <a:ln/>
        </p:spPr>
      </p:sp>
      <p:sp>
        <p:nvSpPr>
          <p:cNvPr id="9" name="Shape 5"/>
          <p:cNvSpPr/>
          <p:nvPr/>
        </p:nvSpPr>
        <p:spPr>
          <a:xfrm>
            <a:off x="571500" y="1786607"/>
            <a:ext cx="8001000" cy="928688"/>
          </a:xfrm>
          <a:prstGeom prst="rect">
            <a:avLst/>
          </a:prstGeom>
          <a:solidFill>
            <a:srgbClr val="000000">
              <a:alpha val="0"/>
            </a:srgbClr>
          </a:solidFill>
          <a:ln/>
        </p:spPr>
      </p:sp>
      <p:sp>
        <p:nvSpPr>
          <p:cNvPr id="10" name="Shape 6"/>
          <p:cNvSpPr/>
          <p:nvPr/>
        </p:nvSpPr>
        <p:spPr>
          <a:xfrm>
            <a:off x="571500" y="1786607"/>
            <a:ext cx="7144" cy="928688"/>
          </a:xfrm>
          <a:prstGeom prst="rect">
            <a:avLst/>
          </a:prstGeom>
          <a:solidFill>
            <a:srgbClr val="94A3B8"/>
          </a:solidFill>
          <a:ln/>
        </p:spPr>
      </p:sp>
      <p:sp>
        <p:nvSpPr>
          <p:cNvPr id="11" name="Text 7"/>
          <p:cNvSpPr/>
          <p:nvPr/>
        </p:nvSpPr>
        <p:spPr>
          <a:xfrm>
            <a:off x="714375" y="1841971"/>
            <a:ext cx="1428750" cy="175022"/>
          </a:xfrm>
          <a:prstGeom prst="rect">
            <a:avLst/>
          </a:prstGeom>
          <a:noFill/>
          <a:ln/>
        </p:spPr>
        <p:txBody>
          <a:bodyPr wrap="none" lIns="0" tIns="0" rIns="170053" bIns="0" rtlCol="0" anchor="t">
            <a:spAutoFit/>
          </a:bodyPr>
          <a:lstStyle/>
          <a:p>
            <a:pPr algn="r" indent="0" marL="0">
              <a:lnSpc>
                <a:spcPts val="1200"/>
              </a:lnSpc>
              <a:buNone/>
            </a:pPr>
            <a:r>
              <a:rPr lang="en-US" sz="942" dirty="0">
                <a:solidFill>
                  <a:srgbClr val="94A3B8"/>
                </a:solidFill>
              </a:rPr>
              <a:t>Traditional Way</a:t>
            </a:r>
            <a:endParaRPr lang="en-US" sz="942" dirty="0"/>
          </a:p>
        </p:txBody>
      </p:sp>
      <p:sp>
        <p:nvSpPr>
          <p:cNvPr id="12" name="Shape 8"/>
          <p:cNvSpPr/>
          <p:nvPr/>
        </p:nvSpPr>
        <p:spPr>
          <a:xfrm>
            <a:off x="2143125" y="1786607"/>
            <a:ext cx="5143500" cy="285750"/>
          </a:xfrm>
          <a:prstGeom prst="rect">
            <a:avLst/>
          </a:prstGeom>
          <a:solidFill>
            <a:srgbClr val="94A3B8">
              <a:alpha val="20000"/>
            </a:srgbClr>
          </a:solidFill>
          <a:ln w="9144">
            <a:solidFill>
              <a:srgbClr val="94A3B8"/>
            </a:solidFill>
            <a:prstDash val="dash"/>
          </a:ln>
        </p:spPr>
      </p:sp>
      <p:sp>
        <p:nvSpPr>
          <p:cNvPr id="13" name="Text 9"/>
          <p:cNvSpPr/>
          <p:nvPr/>
        </p:nvSpPr>
        <p:spPr>
          <a:xfrm>
            <a:off x="2143125" y="1786607"/>
            <a:ext cx="5143500" cy="285750"/>
          </a:xfrm>
          <a:prstGeom prst="rect">
            <a:avLst/>
          </a:prstGeom>
          <a:noFill/>
          <a:ln/>
        </p:spPr>
        <p:txBody>
          <a:bodyPr wrap="square" lIns="0" tIns="0" rIns="0" bIns="0" rtlCol="0" anchor="ctr">
            <a:spAutoFit/>
          </a:bodyPr>
          <a:lstStyle/>
          <a:p>
            <a:pPr algn="ctr" indent="0" marL="0">
              <a:lnSpc>
                <a:spcPts val="1400"/>
              </a:lnSpc>
              <a:buNone/>
            </a:pPr>
            <a:r>
              <a:rPr lang="en-US" sz="1050" dirty="0">
                <a:solidFill>
                  <a:srgbClr val="94A3B8"/>
                </a:solidFill>
              </a:rPr>
              <a:t>6 - 18 MONTHS OF UNCERTAINTY</a:t>
            </a:r>
            <a:endParaRPr lang="en-US" sz="1050" dirty="0"/>
          </a:p>
        </p:txBody>
      </p:sp>
      <p:sp>
        <p:nvSpPr>
          <p:cNvPr id="14" name="Text 10"/>
          <p:cNvSpPr/>
          <p:nvPr/>
        </p:nvSpPr>
        <p:spPr>
          <a:xfrm>
            <a:off x="714375" y="2306315"/>
            <a:ext cx="1428750" cy="175022"/>
          </a:xfrm>
          <a:prstGeom prst="rect">
            <a:avLst/>
          </a:prstGeom>
          <a:noFill/>
          <a:ln/>
        </p:spPr>
        <p:txBody>
          <a:bodyPr wrap="none" lIns="0" tIns="0" rIns="170053" bIns="0" rtlCol="0" anchor="t">
            <a:spAutoFit/>
          </a:bodyPr>
          <a:lstStyle/>
          <a:p>
            <a:pPr algn="r" indent="0" marL="0">
              <a:lnSpc>
                <a:spcPts val="1200"/>
              </a:lnSpc>
              <a:buNone/>
            </a:pPr>
            <a:r>
              <a:rPr lang="en-US" sz="942" dirty="0">
                <a:solidFill>
                  <a:srgbClr val="38BDF8"/>
                </a:solidFill>
              </a:rPr>
              <a:t>MacTech Way</a:t>
            </a:r>
            <a:endParaRPr lang="en-US" sz="942" dirty="0"/>
          </a:p>
        </p:txBody>
      </p:sp>
      <p:sp>
        <p:nvSpPr>
          <p:cNvPr id="15" name="Shape 11"/>
          <p:cNvSpPr/>
          <p:nvPr/>
        </p:nvSpPr>
        <p:spPr>
          <a:xfrm>
            <a:off x="2143125" y="2250951"/>
            <a:ext cx="964406" cy="285750"/>
          </a:xfrm>
          <a:prstGeom prst="rect">
            <a:avLst/>
          </a:prstGeom>
          <a:solidFill>
            <a:srgbClr val="38BDF8"/>
          </a:solidFill>
          <a:ln/>
        </p:spPr>
      </p:sp>
      <p:sp>
        <p:nvSpPr>
          <p:cNvPr id="16" name="Text 12"/>
          <p:cNvSpPr/>
          <p:nvPr/>
        </p:nvSpPr>
        <p:spPr>
          <a:xfrm>
            <a:off x="2246849" y="2276847"/>
            <a:ext cx="756958"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0F2942"/>
                </a:solidFill>
              </a:rPr>
              <a:t>&lt; 1 WEEK</a:t>
            </a:r>
            <a:endParaRPr lang="en-US" sz="1193" dirty="0"/>
          </a:p>
        </p:txBody>
      </p:sp>
      <p:sp>
        <p:nvSpPr>
          <p:cNvPr id="17" name="Shape 13"/>
          <p:cNvSpPr/>
          <p:nvPr/>
        </p:nvSpPr>
        <p:spPr>
          <a:xfrm>
            <a:off x="571500" y="3215357"/>
            <a:ext cx="2524116" cy="1591270"/>
          </a:xfrm>
          <a:prstGeom prst="rect">
            <a:avLst/>
          </a:prstGeom>
          <a:solidFill>
            <a:srgbClr val="0F2942">
              <a:alpha val="60000"/>
            </a:srgbClr>
          </a:solidFill>
          <a:ln w="9144">
            <a:solidFill>
              <a:srgbClr val="38BDF8"/>
            </a:solidFill>
            <a:prstDash val="solid"/>
          </a:ln>
        </p:spPr>
      </p:sp>
      <p:pic>
        <p:nvPicPr>
          <p:cNvPr id="18" name="Image 1" descr="preencoded.png">    </p:cNvPr>
          <p:cNvPicPr>
            <a:picLocks noChangeAspect="1"/>
          </p:cNvPicPr>
          <p:nvPr/>
        </p:nvPicPr>
        <p:blipFill>
          <a:blip r:embed="rId2"/>
          <a:stretch>
            <a:fillRect/>
          </a:stretch>
        </p:blipFill>
        <p:spPr>
          <a:xfrm>
            <a:off x="750094" y="3438599"/>
            <a:ext cx="257175" cy="228600"/>
          </a:xfrm>
          <a:prstGeom prst="rect">
            <a:avLst/>
          </a:prstGeom>
        </p:spPr>
      </p:pic>
      <p:sp>
        <p:nvSpPr>
          <p:cNvPr id="19" name="Text 14"/>
          <p:cNvSpPr/>
          <p:nvPr/>
        </p:nvSpPr>
        <p:spPr>
          <a:xfrm>
            <a:off x="750094" y="3813646"/>
            <a:ext cx="2166928" cy="214313"/>
          </a:xfrm>
          <a:prstGeom prst="rect">
            <a:avLst/>
          </a:prstGeom>
          <a:noFill/>
          <a:ln/>
        </p:spPr>
        <p:txBody>
          <a:bodyPr wrap="none" lIns="0" tIns="0" rIns="0" bIns="0" rtlCol="0" anchor="t">
            <a:spAutoFit/>
          </a:bodyPr>
          <a:lstStyle/>
          <a:p>
            <a:pPr algn="l" indent="0" marL="0">
              <a:lnSpc>
                <a:spcPts val="1500"/>
              </a:lnSpc>
              <a:buNone/>
            </a:pPr>
            <a:r>
              <a:rPr lang="en-US" sz="1159" dirty="0">
                <a:solidFill>
                  <a:srgbClr val="FFFFFF"/>
                </a:solidFill>
              </a:rPr>
              <a:t>Pre-Built Architecture</a:t>
            </a:r>
            <a:endParaRPr lang="en-US" sz="1159" dirty="0"/>
          </a:p>
        </p:txBody>
      </p:sp>
      <p:sp>
        <p:nvSpPr>
          <p:cNvPr id="20" name="Text 15"/>
          <p:cNvSpPr/>
          <p:nvPr/>
        </p:nvSpPr>
        <p:spPr>
          <a:xfrm>
            <a:off x="750094" y="4099396"/>
            <a:ext cx="2166928"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2E8F0"/>
                </a:solidFill>
              </a:rPr>
              <a:t>No building from scratch. Hardening, </a:t>
            </a:r>
            <a:pPr algn="l" indent="0" marL="0">
              <a:lnSpc>
                <a:spcPts val="1400"/>
              </a:lnSpc>
              <a:buNone/>
            </a:pPr>
            <a:r>
              <a:rPr lang="en-US" sz="834" dirty="0">
                <a:solidFill>
                  <a:srgbClr val="E2E8F0"/>
                </a:solidFill>
              </a:rPr>
              <a:t>governance, and infrastructure are </a:t>
            </a:r>
            <a:pPr algn="l" indent="0" marL="0">
              <a:lnSpc>
                <a:spcPts val="1400"/>
              </a:lnSpc>
              <a:buNone/>
            </a:pPr>
            <a:r>
              <a:rPr lang="en-US" sz="784" b="1" dirty="0">
                <a:solidFill>
                  <a:srgbClr val="38BDF8"/>
                </a:solidFill>
              </a:rPr>
              <a:t>already done</a:t>
            </a:r>
            <a:pPr algn="l" indent="0" marL="0">
              <a:lnSpc>
                <a:spcPts val="1400"/>
              </a:lnSpc>
              <a:buNone/>
            </a:pPr>
            <a:r>
              <a:rPr lang="en-US" sz="834" dirty="0">
                <a:solidFill>
                  <a:srgbClr val="E2E8F0"/>
                </a:solidFill>
              </a:rPr>
              <a:t>.</a:t>
            </a:r>
            <a:endParaRPr lang="en-US" sz="834" dirty="0"/>
          </a:p>
        </p:txBody>
      </p:sp>
      <p:sp>
        <p:nvSpPr>
          <p:cNvPr id="21" name="Shape 16"/>
          <p:cNvSpPr/>
          <p:nvPr/>
        </p:nvSpPr>
        <p:spPr>
          <a:xfrm>
            <a:off x="3309928" y="3215357"/>
            <a:ext cx="2524116" cy="1591270"/>
          </a:xfrm>
          <a:prstGeom prst="rect">
            <a:avLst/>
          </a:prstGeom>
          <a:solidFill>
            <a:srgbClr val="0F2942">
              <a:alpha val="60000"/>
            </a:srgbClr>
          </a:solidFill>
          <a:ln w="9144">
            <a:solidFill>
              <a:srgbClr val="38BDF8"/>
            </a:solidFill>
            <a:prstDash val="solid"/>
          </a:ln>
        </p:spPr>
      </p:sp>
      <p:pic>
        <p:nvPicPr>
          <p:cNvPr id="22" name="Image 2" descr="preencoded.png">    </p:cNvPr>
          <p:cNvPicPr>
            <a:picLocks noChangeAspect="1"/>
          </p:cNvPicPr>
          <p:nvPr/>
        </p:nvPicPr>
        <p:blipFill>
          <a:blip r:embed="rId3"/>
          <a:stretch>
            <a:fillRect/>
          </a:stretch>
        </p:blipFill>
        <p:spPr>
          <a:xfrm>
            <a:off x="3488522" y="3438599"/>
            <a:ext cx="257175" cy="228600"/>
          </a:xfrm>
          <a:prstGeom prst="rect">
            <a:avLst/>
          </a:prstGeom>
        </p:spPr>
      </p:pic>
      <p:sp>
        <p:nvSpPr>
          <p:cNvPr id="23" name="Text 17"/>
          <p:cNvSpPr/>
          <p:nvPr/>
        </p:nvSpPr>
        <p:spPr>
          <a:xfrm>
            <a:off x="3488522" y="3813646"/>
            <a:ext cx="2166928" cy="214313"/>
          </a:xfrm>
          <a:prstGeom prst="rect">
            <a:avLst/>
          </a:prstGeom>
          <a:noFill/>
          <a:ln/>
        </p:spPr>
        <p:txBody>
          <a:bodyPr wrap="none" lIns="0" tIns="0" rIns="0" bIns="0" rtlCol="0" anchor="t">
            <a:spAutoFit/>
          </a:bodyPr>
          <a:lstStyle/>
          <a:p>
            <a:pPr algn="l" indent="0" marL="0">
              <a:lnSpc>
                <a:spcPts val="1500"/>
              </a:lnSpc>
              <a:buNone/>
            </a:pPr>
            <a:r>
              <a:rPr lang="en-US" sz="1159" dirty="0">
                <a:solidFill>
                  <a:srgbClr val="FFFFFF"/>
                </a:solidFill>
              </a:rPr>
              <a:t>No Guesswork</a:t>
            </a:r>
            <a:endParaRPr lang="en-US" sz="1159" dirty="0"/>
          </a:p>
        </p:txBody>
      </p:sp>
      <p:sp>
        <p:nvSpPr>
          <p:cNvPr id="24" name="Text 18"/>
          <p:cNvSpPr/>
          <p:nvPr/>
        </p:nvSpPr>
        <p:spPr>
          <a:xfrm>
            <a:off x="3488522" y="4099396"/>
            <a:ext cx="2166928"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2E8F0"/>
                </a:solidFill>
              </a:rPr>
              <a:t>Every one of the 110 controls is </a:t>
            </a:r>
            <a:pPr algn="l" indent="0" marL="0">
              <a:lnSpc>
                <a:spcPts val="1400"/>
              </a:lnSpc>
              <a:buNone/>
            </a:pPr>
            <a:r>
              <a:rPr lang="en-US" sz="784" b="1" dirty="0">
                <a:solidFill>
                  <a:srgbClr val="38BDF8"/>
                </a:solidFill>
              </a:rPr>
              <a:t>already </a:t>
            </a:r>
            <a:pPr algn="l" indent="0" marL="0">
              <a:lnSpc>
                <a:spcPts val="1400"/>
              </a:lnSpc>
              <a:buNone/>
            </a:pPr>
            <a:r>
              <a:rPr lang="en-US" sz="784" b="1" dirty="0">
                <a:solidFill>
                  <a:srgbClr val="38BDF8"/>
                </a:solidFill>
              </a:rPr>
              <a:t>mapped</a:t>
            </a:r>
            <a:pPr algn="l" indent="0" marL="0">
              <a:lnSpc>
                <a:spcPts val="1400"/>
              </a:lnSpc>
              <a:buNone/>
            </a:pPr>
            <a:r>
              <a:rPr lang="en-US" sz="834" dirty="0">
                <a:solidFill>
                  <a:srgbClr val="E2E8F0"/>
                </a:solidFill>
              </a:rPr>
              <a:t> in the Trust Codex.</a:t>
            </a:r>
            <a:endParaRPr lang="en-US" sz="834" dirty="0"/>
          </a:p>
        </p:txBody>
      </p:sp>
      <p:sp>
        <p:nvSpPr>
          <p:cNvPr id="25" name="Shape 19"/>
          <p:cNvSpPr/>
          <p:nvPr/>
        </p:nvSpPr>
        <p:spPr>
          <a:xfrm>
            <a:off x="6048356" y="3215357"/>
            <a:ext cx="2524144" cy="1591270"/>
          </a:xfrm>
          <a:prstGeom prst="rect">
            <a:avLst/>
          </a:prstGeom>
          <a:solidFill>
            <a:srgbClr val="0F2942">
              <a:alpha val="60000"/>
            </a:srgbClr>
          </a:solidFill>
          <a:ln w="9144">
            <a:solidFill>
              <a:srgbClr val="38BDF8"/>
            </a:solidFill>
            <a:prstDash val="solid"/>
          </a:ln>
        </p:spPr>
      </p:sp>
      <p:pic>
        <p:nvPicPr>
          <p:cNvPr id="26" name="Image 3" descr="preencoded.png">    </p:cNvPr>
          <p:cNvPicPr>
            <a:picLocks noChangeAspect="1"/>
          </p:cNvPicPr>
          <p:nvPr/>
        </p:nvPicPr>
        <p:blipFill>
          <a:blip r:embed="rId4"/>
          <a:stretch>
            <a:fillRect/>
          </a:stretch>
        </p:blipFill>
        <p:spPr>
          <a:xfrm>
            <a:off x="6226950" y="3438599"/>
            <a:ext cx="228600" cy="228600"/>
          </a:xfrm>
          <a:prstGeom prst="rect">
            <a:avLst/>
          </a:prstGeom>
        </p:spPr>
      </p:pic>
      <p:sp>
        <p:nvSpPr>
          <p:cNvPr id="27" name="Text 20"/>
          <p:cNvSpPr/>
          <p:nvPr/>
        </p:nvSpPr>
        <p:spPr>
          <a:xfrm>
            <a:off x="6226950" y="3813646"/>
            <a:ext cx="2166956" cy="214313"/>
          </a:xfrm>
          <a:prstGeom prst="rect">
            <a:avLst/>
          </a:prstGeom>
          <a:noFill/>
          <a:ln/>
        </p:spPr>
        <p:txBody>
          <a:bodyPr wrap="none" lIns="0" tIns="0" rIns="0" bIns="0" rtlCol="0" anchor="t">
            <a:spAutoFit/>
          </a:bodyPr>
          <a:lstStyle/>
          <a:p>
            <a:pPr algn="l" indent="0" marL="0">
              <a:lnSpc>
                <a:spcPts val="1500"/>
              </a:lnSpc>
              <a:buNone/>
            </a:pPr>
            <a:r>
              <a:rPr lang="en-US" sz="1159" dirty="0">
                <a:solidFill>
                  <a:srgbClr val="FFFFFF"/>
                </a:solidFill>
              </a:rPr>
              <a:t>Assessment Ready</a:t>
            </a:r>
            <a:endParaRPr lang="en-US" sz="1159" dirty="0"/>
          </a:p>
        </p:txBody>
      </p:sp>
      <p:sp>
        <p:nvSpPr>
          <p:cNvPr id="28" name="Text 21"/>
          <p:cNvSpPr/>
          <p:nvPr/>
        </p:nvSpPr>
        <p:spPr>
          <a:xfrm>
            <a:off x="6226950" y="4099396"/>
            <a:ext cx="2166956"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2E8F0"/>
                </a:solidFill>
              </a:rPr>
              <a:t>Walk into your assessment with </a:t>
            </a:r>
            <a:pPr algn="l" indent="0" marL="0">
              <a:lnSpc>
                <a:spcPts val="1400"/>
              </a:lnSpc>
              <a:buNone/>
            </a:pPr>
            <a:r>
              <a:rPr lang="en-US" sz="834" dirty="0">
                <a:solidFill>
                  <a:srgbClr val="E2E8F0"/>
                </a:solidFill>
              </a:rPr>
              <a:t>confidence. This is </a:t>
            </a:r>
            <a:pPr algn="l" indent="0" marL="0">
              <a:lnSpc>
                <a:spcPts val="1400"/>
              </a:lnSpc>
              <a:buNone/>
            </a:pPr>
            <a:r>
              <a:rPr lang="en-US" sz="784" b="1" dirty="0">
                <a:solidFill>
                  <a:srgbClr val="38BDF8"/>
                </a:solidFill>
              </a:rPr>
              <a:t>speed without </a:t>
            </a:r>
            <a:pPr algn="l" indent="0" marL="0">
              <a:lnSpc>
                <a:spcPts val="1400"/>
              </a:lnSpc>
              <a:buNone/>
            </a:pPr>
            <a:r>
              <a:rPr lang="en-US" sz="784" b="1" dirty="0">
                <a:solidFill>
                  <a:srgbClr val="38BDF8"/>
                </a:solidFill>
              </a:rPr>
              <a:t>shortcuts</a:t>
            </a:r>
            <a:pPr algn="l" indent="0" marL="0">
              <a:lnSpc>
                <a:spcPts val="1400"/>
              </a:lnSpc>
              <a:buNone/>
            </a:pPr>
            <a:r>
              <a:rPr lang="en-US" sz="834" dirty="0">
                <a:solidFill>
                  <a:srgbClr val="E2E8F0"/>
                </a:solidFill>
              </a:rPr>
              <a:t>.</a:t>
            </a:r>
            <a:endParaRPr lang="en-US" sz="834" dirty="0"/>
          </a:p>
        </p:txBody>
      </p:sp>
      <p:sp>
        <p:nvSpPr>
          <p:cNvPr id="29" name="Text 22"/>
          <p:cNvSpPr/>
          <p:nvPr/>
        </p:nvSpPr>
        <p:spPr>
          <a:xfrm>
            <a:off x="571500" y="4793456"/>
            <a:ext cx="8001000" cy="135731"/>
          </a:xfrm>
          <a:prstGeom prst="rect">
            <a:avLst/>
          </a:prstGeom>
          <a:noFill/>
          <a:ln/>
        </p:spPr>
        <p:txBody>
          <a:bodyPr wrap="none" lIns="0" tIns="0" rIns="0" bIns="0" rtlCol="0" anchor="t">
            <a:spAutoFit/>
          </a:bodyPr>
          <a:lstStyle/>
          <a:p>
            <a:pPr algn="r" indent="0" marL="0">
              <a:lnSpc>
                <a:spcPts val="900"/>
              </a:lnSpc>
              <a:buNone/>
            </a:pPr>
            <a:r>
              <a:rPr lang="en-US" sz="727" dirty="0">
                <a:solidFill>
                  <a:srgbClr val="94A3B8">
                    <a:alpha val="60000"/>
                  </a:srgbClr>
                </a:solidFill>
              </a:rPr>
              <a:t>MACTECH TRUST CODEX // SLIDE 06</a:t>
            </a:r>
            <a:endParaRPr lang="en-US" sz="72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269185"/>
          </a:xfrm>
          <a:prstGeom prst="rect">
            <a:avLst/>
          </a:prstGeom>
        </p:spPr>
      </p:pic>
      <p:sp>
        <p:nvSpPr>
          <p:cNvPr id="4" name="Shape 0"/>
          <p:cNvSpPr/>
          <p:nvPr/>
        </p:nvSpPr>
        <p:spPr>
          <a:xfrm>
            <a:off x="571500" y="428625"/>
            <a:ext cx="8001000" cy="1086520"/>
          </a:xfrm>
          <a:prstGeom prst="rect">
            <a:avLst/>
          </a:prstGeom>
          <a:solidFill>
            <a:srgbClr val="000000">
              <a:alpha val="0"/>
            </a:srgbClr>
          </a:solidFill>
          <a:ln/>
        </p:spPr>
      </p:sp>
      <p:sp>
        <p:nvSpPr>
          <p:cNvPr id="5" name="Shape 1"/>
          <p:cNvSpPr/>
          <p:nvPr/>
        </p:nvSpPr>
        <p:spPr>
          <a:xfrm>
            <a:off x="571500" y="1500857"/>
            <a:ext cx="8001000" cy="14288"/>
          </a:xfrm>
          <a:prstGeom prst="rect">
            <a:avLst/>
          </a:prstGeom>
          <a:solidFill>
            <a:srgbClr val="38BDF8"/>
          </a:solidFill>
          <a:ln/>
        </p:spPr>
      </p:sp>
      <p:sp>
        <p:nvSpPr>
          <p:cNvPr id="6" name="Text 2"/>
          <p:cNvSpPr/>
          <p:nvPr/>
        </p:nvSpPr>
        <p:spPr>
          <a:xfrm>
            <a:off x="571500" y="428625"/>
            <a:ext cx="8001000" cy="175022"/>
          </a:xfrm>
          <a:prstGeom prst="rect">
            <a:avLst/>
          </a:prstGeom>
          <a:noFill/>
          <a:ln/>
        </p:spPr>
        <p:txBody>
          <a:bodyPr wrap="none" lIns="0" tIns="0" rIns="0" bIns="0" rtlCol="0" anchor="t">
            <a:spAutoFit/>
          </a:bodyPr>
          <a:lstStyle/>
          <a:p>
            <a:pPr algn="l" indent="0" marL="0">
              <a:lnSpc>
                <a:spcPts val="1200"/>
              </a:lnSpc>
              <a:buNone/>
            </a:pPr>
            <a:r>
              <a:rPr lang="en-US" sz="942" spc="2" kern="0" dirty="0">
                <a:solidFill>
                  <a:srgbClr val="38BDF8"/>
                </a:solidFill>
              </a:rPr>
              <a:t>How We Make It Simple</a:t>
            </a:r>
            <a:endParaRPr lang="en-US" sz="942" dirty="0"/>
          </a:p>
        </p:txBody>
      </p:sp>
      <p:sp>
        <p:nvSpPr>
          <p:cNvPr id="7" name="Text 3"/>
          <p:cNvSpPr/>
          <p:nvPr/>
        </p:nvSpPr>
        <p:spPr>
          <a:xfrm>
            <a:off x="571500" y="675084"/>
            <a:ext cx="7143750"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rPr>
              <a:t>One Boundary. One Control Set. One Playbook.</a:t>
            </a:r>
            <a:endParaRPr lang="en-US" sz="2436" dirty="0"/>
          </a:p>
        </p:txBody>
      </p:sp>
      <p:sp>
        <p:nvSpPr>
          <p:cNvPr id="8" name="Shape 4"/>
          <p:cNvSpPr/>
          <p:nvPr/>
        </p:nvSpPr>
        <p:spPr>
          <a:xfrm>
            <a:off x="7858125" y="1472282"/>
            <a:ext cx="714375" cy="71438"/>
          </a:xfrm>
          <a:prstGeom prst="rect">
            <a:avLst/>
          </a:prstGeom>
          <a:solidFill>
            <a:srgbClr val="38BDF8"/>
          </a:solidFill>
          <a:ln/>
        </p:spPr>
      </p:sp>
      <p:sp>
        <p:nvSpPr>
          <p:cNvPr id="9" name="Shape 5"/>
          <p:cNvSpPr/>
          <p:nvPr/>
        </p:nvSpPr>
        <p:spPr>
          <a:xfrm>
            <a:off x="571500" y="1786607"/>
            <a:ext cx="2524116" cy="2437805"/>
          </a:xfrm>
          <a:prstGeom prst="rect">
            <a:avLst/>
          </a:prstGeom>
          <a:solidFill>
            <a:srgbClr val="0F2942">
              <a:alpha val="60000"/>
            </a:srgbClr>
          </a:solidFill>
          <a:ln w="9144">
            <a:solidFill>
              <a:srgbClr val="38BDF8"/>
            </a:solidFill>
            <a:prstDash val="solid"/>
          </a:ln>
        </p:spPr>
      </p:sp>
      <p:sp>
        <p:nvSpPr>
          <p:cNvPr id="10" name="Shape 6"/>
          <p:cNvSpPr/>
          <p:nvPr/>
        </p:nvSpPr>
        <p:spPr>
          <a:xfrm>
            <a:off x="1471613" y="2000920"/>
            <a:ext cx="714375" cy="714375"/>
          </a:xfrm>
          <a:prstGeom prst="ellipse">
            <a:avLst/>
          </a:prstGeom>
          <a:solidFill>
            <a:srgbClr val="38BDF8">
              <a:alpha val="10000"/>
            </a:srgbClr>
          </a:solidFill>
          <a:ln w="18288">
            <a:solidFill>
              <a:srgbClr val="38BDF8"/>
            </a:solidFill>
            <a:prstDash val="dash"/>
          </a:ln>
        </p:spPr>
      </p:sp>
      <p:pic>
        <p:nvPicPr>
          <p:cNvPr id="11" name="Image 1" descr="preencoded.png">    </p:cNvPr>
          <p:cNvPicPr>
            <a:picLocks noChangeAspect="1"/>
          </p:cNvPicPr>
          <p:nvPr/>
        </p:nvPicPr>
        <p:blipFill>
          <a:blip r:embed="rId2"/>
          <a:stretch>
            <a:fillRect/>
          </a:stretch>
        </p:blipFill>
        <p:spPr>
          <a:xfrm>
            <a:off x="1703784" y="2215232"/>
            <a:ext cx="250031" cy="285750"/>
          </a:xfrm>
          <a:prstGeom prst="rect">
            <a:avLst/>
          </a:prstGeom>
        </p:spPr>
      </p:pic>
      <p:sp>
        <p:nvSpPr>
          <p:cNvPr id="12" name="Text 7"/>
          <p:cNvSpPr/>
          <p:nvPr/>
        </p:nvSpPr>
        <p:spPr>
          <a:xfrm>
            <a:off x="1012682" y="2893888"/>
            <a:ext cx="1632207" cy="273248"/>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38BDF8"/>
                </a:solidFill>
              </a:rPr>
              <a:t>One Boundary</a:t>
            </a:r>
            <a:endParaRPr lang="en-US" sz="1397" dirty="0"/>
          </a:p>
        </p:txBody>
      </p:sp>
      <p:sp>
        <p:nvSpPr>
          <p:cNvPr id="13" name="Text 8"/>
          <p:cNvSpPr/>
          <p:nvPr/>
        </p:nvSpPr>
        <p:spPr>
          <a:xfrm>
            <a:off x="1077590" y="3274293"/>
            <a:ext cx="1502420" cy="192881"/>
          </a:xfrm>
          <a:prstGeom prst="rect">
            <a:avLst/>
          </a:prstGeom>
          <a:noFill/>
          <a:ln/>
        </p:spPr>
        <p:txBody>
          <a:bodyPr wrap="none" lIns="0" tIns="0" rIns="0" bIns="0" rtlCol="0" anchor="t">
            <a:spAutoFit/>
          </a:bodyPr>
          <a:lstStyle/>
          <a:p>
            <a:pPr algn="ctr" indent="0" marL="0">
              <a:lnSpc>
                <a:spcPts val="1500"/>
              </a:lnSpc>
              <a:buNone/>
            </a:pPr>
            <a:r>
              <a:rPr lang="en-US" sz="942" dirty="0">
                <a:solidFill>
                  <a:srgbClr val="E2E8F0"/>
                </a:solidFill>
              </a:rPr>
              <a:t>The Enclave is the Scope.</a:t>
            </a:r>
            <a:endParaRPr lang="en-US" sz="942" dirty="0"/>
          </a:p>
        </p:txBody>
      </p:sp>
      <p:sp>
        <p:nvSpPr>
          <p:cNvPr id="14" name="Text 9"/>
          <p:cNvSpPr/>
          <p:nvPr/>
        </p:nvSpPr>
        <p:spPr>
          <a:xfrm>
            <a:off x="785813" y="3610049"/>
            <a:ext cx="2085975" cy="385763"/>
          </a:xfrm>
          <a:prstGeom prst="rect">
            <a:avLst/>
          </a:prstGeom>
          <a:noFill/>
          <a:ln/>
        </p:spPr>
        <p:txBody>
          <a:bodyPr wrap="square" lIns="0" tIns="127508" rIns="0" bIns="0" rtlCol="0" anchor="t">
            <a:spAutoFit/>
          </a:bodyPr>
          <a:lstStyle/>
          <a:p>
            <a:pPr algn="ctr" indent="0" marL="0">
              <a:lnSpc>
                <a:spcPts val="900"/>
              </a:lnSpc>
              <a:buNone/>
            </a:pPr>
            <a:r>
              <a:rPr lang="en-US" sz="727" dirty="0">
                <a:solidFill>
                  <a:srgbClr val="94A3B8"/>
                </a:solidFill>
              </a:rPr>
              <a:t>You're not securing the whole company—just the vault.</a:t>
            </a:r>
            <a:endParaRPr lang="en-US" sz="727" dirty="0"/>
          </a:p>
        </p:txBody>
      </p:sp>
      <p:sp>
        <p:nvSpPr>
          <p:cNvPr id="15" name="Shape 10"/>
          <p:cNvSpPr/>
          <p:nvPr/>
        </p:nvSpPr>
        <p:spPr>
          <a:xfrm>
            <a:off x="3300413" y="1786607"/>
            <a:ext cx="2528888" cy="2437805"/>
          </a:xfrm>
          <a:prstGeom prst="rect">
            <a:avLst/>
          </a:prstGeom>
          <a:solidFill>
            <a:srgbClr val="0F2942">
              <a:alpha val="60000"/>
            </a:srgbClr>
          </a:solidFill>
          <a:ln w="9144">
            <a:solidFill>
              <a:srgbClr val="38BDF8"/>
            </a:solidFill>
            <a:prstDash val="solid"/>
          </a:ln>
        </p:spPr>
      </p:sp>
      <p:sp>
        <p:nvSpPr>
          <p:cNvPr id="16" name="Shape 11"/>
          <p:cNvSpPr/>
          <p:nvPr/>
        </p:nvSpPr>
        <p:spPr>
          <a:xfrm>
            <a:off x="4207669" y="2000920"/>
            <a:ext cx="714375" cy="714375"/>
          </a:xfrm>
          <a:prstGeom prst="ellipse">
            <a:avLst/>
          </a:prstGeom>
          <a:solidFill>
            <a:srgbClr val="38BDF8">
              <a:alpha val="10000"/>
            </a:srgbClr>
          </a:solidFill>
          <a:ln w="18288">
            <a:solidFill>
              <a:srgbClr val="38BDF8"/>
            </a:solidFill>
            <a:prstDash val="dash"/>
          </a:ln>
        </p:spPr>
      </p:sp>
      <p:pic>
        <p:nvPicPr>
          <p:cNvPr id="17" name="Image 2" descr="preencoded.png">    </p:cNvPr>
          <p:cNvPicPr>
            <a:picLocks noChangeAspect="1"/>
          </p:cNvPicPr>
          <p:nvPr/>
        </p:nvPicPr>
        <p:blipFill>
          <a:blip r:embed="rId3"/>
          <a:stretch>
            <a:fillRect/>
          </a:stretch>
        </p:blipFill>
        <p:spPr>
          <a:xfrm>
            <a:off x="4421981" y="2215232"/>
            <a:ext cx="285750" cy="285750"/>
          </a:xfrm>
          <a:prstGeom prst="rect">
            <a:avLst/>
          </a:prstGeom>
        </p:spPr>
      </p:pic>
      <p:sp>
        <p:nvSpPr>
          <p:cNvPr id="18" name="Text 12"/>
          <p:cNvSpPr/>
          <p:nvPr/>
        </p:nvSpPr>
        <p:spPr>
          <a:xfrm>
            <a:off x="3644233" y="2893888"/>
            <a:ext cx="1841246" cy="273248"/>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38BDF8"/>
                </a:solidFill>
              </a:rPr>
              <a:t>One Control Set</a:t>
            </a:r>
            <a:endParaRPr lang="en-US" sz="1397" dirty="0"/>
          </a:p>
        </p:txBody>
      </p:sp>
      <p:sp>
        <p:nvSpPr>
          <p:cNvPr id="19" name="Text 13"/>
          <p:cNvSpPr/>
          <p:nvPr/>
        </p:nvSpPr>
        <p:spPr>
          <a:xfrm>
            <a:off x="3750050" y="3274293"/>
            <a:ext cx="1629612" cy="192881"/>
          </a:xfrm>
          <a:prstGeom prst="rect">
            <a:avLst/>
          </a:prstGeom>
          <a:noFill/>
          <a:ln/>
        </p:spPr>
        <p:txBody>
          <a:bodyPr wrap="none" lIns="0" tIns="0" rIns="0" bIns="0" rtlCol="0" anchor="t">
            <a:spAutoFit/>
          </a:bodyPr>
          <a:lstStyle/>
          <a:p>
            <a:pPr algn="ctr" indent="0" marL="0">
              <a:lnSpc>
                <a:spcPts val="1500"/>
              </a:lnSpc>
              <a:buNone/>
            </a:pPr>
            <a:r>
              <a:rPr lang="en-US" sz="942" dirty="0">
                <a:solidFill>
                  <a:srgbClr val="E2E8F0"/>
                </a:solidFill>
              </a:rPr>
              <a:t>110 NIST 800-171 Controls.</a:t>
            </a:r>
            <a:endParaRPr lang="en-US" sz="942" dirty="0"/>
          </a:p>
        </p:txBody>
      </p:sp>
      <p:sp>
        <p:nvSpPr>
          <p:cNvPr id="20" name="Text 14"/>
          <p:cNvSpPr/>
          <p:nvPr/>
        </p:nvSpPr>
        <p:spPr>
          <a:xfrm>
            <a:off x="3519497" y="3610049"/>
            <a:ext cx="2090747" cy="385763"/>
          </a:xfrm>
          <a:prstGeom prst="rect">
            <a:avLst/>
          </a:prstGeom>
          <a:noFill/>
          <a:ln/>
        </p:spPr>
        <p:txBody>
          <a:bodyPr wrap="square" lIns="0" tIns="127508" rIns="0" bIns="0" rtlCol="0" anchor="t">
            <a:spAutoFit/>
          </a:bodyPr>
          <a:lstStyle/>
          <a:p>
            <a:pPr algn="ctr" indent="0" marL="0">
              <a:lnSpc>
                <a:spcPts val="900"/>
              </a:lnSpc>
              <a:buNone/>
            </a:pPr>
            <a:r>
              <a:rPr lang="en-US" sz="727" dirty="0">
                <a:solidFill>
                  <a:srgbClr val="94A3B8"/>
                </a:solidFill>
              </a:rPr>
              <a:t>Already mapped in the Codex. No interpretation needed.</a:t>
            </a:r>
            <a:endParaRPr lang="en-US" sz="727" dirty="0"/>
          </a:p>
        </p:txBody>
      </p:sp>
      <p:sp>
        <p:nvSpPr>
          <p:cNvPr id="21" name="Shape 15"/>
          <p:cNvSpPr/>
          <p:nvPr/>
        </p:nvSpPr>
        <p:spPr>
          <a:xfrm>
            <a:off x="6038869" y="1786607"/>
            <a:ext cx="2533659" cy="2437805"/>
          </a:xfrm>
          <a:prstGeom prst="rect">
            <a:avLst/>
          </a:prstGeom>
          <a:solidFill>
            <a:srgbClr val="0F2942">
              <a:alpha val="60000"/>
            </a:srgbClr>
          </a:solidFill>
          <a:ln w="9144">
            <a:solidFill>
              <a:srgbClr val="38BDF8"/>
            </a:solidFill>
            <a:prstDash val="solid"/>
          </a:ln>
        </p:spPr>
      </p:sp>
      <p:sp>
        <p:nvSpPr>
          <p:cNvPr id="22" name="Shape 16"/>
          <p:cNvSpPr/>
          <p:nvPr/>
        </p:nvSpPr>
        <p:spPr>
          <a:xfrm>
            <a:off x="6953213" y="2000920"/>
            <a:ext cx="714375" cy="714375"/>
          </a:xfrm>
          <a:prstGeom prst="ellipse">
            <a:avLst/>
          </a:prstGeom>
          <a:solidFill>
            <a:srgbClr val="38BDF8">
              <a:alpha val="10000"/>
            </a:srgbClr>
          </a:solidFill>
          <a:ln w="18288">
            <a:solidFill>
              <a:srgbClr val="38BDF8"/>
            </a:solidFill>
            <a:prstDash val="dash"/>
          </a:ln>
        </p:spPr>
      </p:sp>
      <p:pic>
        <p:nvPicPr>
          <p:cNvPr id="23" name="Image 3" descr="preencoded.png">    </p:cNvPr>
          <p:cNvPicPr>
            <a:picLocks noChangeAspect="1"/>
          </p:cNvPicPr>
          <p:nvPr/>
        </p:nvPicPr>
        <p:blipFill>
          <a:blip r:embed="rId4"/>
          <a:stretch>
            <a:fillRect/>
          </a:stretch>
        </p:blipFill>
        <p:spPr>
          <a:xfrm>
            <a:off x="7149666" y="2215232"/>
            <a:ext cx="321469" cy="285750"/>
          </a:xfrm>
          <a:prstGeom prst="rect">
            <a:avLst/>
          </a:prstGeom>
        </p:spPr>
      </p:pic>
      <p:sp>
        <p:nvSpPr>
          <p:cNvPr id="24" name="Text 17"/>
          <p:cNvSpPr/>
          <p:nvPr/>
        </p:nvSpPr>
        <p:spPr>
          <a:xfrm>
            <a:off x="6529890" y="2893888"/>
            <a:ext cx="1561021" cy="273248"/>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38BDF8"/>
                </a:solidFill>
              </a:rPr>
              <a:t>One Playbook</a:t>
            </a:r>
            <a:endParaRPr lang="en-US" sz="1397" dirty="0"/>
          </a:p>
        </p:txBody>
      </p:sp>
      <p:sp>
        <p:nvSpPr>
          <p:cNvPr id="25" name="Text 18"/>
          <p:cNvSpPr/>
          <p:nvPr/>
        </p:nvSpPr>
        <p:spPr>
          <a:xfrm>
            <a:off x="6657110" y="3274293"/>
            <a:ext cx="1306581" cy="192881"/>
          </a:xfrm>
          <a:prstGeom prst="rect">
            <a:avLst/>
          </a:prstGeom>
          <a:noFill/>
          <a:ln/>
        </p:spPr>
        <p:txBody>
          <a:bodyPr wrap="none" lIns="0" tIns="0" rIns="0" bIns="0" rtlCol="0" anchor="t">
            <a:spAutoFit/>
          </a:bodyPr>
          <a:lstStyle/>
          <a:p>
            <a:pPr algn="ctr" indent="0" marL="0">
              <a:lnSpc>
                <a:spcPts val="1500"/>
              </a:lnSpc>
              <a:buNone/>
            </a:pPr>
            <a:r>
              <a:rPr lang="en-US" sz="942" dirty="0">
                <a:solidFill>
                  <a:srgbClr val="E2E8F0"/>
                </a:solidFill>
              </a:rPr>
              <a:t>Pre-built Governance.</a:t>
            </a:r>
            <a:endParaRPr lang="en-US" sz="942" dirty="0"/>
          </a:p>
        </p:txBody>
      </p:sp>
      <p:sp>
        <p:nvSpPr>
          <p:cNvPr id="26" name="Text 19"/>
          <p:cNvSpPr/>
          <p:nvPr/>
        </p:nvSpPr>
        <p:spPr>
          <a:xfrm>
            <a:off x="6262669" y="3610049"/>
            <a:ext cx="2095491" cy="385763"/>
          </a:xfrm>
          <a:prstGeom prst="rect">
            <a:avLst/>
          </a:prstGeom>
          <a:noFill/>
          <a:ln/>
        </p:spPr>
        <p:txBody>
          <a:bodyPr wrap="square" lIns="0" tIns="127508" rIns="0" bIns="0" rtlCol="0" anchor="t">
            <a:spAutoFit/>
          </a:bodyPr>
          <a:lstStyle/>
          <a:p>
            <a:pPr algn="ctr" indent="0" marL="0">
              <a:lnSpc>
                <a:spcPts val="900"/>
              </a:lnSpc>
              <a:buNone/>
            </a:pPr>
            <a:r>
              <a:rPr lang="en-US" sz="727" dirty="0">
                <a:solidFill>
                  <a:srgbClr val="94A3B8"/>
                </a:solidFill>
              </a:rPr>
              <a:t>Policies, procedures, and runbooks included.</a:t>
            </a:r>
            <a:endParaRPr lang="en-US" sz="727" dirty="0"/>
          </a:p>
        </p:txBody>
      </p:sp>
      <p:sp>
        <p:nvSpPr>
          <p:cNvPr id="27" name="Shape 20"/>
          <p:cNvSpPr/>
          <p:nvPr/>
        </p:nvSpPr>
        <p:spPr>
          <a:xfrm>
            <a:off x="571500" y="4424437"/>
            <a:ext cx="8001000" cy="480417"/>
          </a:xfrm>
          <a:prstGeom prst="rect">
            <a:avLst/>
          </a:prstGeom>
          <a:solidFill>
            <a:srgbClr val="38BDF8">
              <a:alpha val="10000"/>
            </a:srgbClr>
          </a:solidFill>
          <a:ln/>
        </p:spPr>
      </p:sp>
      <p:sp>
        <p:nvSpPr>
          <p:cNvPr id="28" name="Shape 21"/>
          <p:cNvSpPr/>
          <p:nvPr/>
        </p:nvSpPr>
        <p:spPr>
          <a:xfrm>
            <a:off x="571500" y="4424437"/>
            <a:ext cx="28575" cy="480417"/>
          </a:xfrm>
          <a:prstGeom prst="rect">
            <a:avLst/>
          </a:prstGeom>
          <a:solidFill>
            <a:srgbClr val="38BDF8"/>
          </a:solidFill>
          <a:ln/>
        </p:spPr>
      </p:sp>
      <p:pic>
        <p:nvPicPr>
          <p:cNvPr id="29" name="Image 4" descr="preencoded.png">    </p:cNvPr>
          <p:cNvPicPr>
            <a:picLocks noChangeAspect="1"/>
          </p:cNvPicPr>
          <p:nvPr/>
        </p:nvPicPr>
        <p:blipFill>
          <a:blip r:embed="rId5"/>
          <a:stretch>
            <a:fillRect/>
          </a:stretch>
        </p:blipFill>
        <p:spPr>
          <a:xfrm>
            <a:off x="714375" y="4578921"/>
            <a:ext cx="171450" cy="171450"/>
          </a:xfrm>
          <a:prstGeom prst="rect">
            <a:avLst/>
          </a:prstGeom>
        </p:spPr>
      </p:pic>
      <p:sp>
        <p:nvSpPr>
          <p:cNvPr id="30" name="Text 22"/>
          <p:cNvSpPr/>
          <p:nvPr/>
        </p:nvSpPr>
        <p:spPr>
          <a:xfrm>
            <a:off x="1028700" y="4567312"/>
            <a:ext cx="5574692" cy="194667"/>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FFFFFF"/>
                </a:solidFill>
              </a:rPr>
              <a:t>No ad hoc scrambling — Everything is documented, indexed, and ready.</a:t>
            </a:r>
            <a:endParaRPr lang="en-US" sz="1050" dirty="0"/>
          </a:p>
        </p:txBody>
      </p:sp>
      <p:sp>
        <p:nvSpPr>
          <p:cNvPr id="31" name="Text 23"/>
          <p:cNvSpPr/>
          <p:nvPr/>
        </p:nvSpPr>
        <p:spPr>
          <a:xfrm>
            <a:off x="571500" y="5033442"/>
            <a:ext cx="8001000" cy="135731"/>
          </a:xfrm>
          <a:prstGeom prst="rect">
            <a:avLst/>
          </a:prstGeom>
          <a:noFill/>
          <a:ln/>
        </p:spPr>
        <p:txBody>
          <a:bodyPr wrap="none" lIns="0" tIns="0" rIns="0" bIns="0" rtlCol="0" anchor="t">
            <a:spAutoFit/>
          </a:bodyPr>
          <a:lstStyle/>
          <a:p>
            <a:pPr algn="r" indent="0" marL="0">
              <a:lnSpc>
                <a:spcPts val="900"/>
              </a:lnSpc>
              <a:buNone/>
            </a:pPr>
            <a:r>
              <a:rPr lang="en-US" sz="727" dirty="0">
                <a:solidFill>
                  <a:srgbClr val="94A3B8">
                    <a:alpha val="60000"/>
                  </a:srgbClr>
                </a:solidFill>
              </a:rPr>
              <a:t>MACTECH TRUST CODEX // SLIDE 07</a:t>
            </a:r>
            <a:endParaRPr lang="en-US" sz="72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71500" y="428625"/>
            <a:ext cx="8001000" cy="1086520"/>
          </a:xfrm>
          <a:prstGeom prst="rect">
            <a:avLst/>
          </a:prstGeom>
          <a:solidFill>
            <a:srgbClr val="000000">
              <a:alpha val="0"/>
            </a:srgbClr>
          </a:solidFill>
          <a:ln/>
        </p:spPr>
      </p:sp>
      <p:sp>
        <p:nvSpPr>
          <p:cNvPr id="5" name="Shape 1"/>
          <p:cNvSpPr/>
          <p:nvPr/>
        </p:nvSpPr>
        <p:spPr>
          <a:xfrm>
            <a:off x="571500" y="1500857"/>
            <a:ext cx="8001000" cy="14288"/>
          </a:xfrm>
          <a:prstGeom prst="rect">
            <a:avLst/>
          </a:prstGeom>
          <a:solidFill>
            <a:srgbClr val="38BDF8"/>
          </a:solidFill>
          <a:ln/>
        </p:spPr>
      </p:sp>
      <p:sp>
        <p:nvSpPr>
          <p:cNvPr id="6" name="Text 2"/>
          <p:cNvSpPr/>
          <p:nvPr/>
        </p:nvSpPr>
        <p:spPr>
          <a:xfrm>
            <a:off x="571500" y="428625"/>
            <a:ext cx="8001000" cy="175022"/>
          </a:xfrm>
          <a:prstGeom prst="rect">
            <a:avLst/>
          </a:prstGeom>
          <a:noFill/>
          <a:ln/>
        </p:spPr>
        <p:txBody>
          <a:bodyPr wrap="none" lIns="0" tIns="0" rIns="0" bIns="0" rtlCol="0" anchor="t">
            <a:spAutoFit/>
          </a:bodyPr>
          <a:lstStyle/>
          <a:p>
            <a:pPr algn="l" indent="0" marL="0">
              <a:lnSpc>
                <a:spcPts val="1200"/>
              </a:lnSpc>
              <a:buNone/>
            </a:pPr>
            <a:r>
              <a:rPr lang="en-US" sz="942" spc="2" kern="0" dirty="0">
                <a:solidFill>
                  <a:srgbClr val="38BDF8"/>
                </a:solidFill>
              </a:rPr>
              <a:t>How We Make It Contained</a:t>
            </a:r>
            <a:endParaRPr lang="en-US" sz="942" dirty="0"/>
          </a:p>
        </p:txBody>
      </p:sp>
      <p:sp>
        <p:nvSpPr>
          <p:cNvPr id="7" name="Text 3"/>
          <p:cNvSpPr/>
          <p:nvPr/>
        </p:nvSpPr>
        <p:spPr>
          <a:xfrm>
            <a:off x="571500" y="675084"/>
            <a:ext cx="7143750"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rPr>
              <a:t>Hardened, Isolated, and Access-Controlled</a:t>
            </a:r>
            <a:endParaRPr lang="en-US" sz="2436" dirty="0"/>
          </a:p>
        </p:txBody>
      </p:sp>
      <p:sp>
        <p:nvSpPr>
          <p:cNvPr id="8" name="Shape 4"/>
          <p:cNvSpPr/>
          <p:nvPr/>
        </p:nvSpPr>
        <p:spPr>
          <a:xfrm>
            <a:off x="7858125" y="1472282"/>
            <a:ext cx="714375" cy="71438"/>
          </a:xfrm>
          <a:prstGeom prst="rect">
            <a:avLst/>
          </a:prstGeom>
          <a:solidFill>
            <a:srgbClr val="38BDF8"/>
          </a:solidFill>
          <a:ln/>
        </p:spPr>
      </p:sp>
      <p:sp>
        <p:nvSpPr>
          <p:cNvPr id="9" name="Shape 5"/>
          <p:cNvSpPr/>
          <p:nvPr/>
        </p:nvSpPr>
        <p:spPr>
          <a:xfrm>
            <a:off x="692944" y="1889187"/>
            <a:ext cx="285750" cy="285750"/>
          </a:xfrm>
          <a:prstGeom prst="rect">
            <a:avLst/>
          </a:prstGeom>
          <a:solidFill>
            <a:srgbClr val="0F2942">
              <a:alpha val="60000"/>
            </a:srgbClr>
          </a:solidFill>
          <a:ln w="9144">
            <a:solidFill>
              <a:srgbClr val="38BDF8"/>
            </a:solidFill>
            <a:prstDash val="solid"/>
          </a:ln>
        </p:spPr>
      </p:sp>
      <p:pic>
        <p:nvPicPr>
          <p:cNvPr id="10" name="Image 1" descr="preencoded.png">    </p:cNvPr>
          <p:cNvPicPr>
            <a:picLocks noChangeAspect="1"/>
          </p:cNvPicPr>
          <p:nvPr/>
        </p:nvPicPr>
        <p:blipFill>
          <a:blip r:embed="rId2"/>
          <a:stretch>
            <a:fillRect/>
          </a:stretch>
        </p:blipFill>
        <p:spPr>
          <a:xfrm>
            <a:off x="771525" y="1967768"/>
            <a:ext cx="128588" cy="128588"/>
          </a:xfrm>
          <a:prstGeom prst="rect">
            <a:avLst/>
          </a:prstGeom>
        </p:spPr>
      </p:pic>
      <p:sp>
        <p:nvSpPr>
          <p:cNvPr id="11" name="Text 6"/>
          <p:cNvSpPr/>
          <p:nvPr/>
        </p:nvSpPr>
        <p:spPr>
          <a:xfrm>
            <a:off x="1121569" y="1889187"/>
            <a:ext cx="2924389"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rPr>
              <a:t>Hardened VM</a:t>
            </a:r>
            <a:endParaRPr lang="en-US" sz="1090" dirty="0"/>
          </a:p>
        </p:txBody>
      </p:sp>
      <p:sp>
        <p:nvSpPr>
          <p:cNvPr id="12" name="Text 7"/>
          <p:cNvSpPr/>
          <p:nvPr/>
        </p:nvSpPr>
        <p:spPr>
          <a:xfrm>
            <a:off x="1121569" y="2139218"/>
            <a:ext cx="2924389"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94A3B8"/>
                </a:solidFill>
              </a:rPr>
              <a:t>Windows Server in Azure, hardened to NIST standards. A dedicated environment.</a:t>
            </a:r>
            <a:endParaRPr lang="en-US" sz="834" dirty="0"/>
          </a:p>
        </p:txBody>
      </p:sp>
      <p:sp>
        <p:nvSpPr>
          <p:cNvPr id="13" name="Shape 8"/>
          <p:cNvSpPr/>
          <p:nvPr/>
        </p:nvSpPr>
        <p:spPr>
          <a:xfrm>
            <a:off x="692944" y="2637830"/>
            <a:ext cx="285750" cy="285750"/>
          </a:xfrm>
          <a:prstGeom prst="rect">
            <a:avLst/>
          </a:prstGeom>
          <a:solidFill>
            <a:srgbClr val="0F2942">
              <a:alpha val="60000"/>
            </a:srgbClr>
          </a:solidFill>
          <a:ln w="9144">
            <a:solidFill>
              <a:srgbClr val="38BDF8"/>
            </a:solidFill>
            <a:prstDash val="solid"/>
          </a:ln>
        </p:spPr>
      </p:sp>
      <p:pic>
        <p:nvPicPr>
          <p:cNvPr id="14" name="Image 2" descr="preencoded.png">    </p:cNvPr>
          <p:cNvPicPr>
            <a:picLocks noChangeAspect="1"/>
          </p:cNvPicPr>
          <p:nvPr/>
        </p:nvPicPr>
        <p:blipFill>
          <a:blip r:embed="rId3"/>
          <a:stretch>
            <a:fillRect/>
          </a:stretch>
        </p:blipFill>
        <p:spPr>
          <a:xfrm>
            <a:off x="755452" y="2716411"/>
            <a:ext cx="160734" cy="128588"/>
          </a:xfrm>
          <a:prstGeom prst="rect">
            <a:avLst/>
          </a:prstGeom>
        </p:spPr>
      </p:pic>
      <p:sp>
        <p:nvSpPr>
          <p:cNvPr id="15" name="Text 9"/>
          <p:cNvSpPr/>
          <p:nvPr/>
        </p:nvSpPr>
        <p:spPr>
          <a:xfrm>
            <a:off x="1121569" y="2637830"/>
            <a:ext cx="2924389"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rPr>
              <a:t>No Public RDP</a:t>
            </a:r>
            <a:endParaRPr lang="en-US" sz="1090" dirty="0"/>
          </a:p>
        </p:txBody>
      </p:sp>
      <p:sp>
        <p:nvSpPr>
          <p:cNvPr id="16" name="Text 10"/>
          <p:cNvSpPr/>
          <p:nvPr/>
        </p:nvSpPr>
        <p:spPr>
          <a:xfrm>
            <a:off x="1121569" y="2887861"/>
            <a:ext cx="2924389"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94A3B8"/>
                </a:solidFill>
              </a:rPr>
              <a:t>Access only via VPN + RDP. No direct exposure to the public internet.</a:t>
            </a:r>
            <a:endParaRPr lang="en-US" sz="834" dirty="0"/>
          </a:p>
        </p:txBody>
      </p:sp>
      <p:sp>
        <p:nvSpPr>
          <p:cNvPr id="17" name="Shape 11"/>
          <p:cNvSpPr/>
          <p:nvPr/>
        </p:nvSpPr>
        <p:spPr>
          <a:xfrm>
            <a:off x="692944" y="3386472"/>
            <a:ext cx="285750" cy="285750"/>
          </a:xfrm>
          <a:prstGeom prst="rect">
            <a:avLst/>
          </a:prstGeom>
          <a:solidFill>
            <a:srgbClr val="0F2942">
              <a:alpha val="60000"/>
            </a:srgbClr>
          </a:solidFill>
          <a:ln w="9144">
            <a:solidFill>
              <a:srgbClr val="38BDF8"/>
            </a:solidFill>
            <a:prstDash val="solid"/>
          </a:ln>
        </p:spPr>
      </p:sp>
      <p:pic>
        <p:nvPicPr>
          <p:cNvPr id="18" name="Image 3" descr="preencoded.png">    </p:cNvPr>
          <p:cNvPicPr>
            <a:picLocks noChangeAspect="1"/>
          </p:cNvPicPr>
          <p:nvPr/>
        </p:nvPicPr>
        <p:blipFill>
          <a:blip r:embed="rId4"/>
          <a:stretch>
            <a:fillRect/>
          </a:stretch>
        </p:blipFill>
        <p:spPr>
          <a:xfrm>
            <a:off x="755452" y="3465054"/>
            <a:ext cx="160734" cy="128588"/>
          </a:xfrm>
          <a:prstGeom prst="rect">
            <a:avLst/>
          </a:prstGeom>
        </p:spPr>
      </p:pic>
      <p:sp>
        <p:nvSpPr>
          <p:cNvPr id="19" name="Text 12"/>
          <p:cNvSpPr/>
          <p:nvPr/>
        </p:nvSpPr>
        <p:spPr>
          <a:xfrm>
            <a:off x="1121569" y="3386472"/>
            <a:ext cx="2924389"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rPr>
              <a:t>Identity &amp; MFA</a:t>
            </a:r>
            <a:endParaRPr lang="en-US" sz="1090" dirty="0"/>
          </a:p>
        </p:txBody>
      </p:sp>
      <p:sp>
        <p:nvSpPr>
          <p:cNvPr id="20" name="Text 13"/>
          <p:cNvSpPr/>
          <p:nvPr/>
        </p:nvSpPr>
        <p:spPr>
          <a:xfrm>
            <a:off x="1121569" y="3636504"/>
            <a:ext cx="2924389"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94A3B8"/>
                </a:solidFill>
              </a:rPr>
              <a:t>Strict identity management (e.g., Entra ID) with enforced Multi-Factor Authentication.</a:t>
            </a:r>
            <a:endParaRPr lang="en-US" sz="834" dirty="0"/>
          </a:p>
        </p:txBody>
      </p:sp>
      <p:sp>
        <p:nvSpPr>
          <p:cNvPr id="21" name="Shape 14"/>
          <p:cNvSpPr/>
          <p:nvPr/>
        </p:nvSpPr>
        <p:spPr>
          <a:xfrm>
            <a:off x="692944" y="4135115"/>
            <a:ext cx="285750" cy="285750"/>
          </a:xfrm>
          <a:prstGeom prst="rect">
            <a:avLst/>
          </a:prstGeom>
          <a:solidFill>
            <a:srgbClr val="0F2942">
              <a:alpha val="60000"/>
            </a:srgbClr>
          </a:solidFill>
          <a:ln w="9144">
            <a:solidFill>
              <a:srgbClr val="FF6B6B"/>
            </a:solidFill>
            <a:prstDash val="solid"/>
          </a:ln>
        </p:spPr>
      </p:sp>
      <p:pic>
        <p:nvPicPr>
          <p:cNvPr id="22" name="Image 4" descr="preencoded.png">    </p:cNvPr>
          <p:cNvPicPr>
            <a:picLocks noChangeAspect="1"/>
          </p:cNvPicPr>
          <p:nvPr/>
        </p:nvPicPr>
        <p:blipFill>
          <a:blip r:embed="rId5"/>
          <a:stretch>
            <a:fillRect/>
          </a:stretch>
        </p:blipFill>
        <p:spPr>
          <a:xfrm>
            <a:off x="771525" y="4213696"/>
            <a:ext cx="128588" cy="128588"/>
          </a:xfrm>
          <a:prstGeom prst="rect">
            <a:avLst/>
          </a:prstGeom>
        </p:spPr>
      </p:pic>
      <p:sp>
        <p:nvSpPr>
          <p:cNvPr id="23" name="Text 15"/>
          <p:cNvSpPr/>
          <p:nvPr/>
        </p:nvSpPr>
        <p:spPr>
          <a:xfrm>
            <a:off x="1121569" y="4135115"/>
            <a:ext cx="2924389"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rPr>
              <a:t>Data Leak Prevention</a:t>
            </a:r>
            <a:endParaRPr lang="en-US" sz="1090" dirty="0"/>
          </a:p>
        </p:txBody>
      </p:sp>
      <p:sp>
        <p:nvSpPr>
          <p:cNvPr id="24" name="Text 16"/>
          <p:cNvSpPr/>
          <p:nvPr/>
        </p:nvSpPr>
        <p:spPr>
          <a:xfrm>
            <a:off x="1121569" y="4385146"/>
            <a:ext cx="2924389"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94A3B8"/>
                </a:solidFill>
              </a:rPr>
              <a:t>No USB redirection. No clipboard sharing. No removable media. CUI stays inside.</a:t>
            </a:r>
            <a:endParaRPr lang="en-US" sz="834" dirty="0"/>
          </a:p>
        </p:txBody>
      </p:sp>
      <p:sp>
        <p:nvSpPr>
          <p:cNvPr id="25" name="Shape 17"/>
          <p:cNvSpPr/>
          <p:nvPr/>
        </p:nvSpPr>
        <p:spPr>
          <a:xfrm>
            <a:off x="5130496" y="1939863"/>
            <a:ext cx="2714625" cy="2714625"/>
          </a:xfrm>
          <a:prstGeom prst="ellipse">
            <a:avLst/>
          </a:prstGeom>
          <a:solidFill>
            <a:srgbClr val="0F2942">
              <a:alpha val="40000"/>
            </a:srgbClr>
          </a:solidFill>
          <a:ln w="18288">
            <a:solidFill>
              <a:srgbClr val="38BDF8"/>
            </a:solidFill>
            <a:prstDash val="dash"/>
          </a:ln>
        </p:spPr>
      </p:sp>
      <p:sp>
        <p:nvSpPr>
          <p:cNvPr id="26" name="Shape 18"/>
          <p:cNvSpPr/>
          <p:nvPr/>
        </p:nvSpPr>
        <p:spPr>
          <a:xfrm>
            <a:off x="5923536" y="2082738"/>
            <a:ext cx="1128517" cy="144661"/>
          </a:xfrm>
          <a:prstGeom prst="rect">
            <a:avLst/>
          </a:prstGeom>
          <a:solidFill>
            <a:srgbClr val="0F2942"/>
          </a:solidFill>
          <a:ln/>
        </p:spPr>
      </p:sp>
      <p:sp>
        <p:nvSpPr>
          <p:cNvPr id="27" name="Text 19"/>
          <p:cNvSpPr/>
          <p:nvPr/>
        </p:nvSpPr>
        <p:spPr>
          <a:xfrm>
            <a:off x="5923536" y="2082738"/>
            <a:ext cx="1128517" cy="144661"/>
          </a:xfrm>
          <a:prstGeom prst="rect">
            <a:avLst/>
          </a:prstGeom>
          <a:noFill/>
          <a:ln/>
        </p:spPr>
        <p:txBody>
          <a:bodyPr wrap="none" lIns="68072" tIns="17018" rIns="68072" bIns="17018" rtlCol="0" anchor="t">
            <a:spAutoFit/>
          </a:bodyPr>
          <a:lstStyle/>
          <a:p>
            <a:pPr algn="l" indent="0" marL="0">
              <a:lnSpc>
                <a:spcPts val="800"/>
              </a:lnSpc>
              <a:buNone/>
            </a:pPr>
            <a:r>
              <a:rPr lang="en-US" sz="621" dirty="0">
                <a:solidFill>
                  <a:srgbClr val="38BDF8"/>
                </a:solidFill>
              </a:rPr>
              <a:t>VPN TUNNEL BOUNDARY</a:t>
            </a:r>
            <a:endParaRPr lang="en-US" sz="621" dirty="0"/>
          </a:p>
        </p:txBody>
      </p:sp>
      <p:sp>
        <p:nvSpPr>
          <p:cNvPr id="28" name="Shape 20"/>
          <p:cNvSpPr/>
          <p:nvPr/>
        </p:nvSpPr>
        <p:spPr>
          <a:xfrm>
            <a:off x="5487684" y="2297050"/>
            <a:ext cx="2000250" cy="2000250"/>
          </a:xfrm>
          <a:prstGeom prst="ellipse">
            <a:avLst/>
          </a:prstGeom>
          <a:solidFill>
            <a:srgbClr val="0F2942">
              <a:alpha val="60000"/>
            </a:srgbClr>
          </a:solidFill>
          <a:ln w="18288">
            <a:solidFill>
              <a:srgbClr val="38BDF8"/>
            </a:solidFill>
            <a:prstDash val="solid"/>
          </a:ln>
        </p:spPr>
      </p:sp>
      <p:sp>
        <p:nvSpPr>
          <p:cNvPr id="29" name="Shape 21"/>
          <p:cNvSpPr/>
          <p:nvPr/>
        </p:nvSpPr>
        <p:spPr>
          <a:xfrm>
            <a:off x="6141365" y="2404207"/>
            <a:ext cx="692860" cy="144661"/>
          </a:xfrm>
          <a:prstGeom prst="rect">
            <a:avLst/>
          </a:prstGeom>
          <a:solidFill>
            <a:srgbClr val="0F2942"/>
          </a:solidFill>
          <a:ln/>
        </p:spPr>
      </p:sp>
      <p:sp>
        <p:nvSpPr>
          <p:cNvPr id="30" name="Text 22"/>
          <p:cNvSpPr/>
          <p:nvPr/>
        </p:nvSpPr>
        <p:spPr>
          <a:xfrm>
            <a:off x="6141365" y="2404207"/>
            <a:ext cx="692860" cy="144661"/>
          </a:xfrm>
          <a:prstGeom prst="rect">
            <a:avLst/>
          </a:prstGeom>
          <a:noFill/>
          <a:ln/>
        </p:spPr>
        <p:txBody>
          <a:bodyPr wrap="none" lIns="68072" tIns="17018" rIns="68072" bIns="17018" rtlCol="0" anchor="t">
            <a:spAutoFit/>
          </a:bodyPr>
          <a:lstStyle/>
          <a:p>
            <a:pPr algn="l" indent="0" marL="0">
              <a:lnSpc>
                <a:spcPts val="800"/>
              </a:lnSpc>
              <a:buNone/>
            </a:pPr>
            <a:r>
              <a:rPr lang="en-US" sz="621" dirty="0">
                <a:solidFill>
                  <a:srgbClr val="38BDF8"/>
                </a:solidFill>
              </a:rPr>
              <a:t>MFA GATEWAY</a:t>
            </a:r>
            <a:endParaRPr lang="en-US" sz="621" dirty="0"/>
          </a:p>
        </p:txBody>
      </p:sp>
      <p:sp>
        <p:nvSpPr>
          <p:cNvPr id="31" name="Shape 23"/>
          <p:cNvSpPr/>
          <p:nvPr/>
        </p:nvSpPr>
        <p:spPr>
          <a:xfrm>
            <a:off x="5844871" y="2654238"/>
            <a:ext cx="1285875" cy="1285875"/>
          </a:xfrm>
          <a:prstGeom prst="ellipse">
            <a:avLst/>
          </a:prstGeom>
          <a:solidFill>
            <a:srgbClr val="38BDF8">
              <a:alpha val="10000"/>
            </a:srgbClr>
          </a:solidFill>
          <a:ln w="27432">
            <a:solidFill>
              <a:srgbClr val="38BDF8"/>
            </a:solidFill>
            <a:prstDash val="solid"/>
          </a:ln>
        </p:spPr>
      </p:sp>
      <p:pic>
        <p:nvPicPr>
          <p:cNvPr id="32" name="Image 5" descr="preencoded.png">    </p:cNvPr>
          <p:cNvPicPr>
            <a:picLocks noChangeAspect="1"/>
          </p:cNvPicPr>
          <p:nvPr/>
        </p:nvPicPr>
        <p:blipFill>
          <a:blip r:embed="rId6"/>
          <a:stretch>
            <a:fillRect/>
          </a:stretch>
        </p:blipFill>
        <p:spPr>
          <a:xfrm>
            <a:off x="6316359" y="3002496"/>
            <a:ext cx="342900" cy="342900"/>
          </a:xfrm>
          <a:prstGeom prst="rect">
            <a:avLst/>
          </a:prstGeom>
        </p:spPr>
      </p:pic>
      <p:sp>
        <p:nvSpPr>
          <p:cNvPr id="33" name="Text 24"/>
          <p:cNvSpPr/>
          <p:nvPr/>
        </p:nvSpPr>
        <p:spPr>
          <a:xfrm>
            <a:off x="6152052" y="3416833"/>
            <a:ext cx="671485"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CUI VAULT</a:t>
            </a:r>
            <a:endParaRPr lang="en-US" sz="885" dirty="0"/>
          </a:p>
        </p:txBody>
      </p:sp>
      <p:sp>
        <p:nvSpPr>
          <p:cNvPr id="34" name="Shape 25"/>
          <p:cNvSpPr/>
          <p:nvPr/>
        </p:nvSpPr>
        <p:spPr>
          <a:xfrm>
            <a:off x="7348379" y="2011300"/>
            <a:ext cx="214313" cy="214313"/>
          </a:xfrm>
          <a:prstGeom prst="ellipse">
            <a:avLst/>
          </a:prstGeom>
          <a:solidFill>
            <a:srgbClr val="FF6B6B"/>
          </a:solidFill>
          <a:ln/>
        </p:spPr>
      </p:sp>
      <p:pic>
        <p:nvPicPr>
          <p:cNvPr id="35" name="Image 6" descr="preencoded.png">    </p:cNvPr>
          <p:cNvPicPr>
            <a:picLocks noChangeAspect="1"/>
          </p:cNvPicPr>
          <p:nvPr/>
        </p:nvPicPr>
        <p:blipFill>
          <a:blip r:embed="rId7"/>
          <a:stretch>
            <a:fillRect/>
          </a:stretch>
        </p:blipFill>
        <p:spPr>
          <a:xfrm>
            <a:off x="7424282" y="2068450"/>
            <a:ext cx="62508" cy="100013"/>
          </a:xfrm>
          <a:prstGeom prst="rect">
            <a:avLst/>
          </a:prstGeom>
        </p:spPr>
      </p:pic>
      <p:sp>
        <p:nvSpPr>
          <p:cNvPr id="36" name="Shape 26"/>
          <p:cNvSpPr/>
          <p:nvPr/>
        </p:nvSpPr>
        <p:spPr>
          <a:xfrm>
            <a:off x="7634129" y="2046126"/>
            <a:ext cx="795496" cy="144661"/>
          </a:xfrm>
          <a:prstGeom prst="rect">
            <a:avLst/>
          </a:prstGeom>
          <a:solidFill>
            <a:srgbClr val="0F2942">
              <a:alpha val="80000"/>
            </a:srgbClr>
          </a:solidFill>
          <a:ln/>
        </p:spPr>
      </p:sp>
      <p:sp>
        <p:nvSpPr>
          <p:cNvPr id="37" name="Text 27"/>
          <p:cNvSpPr/>
          <p:nvPr/>
        </p:nvSpPr>
        <p:spPr>
          <a:xfrm>
            <a:off x="7634129" y="2046126"/>
            <a:ext cx="795496" cy="144661"/>
          </a:xfrm>
          <a:prstGeom prst="rect">
            <a:avLst/>
          </a:prstGeom>
          <a:noFill/>
          <a:ln/>
        </p:spPr>
        <p:txBody>
          <a:bodyPr wrap="none" lIns="42545" tIns="17018" rIns="42545" bIns="17018" rtlCol="0" anchor="t">
            <a:spAutoFit/>
          </a:bodyPr>
          <a:lstStyle/>
          <a:p>
            <a:pPr algn="l" indent="0" marL="0">
              <a:lnSpc>
                <a:spcPts val="800"/>
              </a:lnSpc>
              <a:buNone/>
            </a:pPr>
            <a:r>
              <a:rPr lang="en-US" sz="621" dirty="0">
                <a:solidFill>
                  <a:srgbClr val="FF6B6B"/>
                </a:solidFill>
              </a:rPr>
              <a:t>Public Internet</a:t>
            </a:r>
            <a:endParaRPr lang="en-US" sz="621" dirty="0"/>
          </a:p>
        </p:txBody>
      </p:sp>
      <p:sp>
        <p:nvSpPr>
          <p:cNvPr id="38" name="Shape 28"/>
          <p:cNvSpPr/>
          <p:nvPr/>
        </p:nvSpPr>
        <p:spPr>
          <a:xfrm>
            <a:off x="4403145" y="4260689"/>
            <a:ext cx="785031" cy="144661"/>
          </a:xfrm>
          <a:prstGeom prst="rect">
            <a:avLst/>
          </a:prstGeom>
          <a:solidFill>
            <a:srgbClr val="0F2942">
              <a:alpha val="80000"/>
            </a:srgbClr>
          </a:solidFill>
          <a:ln/>
        </p:spPr>
      </p:sp>
      <p:sp>
        <p:nvSpPr>
          <p:cNvPr id="39" name="Text 29"/>
          <p:cNvSpPr/>
          <p:nvPr/>
        </p:nvSpPr>
        <p:spPr>
          <a:xfrm>
            <a:off x="4403145" y="4260689"/>
            <a:ext cx="785031" cy="144661"/>
          </a:xfrm>
          <a:prstGeom prst="rect">
            <a:avLst/>
          </a:prstGeom>
          <a:noFill/>
          <a:ln/>
        </p:spPr>
        <p:txBody>
          <a:bodyPr wrap="none" lIns="42545" tIns="17018" rIns="42545" bIns="17018" rtlCol="0" anchor="t">
            <a:spAutoFit/>
          </a:bodyPr>
          <a:lstStyle/>
          <a:p>
            <a:pPr algn="l" indent="0" marL="0">
              <a:lnSpc>
                <a:spcPts val="800"/>
              </a:lnSpc>
              <a:buNone/>
            </a:pPr>
            <a:r>
              <a:rPr lang="en-US" sz="621" dirty="0">
                <a:solidFill>
                  <a:srgbClr val="FF6B6B"/>
                </a:solidFill>
              </a:rPr>
              <a:t>USB / Clipboard</a:t>
            </a:r>
            <a:endParaRPr lang="en-US" sz="621" dirty="0"/>
          </a:p>
        </p:txBody>
      </p:sp>
      <p:sp>
        <p:nvSpPr>
          <p:cNvPr id="40" name="Shape 30"/>
          <p:cNvSpPr/>
          <p:nvPr/>
        </p:nvSpPr>
        <p:spPr>
          <a:xfrm>
            <a:off x="5259614" y="4225863"/>
            <a:ext cx="214313" cy="214313"/>
          </a:xfrm>
          <a:prstGeom prst="ellipse">
            <a:avLst/>
          </a:prstGeom>
          <a:solidFill>
            <a:srgbClr val="FF6B6B"/>
          </a:solidFill>
          <a:ln/>
        </p:spPr>
      </p:sp>
      <p:pic>
        <p:nvPicPr>
          <p:cNvPr id="41" name="Image 7" descr="preencoded.png">    </p:cNvPr>
          <p:cNvPicPr>
            <a:picLocks noChangeAspect="1"/>
          </p:cNvPicPr>
          <p:nvPr/>
        </p:nvPicPr>
        <p:blipFill>
          <a:blip r:embed="rId8"/>
          <a:stretch>
            <a:fillRect/>
          </a:stretch>
        </p:blipFill>
        <p:spPr>
          <a:xfrm>
            <a:off x="5335516" y="4283013"/>
            <a:ext cx="62508" cy="100013"/>
          </a:xfrm>
          <a:prstGeom prst="rect">
            <a:avLst/>
          </a:prstGeom>
        </p:spPr>
      </p:pic>
      <p:sp>
        <p:nvSpPr>
          <p:cNvPr id="42" name="Text 31"/>
          <p:cNvSpPr/>
          <p:nvPr/>
        </p:nvSpPr>
        <p:spPr>
          <a:xfrm>
            <a:off x="571500" y="4936331"/>
            <a:ext cx="8001000" cy="135731"/>
          </a:xfrm>
          <a:prstGeom prst="rect">
            <a:avLst/>
          </a:prstGeom>
          <a:noFill/>
          <a:ln/>
        </p:spPr>
        <p:txBody>
          <a:bodyPr wrap="none" lIns="0" tIns="0" rIns="0" bIns="0" rtlCol="0" anchor="t">
            <a:spAutoFit/>
          </a:bodyPr>
          <a:lstStyle/>
          <a:p>
            <a:pPr algn="r" indent="0" marL="0">
              <a:lnSpc>
                <a:spcPts val="900"/>
              </a:lnSpc>
              <a:buNone/>
            </a:pPr>
            <a:r>
              <a:rPr lang="en-US" sz="727" dirty="0">
                <a:solidFill>
                  <a:srgbClr val="94A3B8">
                    <a:alpha val="60000"/>
                  </a:srgbClr>
                </a:solidFill>
              </a:rPr>
              <a:t>MACTECH TRUST CODEX // SLIDE 08</a:t>
            </a:r>
            <a:endParaRPr lang="en-US" sz="72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71500" y="428625"/>
            <a:ext cx="8001000" cy="709352"/>
          </a:xfrm>
          <a:prstGeom prst="rect">
            <a:avLst/>
          </a:prstGeom>
          <a:solidFill>
            <a:srgbClr val="000000">
              <a:alpha val="0"/>
            </a:srgbClr>
          </a:solidFill>
          <a:ln/>
        </p:spPr>
      </p:sp>
      <p:sp>
        <p:nvSpPr>
          <p:cNvPr id="5" name="Shape 1"/>
          <p:cNvSpPr/>
          <p:nvPr/>
        </p:nvSpPr>
        <p:spPr>
          <a:xfrm>
            <a:off x="571500" y="1123690"/>
            <a:ext cx="8001000" cy="14288"/>
          </a:xfrm>
          <a:prstGeom prst="rect">
            <a:avLst/>
          </a:prstGeom>
          <a:solidFill>
            <a:srgbClr val="38BDF8"/>
          </a:solidFill>
          <a:ln/>
        </p:spPr>
      </p:sp>
      <p:sp>
        <p:nvSpPr>
          <p:cNvPr id="6" name="Text 2"/>
          <p:cNvSpPr/>
          <p:nvPr/>
        </p:nvSpPr>
        <p:spPr>
          <a:xfrm>
            <a:off x="571500" y="428625"/>
            <a:ext cx="8001000" cy="175022"/>
          </a:xfrm>
          <a:prstGeom prst="rect">
            <a:avLst/>
          </a:prstGeom>
          <a:noFill/>
          <a:ln/>
        </p:spPr>
        <p:txBody>
          <a:bodyPr wrap="none" lIns="0" tIns="0" rIns="0" bIns="0" rtlCol="0" anchor="t">
            <a:spAutoFit/>
          </a:bodyPr>
          <a:lstStyle/>
          <a:p>
            <a:pPr algn="l" indent="0" marL="0">
              <a:lnSpc>
                <a:spcPts val="1200"/>
              </a:lnSpc>
              <a:buNone/>
            </a:pPr>
            <a:r>
              <a:rPr lang="en-US" sz="942" spc="2" kern="0" dirty="0">
                <a:solidFill>
                  <a:srgbClr val="38BDF8"/>
                </a:solidFill>
              </a:rPr>
              <a:t>How We Make It Delivered Seamlessly</a:t>
            </a:r>
            <a:endParaRPr lang="en-US" sz="942" dirty="0"/>
          </a:p>
        </p:txBody>
      </p:sp>
      <p:sp>
        <p:nvSpPr>
          <p:cNvPr id="7" name="Text 3"/>
          <p:cNvSpPr/>
          <p:nvPr/>
        </p:nvSpPr>
        <p:spPr>
          <a:xfrm>
            <a:off x="571500" y="675084"/>
            <a:ext cx="7143750" cy="377168"/>
          </a:xfrm>
          <a:prstGeom prst="rect">
            <a:avLst/>
          </a:prstGeom>
          <a:noFill/>
          <a:ln/>
        </p:spPr>
        <p:txBody>
          <a:bodyPr wrap="none" lIns="0" tIns="0" rIns="0" bIns="0" rtlCol="0" anchor="t">
            <a:spAutoFit/>
          </a:bodyPr>
          <a:lstStyle/>
          <a:p>
            <a:pPr algn="l" indent="0" marL="0">
              <a:lnSpc>
                <a:spcPts val="3000"/>
              </a:lnSpc>
              <a:buNone/>
            </a:pPr>
            <a:r>
              <a:rPr lang="en-US" sz="2436" b="1" dirty="0">
                <a:solidFill>
                  <a:srgbClr val="FFFFFF"/>
                </a:solidFill>
              </a:rPr>
              <a:t>Turnkey CUI Enclave + Playbook</a:t>
            </a:r>
            <a:endParaRPr lang="en-US" sz="2436" dirty="0"/>
          </a:p>
        </p:txBody>
      </p:sp>
      <p:sp>
        <p:nvSpPr>
          <p:cNvPr id="8" name="Shape 4"/>
          <p:cNvSpPr/>
          <p:nvPr/>
        </p:nvSpPr>
        <p:spPr>
          <a:xfrm>
            <a:off x="7858125" y="1095115"/>
            <a:ext cx="714375" cy="71438"/>
          </a:xfrm>
          <a:prstGeom prst="rect">
            <a:avLst/>
          </a:prstGeom>
          <a:solidFill>
            <a:srgbClr val="38BDF8"/>
          </a:solidFill>
          <a:ln/>
        </p:spPr>
      </p:sp>
      <p:sp>
        <p:nvSpPr>
          <p:cNvPr id="9" name="Text 5"/>
          <p:cNvSpPr/>
          <p:nvPr/>
        </p:nvSpPr>
        <p:spPr>
          <a:xfrm>
            <a:off x="778669" y="1676660"/>
            <a:ext cx="3436144" cy="546497"/>
          </a:xfrm>
          <a:prstGeom prst="rect">
            <a:avLst/>
          </a:prstGeom>
          <a:noFill/>
          <a:ln/>
        </p:spPr>
        <p:txBody>
          <a:bodyPr wrap="square" lIns="0" tIns="0" rIns="0" bIns="0" rtlCol="0" anchor="t">
            <a:spAutoFit/>
          </a:bodyPr>
          <a:lstStyle/>
          <a:p>
            <a:pPr algn="l" indent="0" marL="0">
              <a:lnSpc>
                <a:spcPts val="1900"/>
              </a:lnSpc>
              <a:buNone/>
            </a:pPr>
            <a:r>
              <a:rPr lang="en-US" sz="1397" b="1" dirty="0">
                <a:solidFill>
                  <a:srgbClr val="FFFFFF"/>
                </a:solidFill>
              </a:rPr>
              <a:t>We Deliver the Complete System</a:t>
            </a:r>
            <a:endParaRPr lang="en-US" sz="1397" dirty="0"/>
          </a:p>
        </p:txBody>
      </p:sp>
      <p:sp>
        <p:nvSpPr>
          <p:cNvPr id="10" name="Text 6"/>
          <p:cNvSpPr/>
          <p:nvPr/>
        </p:nvSpPr>
        <p:spPr>
          <a:xfrm>
            <a:off x="778669" y="2330314"/>
            <a:ext cx="3436144"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E2E8F0"/>
                </a:solidFill>
              </a:rPr>
              <a:t>MacTech delivers the </a:t>
            </a:r>
            <a:pPr algn="l" indent="0" marL="0">
              <a:lnSpc>
                <a:spcPts val="1600"/>
              </a:lnSpc>
              <a:buNone/>
            </a:pPr>
            <a:r>
              <a:rPr lang="en-US" sz="885" b="1" dirty="0">
                <a:solidFill>
                  <a:srgbClr val="38BDF8"/>
                </a:solidFill>
              </a:rPr>
              <a:t>Trust Codex + VM deployment</a:t>
            </a:r>
            <a:pPr algn="l" indent="0" marL="0">
              <a:lnSpc>
                <a:spcPts val="1600"/>
              </a:lnSpc>
              <a:buNone/>
            </a:pPr>
            <a:r>
              <a:rPr lang="en-US" sz="942" dirty="0">
                <a:solidFill>
                  <a:srgbClr val="E2E8F0"/>
                </a:solidFill>
              </a:rPr>
              <a:t>. </a:t>
            </a:r>
            <a:pPr algn="l" indent="0" marL="0">
              <a:lnSpc>
                <a:spcPts val="1600"/>
              </a:lnSpc>
              <a:buNone/>
            </a:pPr>
            <a:r>
              <a:rPr lang="en-US" sz="942" dirty="0">
                <a:solidFill>
                  <a:srgbClr val="E2E8F0"/>
                </a:solidFill>
              </a:rPr>
              <a:t>You don't build from zero; you step into a structure </a:t>
            </a:r>
            <a:pPr algn="l" indent="0" marL="0">
              <a:lnSpc>
                <a:spcPts val="1600"/>
              </a:lnSpc>
              <a:buNone/>
            </a:pPr>
            <a:r>
              <a:rPr lang="en-US" sz="942" dirty="0">
                <a:solidFill>
                  <a:srgbClr val="E2E8F0"/>
                </a:solidFill>
              </a:rPr>
              <a:t>that's already built for the 110 controls.</a:t>
            </a:r>
            <a:endParaRPr lang="en-US" sz="942" dirty="0"/>
          </a:p>
        </p:txBody>
      </p:sp>
      <p:pic>
        <p:nvPicPr>
          <p:cNvPr id="11" name="Image 1" descr="preencoded.png">    </p:cNvPr>
          <p:cNvPicPr>
            <a:picLocks noChangeAspect="1"/>
          </p:cNvPicPr>
          <p:nvPr/>
        </p:nvPicPr>
        <p:blipFill>
          <a:blip r:embed="rId2"/>
          <a:stretch>
            <a:fillRect/>
          </a:stretch>
        </p:blipFill>
        <p:spPr>
          <a:xfrm>
            <a:off x="571500" y="3427884"/>
            <a:ext cx="125016" cy="142875"/>
          </a:xfrm>
          <a:prstGeom prst="rect">
            <a:avLst/>
          </a:prstGeom>
        </p:spPr>
      </p:pic>
      <p:sp>
        <p:nvSpPr>
          <p:cNvPr id="12" name="Text 7"/>
          <p:cNvSpPr/>
          <p:nvPr/>
        </p:nvSpPr>
        <p:spPr>
          <a:xfrm>
            <a:off x="803672" y="3411810"/>
            <a:ext cx="1538446" cy="175022"/>
          </a:xfrm>
          <a:prstGeom prst="rect">
            <a:avLst/>
          </a:prstGeom>
          <a:noFill/>
          <a:ln/>
        </p:spPr>
        <p:txBody>
          <a:bodyPr wrap="none" lIns="0" tIns="0" rIns="0" bIns="0" rtlCol="0" anchor="t">
            <a:spAutoFit/>
          </a:bodyPr>
          <a:lstStyle/>
          <a:p>
            <a:pPr algn="l" indent="0" marL="0">
              <a:lnSpc>
                <a:spcPts val="1200"/>
              </a:lnSpc>
              <a:buNone/>
            </a:pPr>
            <a:r>
              <a:rPr lang="en-US" sz="942" dirty="0">
                <a:solidFill>
                  <a:srgbClr val="94A3B8"/>
                </a:solidFill>
              </a:rPr>
              <a:t>Architecture &amp; Hardening</a:t>
            </a:r>
            <a:endParaRPr lang="en-US" sz="942" dirty="0"/>
          </a:p>
        </p:txBody>
      </p:sp>
      <p:pic>
        <p:nvPicPr>
          <p:cNvPr id="13" name="Image 2" descr="preencoded.png">    </p:cNvPr>
          <p:cNvPicPr>
            <a:picLocks noChangeAspect="1"/>
          </p:cNvPicPr>
          <p:nvPr/>
        </p:nvPicPr>
        <p:blipFill>
          <a:blip r:embed="rId3"/>
          <a:stretch>
            <a:fillRect/>
          </a:stretch>
        </p:blipFill>
        <p:spPr>
          <a:xfrm>
            <a:off x="571500" y="3710062"/>
            <a:ext cx="125016" cy="142875"/>
          </a:xfrm>
          <a:prstGeom prst="rect">
            <a:avLst/>
          </a:prstGeom>
        </p:spPr>
      </p:pic>
      <p:sp>
        <p:nvSpPr>
          <p:cNvPr id="14" name="Text 8"/>
          <p:cNvSpPr/>
          <p:nvPr/>
        </p:nvSpPr>
        <p:spPr>
          <a:xfrm>
            <a:off x="803672" y="3693988"/>
            <a:ext cx="1185835" cy="175022"/>
          </a:xfrm>
          <a:prstGeom prst="rect">
            <a:avLst/>
          </a:prstGeom>
          <a:noFill/>
          <a:ln/>
        </p:spPr>
        <p:txBody>
          <a:bodyPr wrap="none" lIns="0" tIns="0" rIns="0" bIns="0" rtlCol="0" anchor="t">
            <a:spAutoFit/>
          </a:bodyPr>
          <a:lstStyle/>
          <a:p>
            <a:pPr algn="l" indent="0" marL="0">
              <a:lnSpc>
                <a:spcPts val="1200"/>
              </a:lnSpc>
              <a:buNone/>
            </a:pPr>
            <a:r>
              <a:rPr lang="en-US" sz="942" dirty="0">
                <a:solidFill>
                  <a:srgbClr val="94A3B8"/>
                </a:solidFill>
              </a:rPr>
              <a:t>Governance Bundle</a:t>
            </a:r>
            <a:endParaRPr lang="en-US" sz="942" dirty="0"/>
          </a:p>
        </p:txBody>
      </p:sp>
      <p:pic>
        <p:nvPicPr>
          <p:cNvPr id="15" name="Image 3" descr="preencoded.png">    </p:cNvPr>
          <p:cNvPicPr>
            <a:picLocks noChangeAspect="1"/>
          </p:cNvPicPr>
          <p:nvPr/>
        </p:nvPicPr>
        <p:blipFill>
          <a:blip r:embed="rId4"/>
          <a:stretch>
            <a:fillRect/>
          </a:stretch>
        </p:blipFill>
        <p:spPr>
          <a:xfrm>
            <a:off x="571500" y="3992240"/>
            <a:ext cx="125016" cy="142875"/>
          </a:xfrm>
          <a:prstGeom prst="rect">
            <a:avLst/>
          </a:prstGeom>
        </p:spPr>
      </p:pic>
      <p:sp>
        <p:nvSpPr>
          <p:cNvPr id="16" name="Text 9"/>
          <p:cNvSpPr/>
          <p:nvPr/>
        </p:nvSpPr>
        <p:spPr>
          <a:xfrm>
            <a:off x="803672" y="3976167"/>
            <a:ext cx="908875" cy="175022"/>
          </a:xfrm>
          <a:prstGeom prst="rect">
            <a:avLst/>
          </a:prstGeom>
          <a:noFill/>
          <a:ln/>
        </p:spPr>
        <p:txBody>
          <a:bodyPr wrap="none" lIns="0" tIns="0" rIns="0" bIns="0" rtlCol="0" anchor="t">
            <a:spAutoFit/>
          </a:bodyPr>
          <a:lstStyle/>
          <a:p>
            <a:pPr algn="l" indent="0" marL="0">
              <a:lnSpc>
                <a:spcPts val="1200"/>
              </a:lnSpc>
              <a:buNone/>
            </a:pPr>
            <a:r>
              <a:rPr lang="en-US" sz="942" dirty="0">
                <a:solidFill>
                  <a:srgbClr val="94A3B8"/>
                </a:solidFill>
              </a:rPr>
              <a:t>Evidence Index</a:t>
            </a:r>
            <a:endParaRPr lang="en-US" sz="942" dirty="0"/>
          </a:p>
        </p:txBody>
      </p:sp>
      <p:pic>
        <p:nvPicPr>
          <p:cNvPr id="17" name="Image 4" descr="preencoded.png">    </p:cNvPr>
          <p:cNvPicPr>
            <a:picLocks noChangeAspect="1"/>
          </p:cNvPicPr>
          <p:nvPr/>
        </p:nvPicPr>
        <p:blipFill>
          <a:blip r:embed="rId5"/>
          <a:stretch>
            <a:fillRect/>
          </a:stretch>
        </p:blipFill>
        <p:spPr>
          <a:xfrm>
            <a:off x="571500" y="4274418"/>
            <a:ext cx="125016" cy="142875"/>
          </a:xfrm>
          <a:prstGeom prst="rect">
            <a:avLst/>
          </a:prstGeom>
        </p:spPr>
      </p:pic>
      <p:sp>
        <p:nvSpPr>
          <p:cNvPr id="18" name="Text 10"/>
          <p:cNvSpPr/>
          <p:nvPr/>
        </p:nvSpPr>
        <p:spPr>
          <a:xfrm>
            <a:off x="803672" y="4258345"/>
            <a:ext cx="1154218" cy="175022"/>
          </a:xfrm>
          <a:prstGeom prst="rect">
            <a:avLst/>
          </a:prstGeom>
          <a:noFill/>
          <a:ln/>
        </p:spPr>
        <p:txBody>
          <a:bodyPr wrap="none" lIns="0" tIns="0" rIns="0" bIns="0" rtlCol="0" anchor="t">
            <a:spAutoFit/>
          </a:bodyPr>
          <a:lstStyle/>
          <a:p>
            <a:pPr algn="l" indent="0" marL="0">
              <a:lnSpc>
                <a:spcPts val="1200"/>
              </a:lnSpc>
              <a:buNone/>
            </a:pPr>
            <a:r>
              <a:rPr lang="en-US" sz="942" dirty="0">
                <a:solidFill>
                  <a:srgbClr val="94A3B8"/>
                </a:solidFill>
              </a:rPr>
              <a:t>Automation Scripts</a:t>
            </a:r>
            <a:endParaRPr lang="en-US" sz="942" dirty="0"/>
          </a:p>
        </p:txBody>
      </p:sp>
      <p:sp>
        <p:nvSpPr>
          <p:cNvPr id="19" name="Shape 11"/>
          <p:cNvSpPr/>
          <p:nvPr/>
        </p:nvSpPr>
        <p:spPr>
          <a:xfrm>
            <a:off x="5179219" y="1733420"/>
            <a:ext cx="2857500" cy="607219"/>
          </a:xfrm>
          <a:prstGeom prst="rect">
            <a:avLst/>
          </a:prstGeom>
          <a:solidFill>
            <a:srgbClr val="0F2942">
              <a:alpha val="80000"/>
            </a:srgbClr>
          </a:solidFill>
          <a:ln w="18288">
            <a:solidFill>
              <a:srgbClr val="FFFFFF"/>
            </a:solidFill>
            <a:prstDash val="solid"/>
          </a:ln>
        </p:spPr>
      </p:sp>
      <p:sp>
        <p:nvSpPr>
          <p:cNvPr id="20" name="Shape 12"/>
          <p:cNvSpPr/>
          <p:nvPr/>
        </p:nvSpPr>
        <p:spPr>
          <a:xfrm>
            <a:off x="5322094" y="1858435"/>
            <a:ext cx="357188" cy="357188"/>
          </a:xfrm>
          <a:prstGeom prst="rect">
            <a:avLst/>
          </a:prstGeom>
          <a:solidFill>
            <a:srgbClr val="38BDF8">
              <a:alpha val="10000"/>
            </a:srgbClr>
          </a:solidFill>
          <a:ln w="9144">
            <a:solidFill>
              <a:srgbClr val="38BDF8"/>
            </a:solidFill>
            <a:prstDash val="solid"/>
          </a:ln>
        </p:spPr>
      </p:sp>
      <p:pic>
        <p:nvPicPr>
          <p:cNvPr id="21" name="Image 5" descr="preencoded.png">    </p:cNvPr>
          <p:cNvPicPr>
            <a:picLocks noChangeAspect="1"/>
          </p:cNvPicPr>
          <p:nvPr/>
        </p:nvPicPr>
        <p:blipFill>
          <a:blip r:embed="rId6"/>
          <a:stretch>
            <a:fillRect/>
          </a:stretch>
        </p:blipFill>
        <p:spPr>
          <a:xfrm>
            <a:off x="5393531" y="1951304"/>
            <a:ext cx="214313" cy="171450"/>
          </a:xfrm>
          <a:prstGeom prst="rect">
            <a:avLst/>
          </a:prstGeom>
        </p:spPr>
      </p:pic>
      <p:sp>
        <p:nvSpPr>
          <p:cNvPr id="22" name="Text 13"/>
          <p:cNvSpPr/>
          <p:nvPr/>
        </p:nvSpPr>
        <p:spPr>
          <a:xfrm>
            <a:off x="5822156" y="1854864"/>
            <a:ext cx="1840632"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Automation</a:t>
            </a:r>
            <a:endParaRPr lang="en-US" sz="987" dirty="0"/>
          </a:p>
        </p:txBody>
      </p:sp>
      <p:sp>
        <p:nvSpPr>
          <p:cNvPr id="23" name="Text 14"/>
          <p:cNvSpPr/>
          <p:nvPr/>
        </p:nvSpPr>
        <p:spPr>
          <a:xfrm>
            <a:off x="5822156" y="2079892"/>
            <a:ext cx="1840632"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94A3B8"/>
                </a:solidFill>
              </a:rPr>
              <a:t>Evidence Collection &amp; Validation Scripts</a:t>
            </a:r>
            <a:endParaRPr lang="en-US" sz="727" dirty="0"/>
          </a:p>
        </p:txBody>
      </p:sp>
      <p:sp>
        <p:nvSpPr>
          <p:cNvPr id="24" name="Shape 15"/>
          <p:cNvSpPr/>
          <p:nvPr/>
        </p:nvSpPr>
        <p:spPr>
          <a:xfrm>
            <a:off x="5322094" y="2433507"/>
            <a:ext cx="2714625" cy="607219"/>
          </a:xfrm>
          <a:prstGeom prst="rect">
            <a:avLst/>
          </a:prstGeom>
          <a:solidFill>
            <a:srgbClr val="0F2942">
              <a:alpha val="80000"/>
            </a:srgbClr>
          </a:solidFill>
          <a:ln w="18288">
            <a:solidFill>
              <a:srgbClr val="38BDF8"/>
            </a:solidFill>
            <a:prstDash val="solid"/>
          </a:ln>
        </p:spPr>
      </p:sp>
      <p:sp>
        <p:nvSpPr>
          <p:cNvPr id="25" name="Shape 16"/>
          <p:cNvSpPr/>
          <p:nvPr/>
        </p:nvSpPr>
        <p:spPr>
          <a:xfrm>
            <a:off x="5464969" y="2558523"/>
            <a:ext cx="357188" cy="357188"/>
          </a:xfrm>
          <a:prstGeom prst="rect">
            <a:avLst/>
          </a:prstGeom>
          <a:solidFill>
            <a:srgbClr val="38BDF8">
              <a:alpha val="10000"/>
            </a:srgbClr>
          </a:solidFill>
          <a:ln w="9144">
            <a:solidFill>
              <a:srgbClr val="38BDF8"/>
            </a:solidFill>
            <a:prstDash val="solid"/>
          </a:ln>
        </p:spPr>
      </p:sp>
      <p:pic>
        <p:nvPicPr>
          <p:cNvPr id="26" name="Image 6" descr="preencoded.png">    </p:cNvPr>
          <p:cNvPicPr>
            <a:picLocks noChangeAspect="1"/>
          </p:cNvPicPr>
          <p:nvPr/>
        </p:nvPicPr>
        <p:blipFill>
          <a:blip r:embed="rId7"/>
          <a:stretch>
            <a:fillRect/>
          </a:stretch>
        </p:blipFill>
        <p:spPr>
          <a:xfrm>
            <a:off x="5579269" y="2651392"/>
            <a:ext cx="128588" cy="171450"/>
          </a:xfrm>
          <a:prstGeom prst="rect">
            <a:avLst/>
          </a:prstGeom>
        </p:spPr>
      </p:pic>
      <p:sp>
        <p:nvSpPr>
          <p:cNvPr id="27" name="Text 17"/>
          <p:cNvSpPr/>
          <p:nvPr/>
        </p:nvSpPr>
        <p:spPr>
          <a:xfrm>
            <a:off x="5965031" y="2554951"/>
            <a:ext cx="1608655"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Governance Bundle</a:t>
            </a:r>
            <a:endParaRPr lang="en-US" sz="987" dirty="0"/>
          </a:p>
        </p:txBody>
      </p:sp>
      <p:sp>
        <p:nvSpPr>
          <p:cNvPr id="28" name="Text 18"/>
          <p:cNvSpPr/>
          <p:nvPr/>
        </p:nvSpPr>
        <p:spPr>
          <a:xfrm>
            <a:off x="5965031" y="2779979"/>
            <a:ext cx="1470385"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94A3B8"/>
                </a:solidFill>
              </a:rPr>
              <a:t>Policies, Procedures, Templates</a:t>
            </a:r>
            <a:endParaRPr lang="en-US" sz="727" dirty="0"/>
          </a:p>
        </p:txBody>
      </p:sp>
      <p:sp>
        <p:nvSpPr>
          <p:cNvPr id="29" name="Shape 19"/>
          <p:cNvSpPr/>
          <p:nvPr/>
        </p:nvSpPr>
        <p:spPr>
          <a:xfrm>
            <a:off x="5464969" y="3133595"/>
            <a:ext cx="2571750" cy="607219"/>
          </a:xfrm>
          <a:prstGeom prst="rect">
            <a:avLst/>
          </a:prstGeom>
          <a:solidFill>
            <a:srgbClr val="0F2942">
              <a:alpha val="80000"/>
            </a:srgbClr>
          </a:solidFill>
          <a:ln w="18288">
            <a:solidFill>
              <a:srgbClr val="38BDF8"/>
            </a:solidFill>
            <a:prstDash val="solid"/>
          </a:ln>
        </p:spPr>
      </p:sp>
      <p:sp>
        <p:nvSpPr>
          <p:cNvPr id="30" name="Shape 20"/>
          <p:cNvSpPr/>
          <p:nvPr/>
        </p:nvSpPr>
        <p:spPr>
          <a:xfrm>
            <a:off x="5607844" y="3258610"/>
            <a:ext cx="357188" cy="357188"/>
          </a:xfrm>
          <a:prstGeom prst="rect">
            <a:avLst/>
          </a:prstGeom>
          <a:solidFill>
            <a:srgbClr val="38BDF8">
              <a:alpha val="10000"/>
            </a:srgbClr>
          </a:solidFill>
          <a:ln w="9144">
            <a:solidFill>
              <a:srgbClr val="38BDF8"/>
            </a:solidFill>
            <a:prstDash val="solid"/>
          </a:ln>
        </p:spPr>
      </p:sp>
      <p:pic>
        <p:nvPicPr>
          <p:cNvPr id="31" name="Image 7" descr="preencoded.png">    </p:cNvPr>
          <p:cNvPicPr>
            <a:picLocks noChangeAspect="1"/>
          </p:cNvPicPr>
          <p:nvPr/>
        </p:nvPicPr>
        <p:blipFill>
          <a:blip r:embed="rId8"/>
          <a:stretch>
            <a:fillRect/>
          </a:stretch>
        </p:blipFill>
        <p:spPr>
          <a:xfrm>
            <a:off x="5711428" y="3351479"/>
            <a:ext cx="150019" cy="171450"/>
          </a:xfrm>
          <a:prstGeom prst="rect">
            <a:avLst/>
          </a:prstGeom>
        </p:spPr>
      </p:pic>
      <p:sp>
        <p:nvSpPr>
          <p:cNvPr id="32" name="Text 21"/>
          <p:cNvSpPr/>
          <p:nvPr/>
        </p:nvSpPr>
        <p:spPr>
          <a:xfrm>
            <a:off x="6107906" y="3255039"/>
            <a:ext cx="1384297"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Trust Codex</a:t>
            </a:r>
            <a:endParaRPr lang="en-US" sz="987" dirty="0"/>
          </a:p>
        </p:txBody>
      </p:sp>
      <p:sp>
        <p:nvSpPr>
          <p:cNvPr id="33" name="Text 22"/>
          <p:cNvSpPr/>
          <p:nvPr/>
        </p:nvSpPr>
        <p:spPr>
          <a:xfrm>
            <a:off x="6107906" y="3480067"/>
            <a:ext cx="1384297"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94A3B8"/>
                </a:solidFill>
              </a:rPr>
              <a:t>The Manual &amp; Evidence Index</a:t>
            </a:r>
            <a:endParaRPr lang="en-US" sz="727" dirty="0"/>
          </a:p>
        </p:txBody>
      </p:sp>
      <p:sp>
        <p:nvSpPr>
          <p:cNvPr id="34" name="Shape 23"/>
          <p:cNvSpPr/>
          <p:nvPr/>
        </p:nvSpPr>
        <p:spPr>
          <a:xfrm>
            <a:off x="5607844" y="3833682"/>
            <a:ext cx="2428875" cy="607219"/>
          </a:xfrm>
          <a:prstGeom prst="rect">
            <a:avLst/>
          </a:prstGeom>
          <a:solidFill>
            <a:srgbClr val="38BDF8">
              <a:alpha val="10000"/>
            </a:srgbClr>
          </a:solidFill>
          <a:ln w="18288">
            <a:solidFill>
              <a:srgbClr val="38BDF8"/>
            </a:solidFill>
            <a:prstDash val="solid"/>
          </a:ln>
        </p:spPr>
      </p:sp>
      <p:sp>
        <p:nvSpPr>
          <p:cNvPr id="35" name="Shape 24"/>
          <p:cNvSpPr/>
          <p:nvPr/>
        </p:nvSpPr>
        <p:spPr>
          <a:xfrm>
            <a:off x="5750719" y="3958698"/>
            <a:ext cx="357188" cy="357188"/>
          </a:xfrm>
          <a:prstGeom prst="rect">
            <a:avLst/>
          </a:prstGeom>
          <a:solidFill>
            <a:srgbClr val="38BDF8">
              <a:alpha val="10000"/>
            </a:srgbClr>
          </a:solidFill>
          <a:ln w="9144">
            <a:solidFill>
              <a:srgbClr val="38BDF8"/>
            </a:solidFill>
            <a:prstDash val="solid"/>
          </a:ln>
        </p:spPr>
      </p:sp>
      <p:pic>
        <p:nvPicPr>
          <p:cNvPr id="36" name="Image 8" descr="preencoded.png">    </p:cNvPr>
          <p:cNvPicPr>
            <a:picLocks noChangeAspect="1"/>
          </p:cNvPicPr>
          <p:nvPr/>
        </p:nvPicPr>
        <p:blipFill>
          <a:blip r:embed="rId9"/>
          <a:stretch>
            <a:fillRect/>
          </a:stretch>
        </p:blipFill>
        <p:spPr>
          <a:xfrm>
            <a:off x="5843588" y="4051567"/>
            <a:ext cx="171450" cy="171450"/>
          </a:xfrm>
          <a:prstGeom prst="rect">
            <a:avLst/>
          </a:prstGeom>
        </p:spPr>
      </p:pic>
      <p:sp>
        <p:nvSpPr>
          <p:cNvPr id="37" name="Text 25"/>
          <p:cNvSpPr/>
          <p:nvPr/>
        </p:nvSpPr>
        <p:spPr>
          <a:xfrm>
            <a:off x="6250781" y="3955126"/>
            <a:ext cx="1601623"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Hardened VM</a:t>
            </a:r>
            <a:endParaRPr lang="en-US" sz="987" dirty="0"/>
          </a:p>
        </p:txBody>
      </p:sp>
      <p:sp>
        <p:nvSpPr>
          <p:cNvPr id="38" name="Text 26"/>
          <p:cNvSpPr/>
          <p:nvPr/>
        </p:nvSpPr>
        <p:spPr>
          <a:xfrm>
            <a:off x="6250781" y="4180154"/>
            <a:ext cx="1601623"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94A3B8"/>
                </a:solidFill>
              </a:rPr>
              <a:t>Secure Azure/Cloud Infrastructure</a:t>
            </a:r>
            <a:endParaRPr lang="en-US" sz="727" dirty="0"/>
          </a:p>
        </p:txBody>
      </p:sp>
      <p:sp>
        <p:nvSpPr>
          <p:cNvPr id="39" name="Shape 27"/>
          <p:cNvSpPr/>
          <p:nvPr/>
        </p:nvSpPr>
        <p:spPr>
          <a:xfrm>
            <a:off x="7329822" y="2949643"/>
            <a:ext cx="1528428" cy="317897"/>
          </a:xfrm>
          <a:prstGeom prst="rect">
            <a:avLst/>
          </a:prstGeom>
          <a:solidFill>
            <a:srgbClr val="38BDF8"/>
          </a:solidFill>
          <a:ln/>
        </p:spPr>
      </p:sp>
      <p:sp>
        <p:nvSpPr>
          <p:cNvPr id="40" name="Text 28"/>
          <p:cNvSpPr/>
          <p:nvPr/>
        </p:nvSpPr>
        <p:spPr>
          <a:xfrm>
            <a:off x="7329822" y="2949643"/>
            <a:ext cx="1528428" cy="317897"/>
          </a:xfrm>
          <a:prstGeom prst="rect">
            <a:avLst/>
          </a:prstGeom>
          <a:noFill/>
          <a:ln/>
        </p:spPr>
        <p:txBody>
          <a:bodyPr wrap="square" lIns="170053" tIns="85090" rIns="170053" bIns="85090" rtlCol="0" anchor="t">
            <a:spAutoFit/>
          </a:bodyPr>
          <a:lstStyle/>
          <a:p>
            <a:pPr algn="l" indent="0" marL="0">
              <a:lnSpc>
                <a:spcPts val="1200"/>
              </a:lnSpc>
              <a:buNone/>
            </a:pPr>
            <a:r>
              <a:rPr lang="en-US" sz="885" b="1" dirty="0">
                <a:solidFill>
                  <a:srgbClr val="0F2942"/>
                </a:solidFill>
              </a:rPr>
              <a:t>TURNKEY DELIVERY</a:t>
            </a:r>
            <a:endParaRPr lang="en-US" sz="885" dirty="0"/>
          </a:p>
        </p:txBody>
      </p:sp>
      <p:sp>
        <p:nvSpPr>
          <p:cNvPr id="41" name="Text 29"/>
          <p:cNvSpPr/>
          <p:nvPr/>
        </p:nvSpPr>
        <p:spPr>
          <a:xfrm>
            <a:off x="571500" y="4936331"/>
            <a:ext cx="8001000" cy="135731"/>
          </a:xfrm>
          <a:prstGeom prst="rect">
            <a:avLst/>
          </a:prstGeom>
          <a:noFill/>
          <a:ln/>
        </p:spPr>
        <p:txBody>
          <a:bodyPr wrap="none" lIns="0" tIns="0" rIns="0" bIns="0" rtlCol="0" anchor="t">
            <a:spAutoFit/>
          </a:bodyPr>
          <a:lstStyle/>
          <a:p>
            <a:pPr algn="r" indent="0" marL="0">
              <a:lnSpc>
                <a:spcPts val="900"/>
              </a:lnSpc>
              <a:buNone/>
            </a:pPr>
            <a:r>
              <a:rPr lang="en-US" sz="727" dirty="0">
                <a:solidFill>
                  <a:srgbClr val="94A3B8">
                    <a:alpha val="60000"/>
                  </a:srgbClr>
                </a:solidFill>
              </a:rPr>
              <a:t>MACTECH TRUST CODEX // SLIDE 09</a:t>
            </a:r>
            <a:endParaRPr lang="en-US" sz="72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71500" y="428625"/>
            <a:ext cx="8001000" cy="709352"/>
          </a:xfrm>
          <a:prstGeom prst="rect">
            <a:avLst/>
          </a:prstGeom>
          <a:solidFill>
            <a:srgbClr val="000000">
              <a:alpha val="0"/>
            </a:srgbClr>
          </a:solidFill>
          <a:ln/>
        </p:spPr>
      </p:sp>
      <p:sp>
        <p:nvSpPr>
          <p:cNvPr id="5" name="Shape 1"/>
          <p:cNvSpPr/>
          <p:nvPr/>
        </p:nvSpPr>
        <p:spPr>
          <a:xfrm>
            <a:off x="571500" y="1123690"/>
            <a:ext cx="8001000" cy="14288"/>
          </a:xfrm>
          <a:prstGeom prst="rect">
            <a:avLst/>
          </a:prstGeom>
          <a:solidFill>
            <a:srgbClr val="38BDF8"/>
          </a:solidFill>
          <a:ln/>
        </p:spPr>
      </p:sp>
      <p:sp>
        <p:nvSpPr>
          <p:cNvPr id="6" name="Text 2"/>
          <p:cNvSpPr/>
          <p:nvPr/>
        </p:nvSpPr>
        <p:spPr>
          <a:xfrm>
            <a:off x="571500" y="428625"/>
            <a:ext cx="8001000" cy="175022"/>
          </a:xfrm>
          <a:prstGeom prst="rect">
            <a:avLst/>
          </a:prstGeom>
          <a:noFill/>
          <a:ln/>
        </p:spPr>
        <p:txBody>
          <a:bodyPr wrap="none" lIns="0" tIns="0" rIns="0" bIns="0" rtlCol="0" anchor="t">
            <a:spAutoFit/>
          </a:bodyPr>
          <a:lstStyle/>
          <a:p>
            <a:pPr algn="l" indent="0" marL="0">
              <a:lnSpc>
                <a:spcPts val="1200"/>
              </a:lnSpc>
              <a:buNone/>
            </a:pPr>
            <a:r>
              <a:rPr lang="en-US" sz="942" spc="2" kern="0" dirty="0">
                <a:solidFill>
                  <a:srgbClr val="38BDF8"/>
                </a:solidFill>
              </a:rPr>
              <a:t>What You Get</a:t>
            </a:r>
            <a:endParaRPr lang="en-US" sz="942" dirty="0"/>
          </a:p>
        </p:txBody>
      </p:sp>
      <p:sp>
        <p:nvSpPr>
          <p:cNvPr id="7" name="Text 3"/>
          <p:cNvSpPr/>
          <p:nvPr/>
        </p:nvSpPr>
        <p:spPr>
          <a:xfrm>
            <a:off x="571500" y="675084"/>
            <a:ext cx="7143750" cy="377168"/>
          </a:xfrm>
          <a:prstGeom prst="rect">
            <a:avLst/>
          </a:prstGeom>
          <a:noFill/>
          <a:ln/>
        </p:spPr>
        <p:txBody>
          <a:bodyPr wrap="none" lIns="0" tIns="0" rIns="0" bIns="0" rtlCol="0" anchor="t">
            <a:spAutoFit/>
          </a:bodyPr>
          <a:lstStyle/>
          <a:p>
            <a:pPr algn="l" indent="0" marL="0">
              <a:lnSpc>
                <a:spcPts val="3000"/>
              </a:lnSpc>
              <a:buNone/>
            </a:pPr>
            <a:r>
              <a:rPr lang="en-US" sz="2436" b="1" dirty="0">
                <a:solidFill>
                  <a:srgbClr val="FFFFFF"/>
                </a:solidFill>
              </a:rPr>
              <a:t>The Complete Package</a:t>
            </a:r>
            <a:endParaRPr lang="en-US" sz="2436" dirty="0"/>
          </a:p>
        </p:txBody>
      </p:sp>
      <p:sp>
        <p:nvSpPr>
          <p:cNvPr id="8" name="Shape 4"/>
          <p:cNvSpPr/>
          <p:nvPr/>
        </p:nvSpPr>
        <p:spPr>
          <a:xfrm>
            <a:off x="7858125" y="1095115"/>
            <a:ext cx="714375" cy="71438"/>
          </a:xfrm>
          <a:prstGeom prst="rect">
            <a:avLst/>
          </a:prstGeom>
          <a:solidFill>
            <a:srgbClr val="38BDF8"/>
          </a:solidFill>
          <a:ln/>
        </p:spPr>
      </p:sp>
      <p:sp>
        <p:nvSpPr>
          <p:cNvPr id="9" name="Shape 5"/>
          <p:cNvSpPr/>
          <p:nvPr/>
        </p:nvSpPr>
        <p:spPr>
          <a:xfrm>
            <a:off x="571500" y="1338002"/>
            <a:ext cx="2547919" cy="1638430"/>
          </a:xfrm>
          <a:prstGeom prst="rect">
            <a:avLst/>
          </a:prstGeom>
          <a:solidFill>
            <a:srgbClr val="0F2942">
              <a:alpha val="60000"/>
            </a:srgbClr>
          </a:solidFill>
          <a:ln w="9144">
            <a:solidFill>
              <a:srgbClr val="38BDF8"/>
            </a:solidFill>
            <a:prstDash val="solid"/>
          </a:ln>
        </p:spPr>
      </p:sp>
      <p:sp>
        <p:nvSpPr>
          <p:cNvPr id="10" name="Shape 6"/>
          <p:cNvSpPr/>
          <p:nvPr/>
        </p:nvSpPr>
        <p:spPr>
          <a:xfrm>
            <a:off x="714375" y="1480877"/>
            <a:ext cx="357188" cy="357188"/>
          </a:xfrm>
          <a:prstGeom prst="rect">
            <a:avLst/>
          </a:prstGeom>
          <a:solidFill>
            <a:srgbClr val="38BDF8">
              <a:alpha val="10000"/>
            </a:srgbClr>
          </a:solidFill>
          <a:ln w="9144">
            <a:solidFill>
              <a:srgbClr val="38BDF8">
                <a:alpha val="30000"/>
              </a:srgbClr>
            </a:solidFill>
            <a:prstDash val="solid"/>
          </a:ln>
        </p:spPr>
      </p:sp>
      <p:pic>
        <p:nvPicPr>
          <p:cNvPr id="11" name="Image 1" descr="preencoded.png">    </p:cNvPr>
          <p:cNvPicPr>
            <a:picLocks noChangeAspect="1"/>
          </p:cNvPicPr>
          <p:nvPr/>
        </p:nvPicPr>
        <p:blipFill>
          <a:blip r:embed="rId2"/>
          <a:stretch>
            <a:fillRect/>
          </a:stretch>
        </p:blipFill>
        <p:spPr>
          <a:xfrm>
            <a:off x="807244" y="1573746"/>
            <a:ext cx="171450" cy="171450"/>
          </a:xfrm>
          <a:prstGeom prst="rect">
            <a:avLst/>
          </a:prstGeom>
        </p:spPr>
      </p:pic>
      <p:sp>
        <p:nvSpPr>
          <p:cNvPr id="12" name="Text 7"/>
          <p:cNvSpPr/>
          <p:nvPr/>
        </p:nvSpPr>
        <p:spPr>
          <a:xfrm>
            <a:off x="1178719" y="1573020"/>
            <a:ext cx="1558593" cy="172873"/>
          </a:xfrm>
          <a:prstGeom prst="rect">
            <a:avLst/>
          </a:prstGeom>
          <a:noFill/>
          <a:ln/>
        </p:spPr>
        <p:txBody>
          <a:bodyPr wrap="none" lIns="0" tIns="0" rIns="0" bIns="0" rtlCol="0" anchor="t">
            <a:spAutoFit/>
          </a:bodyPr>
          <a:lstStyle/>
          <a:p>
            <a:pPr algn="l" indent="0" marL="0">
              <a:lnSpc>
                <a:spcPts val="1400"/>
              </a:lnSpc>
              <a:buNone/>
            </a:pPr>
            <a:r>
              <a:rPr lang="en-US" sz="1090" b="1" dirty="0">
                <a:solidFill>
                  <a:srgbClr val="FFFFFF"/>
                </a:solidFill>
              </a:rPr>
              <a:t>CUI Vault Enclave</a:t>
            </a:r>
            <a:endParaRPr lang="en-US" sz="1090" dirty="0"/>
          </a:p>
        </p:txBody>
      </p:sp>
      <p:sp>
        <p:nvSpPr>
          <p:cNvPr id="13" name="Text 8"/>
          <p:cNvSpPr/>
          <p:nvPr/>
        </p:nvSpPr>
        <p:spPr>
          <a:xfrm>
            <a:off x="714375" y="2023802"/>
            <a:ext cx="2262169"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2E8F0"/>
                </a:solidFill>
              </a:rPr>
              <a:t>Hardened VM, fully configured and deployed. A secure, isolated environment ready for work.</a:t>
            </a:r>
            <a:endParaRPr lang="en-US" sz="834" dirty="0"/>
          </a:p>
        </p:txBody>
      </p:sp>
      <p:sp>
        <p:nvSpPr>
          <p:cNvPr id="14" name="Shape 9"/>
          <p:cNvSpPr/>
          <p:nvPr/>
        </p:nvSpPr>
        <p:spPr>
          <a:xfrm>
            <a:off x="3298013" y="1338002"/>
            <a:ext cx="2547947" cy="1638430"/>
          </a:xfrm>
          <a:prstGeom prst="rect">
            <a:avLst/>
          </a:prstGeom>
          <a:solidFill>
            <a:srgbClr val="0F2942">
              <a:alpha val="60000"/>
            </a:srgbClr>
          </a:solidFill>
          <a:ln w="9144">
            <a:solidFill>
              <a:srgbClr val="38BDF8"/>
            </a:solidFill>
            <a:prstDash val="solid"/>
          </a:ln>
        </p:spPr>
      </p:sp>
      <p:sp>
        <p:nvSpPr>
          <p:cNvPr id="15" name="Shape 10"/>
          <p:cNvSpPr/>
          <p:nvPr/>
        </p:nvSpPr>
        <p:spPr>
          <a:xfrm>
            <a:off x="3440888" y="1480877"/>
            <a:ext cx="356378" cy="357188"/>
          </a:xfrm>
          <a:prstGeom prst="rect">
            <a:avLst/>
          </a:prstGeom>
          <a:solidFill>
            <a:srgbClr val="38BDF8">
              <a:alpha val="10000"/>
            </a:srgbClr>
          </a:solidFill>
          <a:ln w="9144">
            <a:solidFill>
              <a:srgbClr val="38BDF8">
                <a:alpha val="30000"/>
              </a:srgbClr>
            </a:solidFill>
            <a:prstDash val="solid"/>
          </a:ln>
        </p:spPr>
      </p:sp>
      <p:pic>
        <p:nvPicPr>
          <p:cNvPr id="16" name="Image 2" descr="preencoded.png">    </p:cNvPr>
          <p:cNvPicPr>
            <a:picLocks noChangeAspect="1"/>
          </p:cNvPicPr>
          <p:nvPr/>
        </p:nvPicPr>
        <p:blipFill>
          <a:blip r:embed="rId3"/>
          <a:stretch>
            <a:fillRect/>
          </a:stretch>
        </p:blipFill>
        <p:spPr>
          <a:xfrm>
            <a:off x="3544053" y="1573746"/>
            <a:ext cx="150019" cy="171450"/>
          </a:xfrm>
          <a:prstGeom prst="rect">
            <a:avLst/>
          </a:prstGeom>
        </p:spPr>
      </p:pic>
      <p:sp>
        <p:nvSpPr>
          <p:cNvPr id="17" name="Text 11"/>
          <p:cNvSpPr/>
          <p:nvPr/>
        </p:nvSpPr>
        <p:spPr>
          <a:xfrm>
            <a:off x="3904394" y="1486598"/>
            <a:ext cx="1798690" cy="345746"/>
          </a:xfrm>
          <a:prstGeom prst="rect">
            <a:avLst/>
          </a:prstGeom>
          <a:noFill/>
          <a:ln/>
        </p:spPr>
        <p:txBody>
          <a:bodyPr wrap="square" lIns="0" tIns="0" rIns="0" bIns="0" rtlCol="0" anchor="t">
            <a:spAutoFit/>
          </a:bodyPr>
          <a:lstStyle/>
          <a:p>
            <a:pPr algn="l" indent="0" marL="0">
              <a:lnSpc>
                <a:spcPts val="1400"/>
              </a:lnSpc>
              <a:buNone/>
            </a:pPr>
            <a:r>
              <a:rPr lang="en-US" sz="1090" b="1" dirty="0">
                <a:solidFill>
                  <a:srgbClr val="FFFFFF"/>
                </a:solidFill>
              </a:rPr>
              <a:t>Trust Codex Manual</a:t>
            </a:r>
            <a:endParaRPr lang="en-US" sz="1090" dirty="0"/>
          </a:p>
        </p:txBody>
      </p:sp>
      <p:sp>
        <p:nvSpPr>
          <p:cNvPr id="18" name="Text 12"/>
          <p:cNvSpPr/>
          <p:nvPr/>
        </p:nvSpPr>
        <p:spPr>
          <a:xfrm>
            <a:off x="3440888" y="2023802"/>
            <a:ext cx="2262197"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2E8F0"/>
                </a:solidFill>
              </a:rPr>
              <a:t>Comprehensive manual mapping all 110 NIST 800-171 controls directly to your vault architecture.</a:t>
            </a:r>
            <a:endParaRPr lang="en-US" sz="834" dirty="0"/>
          </a:p>
        </p:txBody>
      </p:sp>
      <p:sp>
        <p:nvSpPr>
          <p:cNvPr id="19" name="Shape 13"/>
          <p:cNvSpPr/>
          <p:nvPr/>
        </p:nvSpPr>
        <p:spPr>
          <a:xfrm>
            <a:off x="6024553" y="1338002"/>
            <a:ext cx="2547919" cy="1638430"/>
          </a:xfrm>
          <a:prstGeom prst="rect">
            <a:avLst/>
          </a:prstGeom>
          <a:solidFill>
            <a:srgbClr val="0F2942">
              <a:alpha val="60000"/>
            </a:srgbClr>
          </a:solidFill>
          <a:ln w="9144">
            <a:solidFill>
              <a:srgbClr val="38BDF8"/>
            </a:solidFill>
            <a:prstDash val="solid"/>
          </a:ln>
        </p:spPr>
      </p:sp>
      <p:sp>
        <p:nvSpPr>
          <p:cNvPr id="20" name="Shape 14"/>
          <p:cNvSpPr/>
          <p:nvPr/>
        </p:nvSpPr>
        <p:spPr>
          <a:xfrm>
            <a:off x="6167428" y="1480877"/>
            <a:ext cx="357188" cy="357188"/>
          </a:xfrm>
          <a:prstGeom prst="rect">
            <a:avLst/>
          </a:prstGeom>
          <a:solidFill>
            <a:srgbClr val="38BDF8">
              <a:alpha val="10000"/>
            </a:srgbClr>
          </a:solidFill>
          <a:ln w="9144">
            <a:solidFill>
              <a:srgbClr val="38BDF8">
                <a:alpha val="30000"/>
              </a:srgbClr>
            </a:solidFill>
            <a:prstDash val="solid"/>
          </a:ln>
        </p:spPr>
      </p:sp>
      <p:pic>
        <p:nvPicPr>
          <p:cNvPr id="21" name="Image 3" descr="preencoded.png">    </p:cNvPr>
          <p:cNvPicPr>
            <a:picLocks noChangeAspect="1"/>
          </p:cNvPicPr>
          <p:nvPr/>
        </p:nvPicPr>
        <p:blipFill>
          <a:blip r:embed="rId4"/>
          <a:stretch>
            <a:fillRect/>
          </a:stretch>
        </p:blipFill>
        <p:spPr>
          <a:xfrm>
            <a:off x="6260297" y="1573746"/>
            <a:ext cx="171450" cy="171450"/>
          </a:xfrm>
          <a:prstGeom prst="rect">
            <a:avLst/>
          </a:prstGeom>
        </p:spPr>
      </p:pic>
      <p:sp>
        <p:nvSpPr>
          <p:cNvPr id="22" name="Text 15"/>
          <p:cNvSpPr/>
          <p:nvPr/>
        </p:nvSpPr>
        <p:spPr>
          <a:xfrm>
            <a:off x="6631772" y="1573020"/>
            <a:ext cx="1769501" cy="172873"/>
          </a:xfrm>
          <a:prstGeom prst="rect">
            <a:avLst/>
          </a:prstGeom>
          <a:noFill/>
          <a:ln/>
        </p:spPr>
        <p:txBody>
          <a:bodyPr wrap="none" lIns="0" tIns="0" rIns="0" bIns="0" rtlCol="0" anchor="t">
            <a:spAutoFit/>
          </a:bodyPr>
          <a:lstStyle/>
          <a:p>
            <a:pPr algn="l" indent="0" marL="0">
              <a:lnSpc>
                <a:spcPts val="1400"/>
              </a:lnSpc>
              <a:buNone/>
            </a:pPr>
            <a:r>
              <a:rPr lang="en-US" sz="1090" b="1" dirty="0">
                <a:solidFill>
                  <a:srgbClr val="FFFFFF"/>
                </a:solidFill>
              </a:rPr>
              <a:t>Governance Bundle</a:t>
            </a:r>
            <a:endParaRPr lang="en-US" sz="1090" dirty="0"/>
          </a:p>
        </p:txBody>
      </p:sp>
      <p:sp>
        <p:nvSpPr>
          <p:cNvPr id="23" name="Text 16"/>
          <p:cNvSpPr/>
          <p:nvPr/>
        </p:nvSpPr>
        <p:spPr>
          <a:xfrm>
            <a:off x="6167428" y="2023802"/>
            <a:ext cx="2262169"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2E8F0"/>
                </a:solidFill>
              </a:rPr>
              <a:t>Ready-to-deploy policies, procedures, templates, and runbooks to standardize operations.</a:t>
            </a:r>
            <a:endParaRPr lang="en-US" sz="834" dirty="0"/>
          </a:p>
        </p:txBody>
      </p:sp>
      <p:sp>
        <p:nvSpPr>
          <p:cNvPr id="24" name="Shape 17"/>
          <p:cNvSpPr/>
          <p:nvPr/>
        </p:nvSpPr>
        <p:spPr>
          <a:xfrm>
            <a:off x="571500" y="3155026"/>
            <a:ext cx="2547919" cy="1638430"/>
          </a:xfrm>
          <a:prstGeom prst="rect">
            <a:avLst/>
          </a:prstGeom>
          <a:solidFill>
            <a:srgbClr val="0F2942">
              <a:alpha val="60000"/>
            </a:srgbClr>
          </a:solidFill>
          <a:ln w="9144">
            <a:solidFill>
              <a:srgbClr val="38BDF8"/>
            </a:solidFill>
            <a:prstDash val="solid"/>
          </a:ln>
        </p:spPr>
      </p:sp>
      <p:sp>
        <p:nvSpPr>
          <p:cNvPr id="25" name="Shape 18"/>
          <p:cNvSpPr/>
          <p:nvPr/>
        </p:nvSpPr>
        <p:spPr>
          <a:xfrm>
            <a:off x="714375" y="3297901"/>
            <a:ext cx="357188" cy="357188"/>
          </a:xfrm>
          <a:prstGeom prst="rect">
            <a:avLst/>
          </a:prstGeom>
          <a:solidFill>
            <a:srgbClr val="38BDF8">
              <a:alpha val="10000"/>
            </a:srgbClr>
          </a:solidFill>
          <a:ln w="9144">
            <a:solidFill>
              <a:srgbClr val="38BDF8">
                <a:alpha val="30000"/>
              </a:srgbClr>
            </a:solidFill>
            <a:prstDash val="solid"/>
          </a:ln>
        </p:spPr>
      </p:sp>
      <p:pic>
        <p:nvPicPr>
          <p:cNvPr id="26" name="Image 4" descr="preencoded.png">    </p:cNvPr>
          <p:cNvPicPr>
            <a:picLocks noChangeAspect="1"/>
          </p:cNvPicPr>
          <p:nvPr/>
        </p:nvPicPr>
        <p:blipFill>
          <a:blip r:embed="rId5"/>
          <a:stretch>
            <a:fillRect/>
          </a:stretch>
        </p:blipFill>
        <p:spPr>
          <a:xfrm>
            <a:off x="796528" y="3390770"/>
            <a:ext cx="192881" cy="171450"/>
          </a:xfrm>
          <a:prstGeom prst="rect">
            <a:avLst/>
          </a:prstGeom>
        </p:spPr>
      </p:pic>
      <p:sp>
        <p:nvSpPr>
          <p:cNvPr id="27" name="Text 19"/>
          <p:cNvSpPr/>
          <p:nvPr/>
        </p:nvSpPr>
        <p:spPr>
          <a:xfrm>
            <a:off x="1178719" y="3390044"/>
            <a:ext cx="1310432" cy="172873"/>
          </a:xfrm>
          <a:prstGeom prst="rect">
            <a:avLst/>
          </a:prstGeom>
          <a:noFill/>
          <a:ln/>
        </p:spPr>
        <p:txBody>
          <a:bodyPr wrap="none" lIns="0" tIns="0" rIns="0" bIns="0" rtlCol="0" anchor="t">
            <a:spAutoFit/>
          </a:bodyPr>
          <a:lstStyle/>
          <a:p>
            <a:pPr algn="l" indent="0" marL="0">
              <a:lnSpc>
                <a:spcPts val="1400"/>
              </a:lnSpc>
              <a:buNone/>
            </a:pPr>
            <a:r>
              <a:rPr lang="en-US" sz="1090" b="1" dirty="0">
                <a:solidFill>
                  <a:srgbClr val="FFFFFF"/>
                </a:solidFill>
              </a:rPr>
              <a:t>Evidence Index</a:t>
            </a:r>
            <a:endParaRPr lang="en-US" sz="1090" dirty="0"/>
          </a:p>
        </p:txBody>
      </p:sp>
      <p:sp>
        <p:nvSpPr>
          <p:cNvPr id="28" name="Text 20"/>
          <p:cNvSpPr/>
          <p:nvPr/>
        </p:nvSpPr>
        <p:spPr>
          <a:xfrm>
            <a:off x="714375" y="3840826"/>
            <a:ext cx="2262169"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2E8F0"/>
                </a:solidFill>
              </a:rPr>
              <a:t>A clear map showing exactly where every piece of evidence lives (logs, configs, screenshots).</a:t>
            </a:r>
            <a:endParaRPr lang="en-US" sz="834" dirty="0"/>
          </a:p>
        </p:txBody>
      </p:sp>
      <p:sp>
        <p:nvSpPr>
          <p:cNvPr id="29" name="Shape 21"/>
          <p:cNvSpPr/>
          <p:nvPr/>
        </p:nvSpPr>
        <p:spPr>
          <a:xfrm>
            <a:off x="3298013" y="3155026"/>
            <a:ext cx="2547947" cy="1638430"/>
          </a:xfrm>
          <a:prstGeom prst="rect">
            <a:avLst/>
          </a:prstGeom>
          <a:solidFill>
            <a:srgbClr val="0F2942">
              <a:alpha val="60000"/>
            </a:srgbClr>
          </a:solidFill>
          <a:ln w="9144">
            <a:solidFill>
              <a:srgbClr val="38BDF8"/>
            </a:solidFill>
            <a:prstDash val="solid"/>
          </a:ln>
        </p:spPr>
      </p:sp>
      <p:sp>
        <p:nvSpPr>
          <p:cNvPr id="30" name="Shape 22"/>
          <p:cNvSpPr/>
          <p:nvPr/>
        </p:nvSpPr>
        <p:spPr>
          <a:xfrm>
            <a:off x="3440888" y="3297901"/>
            <a:ext cx="357188" cy="357188"/>
          </a:xfrm>
          <a:prstGeom prst="rect">
            <a:avLst/>
          </a:prstGeom>
          <a:solidFill>
            <a:srgbClr val="38BDF8">
              <a:alpha val="10000"/>
            </a:srgbClr>
          </a:solidFill>
          <a:ln w="9144">
            <a:solidFill>
              <a:srgbClr val="38BDF8">
                <a:alpha val="30000"/>
              </a:srgbClr>
            </a:solidFill>
            <a:prstDash val="solid"/>
          </a:ln>
        </p:spPr>
      </p:sp>
      <p:pic>
        <p:nvPicPr>
          <p:cNvPr id="31" name="Image 5" descr="preencoded.png">    </p:cNvPr>
          <p:cNvPicPr>
            <a:picLocks noChangeAspect="1"/>
          </p:cNvPicPr>
          <p:nvPr/>
        </p:nvPicPr>
        <p:blipFill>
          <a:blip r:embed="rId6"/>
          <a:stretch>
            <a:fillRect/>
          </a:stretch>
        </p:blipFill>
        <p:spPr>
          <a:xfrm>
            <a:off x="3512325" y="3390770"/>
            <a:ext cx="214313" cy="171450"/>
          </a:xfrm>
          <a:prstGeom prst="rect">
            <a:avLst/>
          </a:prstGeom>
        </p:spPr>
      </p:pic>
      <p:sp>
        <p:nvSpPr>
          <p:cNvPr id="32" name="Text 23"/>
          <p:cNvSpPr/>
          <p:nvPr/>
        </p:nvSpPr>
        <p:spPr>
          <a:xfrm>
            <a:off x="3905231" y="3390044"/>
            <a:ext cx="1759595" cy="172873"/>
          </a:xfrm>
          <a:prstGeom prst="rect">
            <a:avLst/>
          </a:prstGeom>
          <a:noFill/>
          <a:ln/>
        </p:spPr>
        <p:txBody>
          <a:bodyPr wrap="none" lIns="0" tIns="0" rIns="0" bIns="0" rtlCol="0" anchor="t">
            <a:spAutoFit/>
          </a:bodyPr>
          <a:lstStyle/>
          <a:p>
            <a:pPr algn="l" indent="0" marL="0">
              <a:lnSpc>
                <a:spcPts val="1400"/>
              </a:lnSpc>
              <a:buNone/>
            </a:pPr>
            <a:r>
              <a:rPr lang="en-US" sz="1090" b="1" dirty="0">
                <a:solidFill>
                  <a:srgbClr val="FFFFFF"/>
                </a:solidFill>
              </a:rPr>
              <a:t>Automation Scripts</a:t>
            </a:r>
            <a:endParaRPr lang="en-US" sz="1090" dirty="0"/>
          </a:p>
        </p:txBody>
      </p:sp>
      <p:sp>
        <p:nvSpPr>
          <p:cNvPr id="33" name="Text 24"/>
          <p:cNvSpPr/>
          <p:nvPr/>
        </p:nvSpPr>
        <p:spPr>
          <a:xfrm>
            <a:off x="3440888" y="3840826"/>
            <a:ext cx="2262197"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2E8F0"/>
                </a:solidFill>
              </a:rPr>
              <a:t>Scripts for evidence collection and validation, reducing manual effort and ensuring consistency.</a:t>
            </a:r>
            <a:endParaRPr lang="en-US" sz="834" dirty="0"/>
          </a:p>
        </p:txBody>
      </p:sp>
      <p:sp>
        <p:nvSpPr>
          <p:cNvPr id="34" name="Shape 25"/>
          <p:cNvSpPr/>
          <p:nvPr/>
        </p:nvSpPr>
        <p:spPr>
          <a:xfrm>
            <a:off x="6024553" y="3155026"/>
            <a:ext cx="2547919" cy="1638430"/>
          </a:xfrm>
          <a:prstGeom prst="rect">
            <a:avLst/>
          </a:prstGeom>
          <a:solidFill>
            <a:srgbClr val="0F2942">
              <a:alpha val="60000"/>
            </a:srgbClr>
          </a:solidFill>
          <a:ln w="9144">
            <a:solidFill>
              <a:srgbClr val="38BDF8"/>
            </a:solidFill>
            <a:prstDash val="solid"/>
          </a:ln>
        </p:spPr>
      </p:sp>
      <p:sp>
        <p:nvSpPr>
          <p:cNvPr id="35" name="Shape 26"/>
          <p:cNvSpPr/>
          <p:nvPr/>
        </p:nvSpPr>
        <p:spPr>
          <a:xfrm>
            <a:off x="6167428" y="3297901"/>
            <a:ext cx="357188" cy="357188"/>
          </a:xfrm>
          <a:prstGeom prst="rect">
            <a:avLst/>
          </a:prstGeom>
          <a:solidFill>
            <a:srgbClr val="38BDF8">
              <a:alpha val="10000"/>
            </a:srgbClr>
          </a:solidFill>
          <a:ln w="9144">
            <a:solidFill>
              <a:srgbClr val="38BDF8">
                <a:alpha val="30000"/>
              </a:srgbClr>
            </a:solidFill>
            <a:prstDash val="solid"/>
          </a:ln>
        </p:spPr>
      </p:sp>
      <p:pic>
        <p:nvPicPr>
          <p:cNvPr id="36" name="Image 6" descr="preencoded.png">    </p:cNvPr>
          <p:cNvPicPr>
            <a:picLocks noChangeAspect="1"/>
          </p:cNvPicPr>
          <p:nvPr/>
        </p:nvPicPr>
        <p:blipFill>
          <a:blip r:embed="rId7"/>
          <a:stretch>
            <a:fillRect/>
          </a:stretch>
        </p:blipFill>
        <p:spPr>
          <a:xfrm>
            <a:off x="6260297" y="3390770"/>
            <a:ext cx="171450" cy="171450"/>
          </a:xfrm>
          <a:prstGeom prst="rect">
            <a:avLst/>
          </a:prstGeom>
        </p:spPr>
      </p:pic>
      <p:sp>
        <p:nvSpPr>
          <p:cNvPr id="37" name="Text 27"/>
          <p:cNvSpPr/>
          <p:nvPr/>
        </p:nvSpPr>
        <p:spPr>
          <a:xfrm>
            <a:off x="6631772" y="3390044"/>
            <a:ext cx="1557979" cy="172873"/>
          </a:xfrm>
          <a:prstGeom prst="rect">
            <a:avLst/>
          </a:prstGeom>
          <a:noFill/>
          <a:ln/>
        </p:spPr>
        <p:txBody>
          <a:bodyPr wrap="none" lIns="0" tIns="0" rIns="0" bIns="0" rtlCol="0" anchor="t">
            <a:spAutoFit/>
          </a:bodyPr>
          <a:lstStyle/>
          <a:p>
            <a:pPr algn="l" indent="0" marL="0">
              <a:lnSpc>
                <a:spcPts val="1400"/>
              </a:lnSpc>
              <a:buNone/>
            </a:pPr>
            <a:r>
              <a:rPr lang="en-US" sz="1090" b="1" dirty="0">
                <a:solidFill>
                  <a:srgbClr val="FFFFFF"/>
                </a:solidFill>
              </a:rPr>
              <a:t>Ongoing Support</a:t>
            </a:r>
            <a:endParaRPr lang="en-US" sz="1090" dirty="0"/>
          </a:p>
        </p:txBody>
      </p:sp>
      <p:sp>
        <p:nvSpPr>
          <p:cNvPr id="38" name="Text 28"/>
          <p:cNvSpPr/>
          <p:nvPr/>
        </p:nvSpPr>
        <p:spPr>
          <a:xfrm>
            <a:off x="6167428" y="3840826"/>
            <a:ext cx="2262169"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2E8F0"/>
                </a:solidFill>
              </a:rPr>
              <a:t>Maintenance, updates, and assessment preparation support to keep you compliant.</a:t>
            </a:r>
            <a:endParaRPr lang="en-US" sz="834" dirty="0"/>
          </a:p>
        </p:txBody>
      </p:sp>
      <p:sp>
        <p:nvSpPr>
          <p:cNvPr id="39" name="Text 29"/>
          <p:cNvSpPr/>
          <p:nvPr/>
        </p:nvSpPr>
        <p:spPr>
          <a:xfrm>
            <a:off x="571500" y="4936331"/>
            <a:ext cx="8001000" cy="135731"/>
          </a:xfrm>
          <a:prstGeom prst="rect">
            <a:avLst/>
          </a:prstGeom>
          <a:noFill/>
          <a:ln/>
        </p:spPr>
        <p:txBody>
          <a:bodyPr wrap="none" lIns="0" tIns="0" rIns="0" bIns="0" rtlCol="0" anchor="t">
            <a:spAutoFit/>
          </a:bodyPr>
          <a:lstStyle/>
          <a:p>
            <a:pPr algn="r" indent="0" marL="0">
              <a:lnSpc>
                <a:spcPts val="900"/>
              </a:lnSpc>
              <a:buNone/>
            </a:pPr>
            <a:r>
              <a:rPr lang="en-US" sz="727" dirty="0">
                <a:solidFill>
                  <a:srgbClr val="94A3B8">
                    <a:alpha val="60000"/>
                  </a:srgbClr>
                </a:solidFill>
              </a:rPr>
              <a:t>MACTECH TRUST CODEX // SLIDE 10</a:t>
            </a:r>
            <a:endParaRPr lang="en-US" sz="72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71500" y="428625"/>
            <a:ext cx="8001000" cy="1086520"/>
          </a:xfrm>
          <a:prstGeom prst="rect">
            <a:avLst/>
          </a:prstGeom>
          <a:solidFill>
            <a:srgbClr val="000000">
              <a:alpha val="0"/>
            </a:srgbClr>
          </a:solidFill>
          <a:ln/>
        </p:spPr>
      </p:sp>
      <p:sp>
        <p:nvSpPr>
          <p:cNvPr id="5" name="Shape 1"/>
          <p:cNvSpPr/>
          <p:nvPr/>
        </p:nvSpPr>
        <p:spPr>
          <a:xfrm>
            <a:off x="571500" y="1500857"/>
            <a:ext cx="8001000" cy="14288"/>
          </a:xfrm>
          <a:prstGeom prst="rect">
            <a:avLst/>
          </a:prstGeom>
          <a:solidFill>
            <a:srgbClr val="38BDF8"/>
          </a:solidFill>
          <a:ln/>
        </p:spPr>
      </p:sp>
      <p:sp>
        <p:nvSpPr>
          <p:cNvPr id="6" name="Text 2"/>
          <p:cNvSpPr/>
          <p:nvPr/>
        </p:nvSpPr>
        <p:spPr>
          <a:xfrm>
            <a:off x="571500" y="428625"/>
            <a:ext cx="8001000" cy="175022"/>
          </a:xfrm>
          <a:prstGeom prst="rect">
            <a:avLst/>
          </a:prstGeom>
          <a:noFill/>
          <a:ln/>
        </p:spPr>
        <p:txBody>
          <a:bodyPr wrap="none" lIns="0" tIns="0" rIns="0" bIns="0" rtlCol="0" anchor="t">
            <a:spAutoFit/>
          </a:bodyPr>
          <a:lstStyle/>
          <a:p>
            <a:pPr algn="l" indent="0" marL="0">
              <a:lnSpc>
                <a:spcPts val="1200"/>
              </a:lnSpc>
              <a:buNone/>
            </a:pPr>
            <a:r>
              <a:rPr lang="en-US" sz="942" spc="2" kern="0" dirty="0">
                <a:solidFill>
                  <a:srgbClr val="38BDF8"/>
                </a:solidFill>
              </a:rPr>
              <a:t>Who This Is For</a:t>
            </a:r>
            <a:endParaRPr lang="en-US" sz="942" dirty="0"/>
          </a:p>
        </p:txBody>
      </p:sp>
      <p:sp>
        <p:nvSpPr>
          <p:cNvPr id="7" name="Text 3"/>
          <p:cNvSpPr/>
          <p:nvPr/>
        </p:nvSpPr>
        <p:spPr>
          <a:xfrm>
            <a:off x="571500" y="675084"/>
            <a:ext cx="7143750"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rPr>
              <a:t>Built for Government Contractors and Small Businesses</a:t>
            </a:r>
            <a:endParaRPr lang="en-US" sz="2436" dirty="0"/>
          </a:p>
        </p:txBody>
      </p:sp>
      <p:sp>
        <p:nvSpPr>
          <p:cNvPr id="8" name="Shape 4"/>
          <p:cNvSpPr/>
          <p:nvPr/>
        </p:nvSpPr>
        <p:spPr>
          <a:xfrm>
            <a:off x="7858125" y="1472282"/>
            <a:ext cx="714375" cy="71438"/>
          </a:xfrm>
          <a:prstGeom prst="rect">
            <a:avLst/>
          </a:prstGeom>
          <a:solidFill>
            <a:srgbClr val="38BDF8"/>
          </a:solidFill>
          <a:ln/>
        </p:spPr>
      </p:sp>
      <p:sp>
        <p:nvSpPr>
          <p:cNvPr id="9" name="Shape 5"/>
          <p:cNvSpPr/>
          <p:nvPr/>
        </p:nvSpPr>
        <p:spPr>
          <a:xfrm>
            <a:off x="714375" y="1615157"/>
            <a:ext cx="2143125" cy="2143125"/>
          </a:xfrm>
          <a:prstGeom prst="ellipse">
            <a:avLst/>
          </a:prstGeom>
          <a:solidFill>
            <a:srgbClr val="0F2942">
              <a:alpha val="0"/>
            </a:srgbClr>
          </a:solidFill>
          <a:ln w="18288">
            <a:solidFill>
              <a:srgbClr val="38BDF8"/>
            </a:solidFill>
            <a:prstDash val="solid"/>
          </a:ln>
        </p:spPr>
      </p:sp>
      <p:sp>
        <p:nvSpPr>
          <p:cNvPr id="10" name="Shape 6"/>
          <p:cNvSpPr/>
          <p:nvPr/>
        </p:nvSpPr>
        <p:spPr>
          <a:xfrm>
            <a:off x="600075" y="2672432"/>
            <a:ext cx="2343150" cy="7144"/>
          </a:xfrm>
          <a:prstGeom prst="rect">
            <a:avLst/>
          </a:prstGeom>
          <a:solidFill>
            <a:srgbClr val="38BDF8"/>
          </a:solidFill>
          <a:ln/>
        </p:spPr>
      </p:sp>
      <p:sp>
        <p:nvSpPr>
          <p:cNvPr id="11" name="Shape 7"/>
          <p:cNvSpPr/>
          <p:nvPr/>
        </p:nvSpPr>
        <p:spPr>
          <a:xfrm>
            <a:off x="1628775" y="2140223"/>
            <a:ext cx="314325" cy="1092994"/>
          </a:xfrm>
          <a:prstGeom prst="roundRect">
            <a:avLst/>
          </a:prstGeom>
          <a:solidFill>
            <a:srgbClr val="0F2942"/>
          </a:solidFill>
          <a:ln w="18288">
            <a:solidFill>
              <a:srgbClr val="38BDF8"/>
            </a:solidFill>
            <a:prstDash val="solid"/>
          </a:ln>
        </p:spPr>
      </p:sp>
      <p:sp>
        <p:nvSpPr>
          <p:cNvPr id="12" name="Shape 8"/>
          <p:cNvSpPr/>
          <p:nvPr/>
        </p:nvSpPr>
        <p:spPr>
          <a:xfrm>
            <a:off x="1771650" y="1500857"/>
            <a:ext cx="7144" cy="2343150"/>
          </a:xfrm>
          <a:prstGeom prst="rect">
            <a:avLst/>
          </a:prstGeom>
          <a:solidFill>
            <a:srgbClr val="38BDF8"/>
          </a:solidFill>
          <a:ln/>
        </p:spPr>
      </p:sp>
      <p:sp>
        <p:nvSpPr>
          <p:cNvPr id="13" name="Text 9"/>
          <p:cNvSpPr/>
          <p:nvPr/>
        </p:nvSpPr>
        <p:spPr>
          <a:xfrm>
            <a:off x="1184858" y="3783285"/>
            <a:ext cx="1202131" cy="175022"/>
          </a:xfrm>
          <a:prstGeom prst="rect">
            <a:avLst/>
          </a:prstGeom>
          <a:noFill/>
          <a:ln/>
        </p:spPr>
        <p:txBody>
          <a:bodyPr wrap="none" lIns="0" tIns="0" rIns="0" bIns="0" rtlCol="0" anchor="t">
            <a:spAutoFit/>
          </a:bodyPr>
          <a:lstStyle/>
          <a:p>
            <a:pPr algn="l" indent="0" marL="0">
              <a:lnSpc>
                <a:spcPts val="1200"/>
              </a:lnSpc>
              <a:buNone/>
            </a:pPr>
            <a:r>
              <a:rPr lang="en-US" sz="942" spc="2" kern="0" dirty="0">
                <a:solidFill>
                  <a:srgbClr val="38BDF8"/>
                </a:solidFill>
              </a:rPr>
              <a:t>Target Profile</a:t>
            </a:r>
            <a:endParaRPr lang="en-US" sz="942" dirty="0"/>
          </a:p>
        </p:txBody>
      </p:sp>
      <p:sp>
        <p:nvSpPr>
          <p:cNvPr id="14" name="Shape 10"/>
          <p:cNvSpPr/>
          <p:nvPr/>
        </p:nvSpPr>
        <p:spPr>
          <a:xfrm>
            <a:off x="3214688" y="1615157"/>
            <a:ext cx="2607469" cy="1037937"/>
          </a:xfrm>
          <a:prstGeom prst="rect">
            <a:avLst/>
          </a:prstGeom>
          <a:solidFill>
            <a:srgbClr val="0F2942">
              <a:alpha val="60000"/>
            </a:srgbClr>
          </a:solidFill>
          <a:ln/>
        </p:spPr>
      </p:sp>
      <p:sp>
        <p:nvSpPr>
          <p:cNvPr id="15" name="Shape 11"/>
          <p:cNvSpPr/>
          <p:nvPr/>
        </p:nvSpPr>
        <p:spPr>
          <a:xfrm>
            <a:off x="3214688" y="1615157"/>
            <a:ext cx="28575" cy="1037937"/>
          </a:xfrm>
          <a:prstGeom prst="rect">
            <a:avLst/>
          </a:prstGeom>
          <a:solidFill>
            <a:srgbClr val="94A3B8"/>
          </a:solidFill>
          <a:ln/>
        </p:spPr>
      </p:sp>
      <p:sp>
        <p:nvSpPr>
          <p:cNvPr id="16" name="Shape 12"/>
          <p:cNvSpPr/>
          <p:nvPr/>
        </p:nvSpPr>
        <p:spPr>
          <a:xfrm>
            <a:off x="3321844" y="1686595"/>
            <a:ext cx="257175" cy="257175"/>
          </a:xfrm>
          <a:prstGeom prst="rect">
            <a:avLst/>
          </a:prstGeom>
          <a:solidFill>
            <a:srgbClr val="0F2942">
              <a:alpha val="80000"/>
            </a:srgbClr>
          </a:solidFill>
          <a:ln w="9144">
            <a:solidFill>
              <a:srgbClr val="38BDF8">
                <a:alpha val="30000"/>
              </a:srgbClr>
            </a:solidFill>
            <a:prstDash val="solid"/>
          </a:ln>
        </p:spPr>
      </p:sp>
      <p:pic>
        <p:nvPicPr>
          <p:cNvPr id="17" name="Image 1" descr="preencoded.png">    </p:cNvPr>
          <p:cNvPicPr>
            <a:picLocks noChangeAspect="1"/>
          </p:cNvPicPr>
          <p:nvPr/>
        </p:nvPicPr>
        <p:blipFill>
          <a:blip r:embed="rId2"/>
          <a:stretch>
            <a:fillRect/>
          </a:stretch>
        </p:blipFill>
        <p:spPr>
          <a:xfrm>
            <a:off x="3396853" y="1743745"/>
            <a:ext cx="107156" cy="142875"/>
          </a:xfrm>
          <a:prstGeom prst="rect">
            <a:avLst/>
          </a:prstGeom>
        </p:spPr>
      </p:pic>
      <p:sp>
        <p:nvSpPr>
          <p:cNvPr id="18" name="Text 13"/>
          <p:cNvSpPr/>
          <p:nvPr/>
        </p:nvSpPr>
        <p:spPr>
          <a:xfrm>
            <a:off x="3679031" y="1686595"/>
            <a:ext cx="2035969" cy="389334"/>
          </a:xfrm>
          <a:prstGeom prst="rect">
            <a:avLst/>
          </a:prstGeom>
          <a:noFill/>
          <a:ln/>
        </p:spPr>
        <p:txBody>
          <a:bodyPr wrap="square" lIns="0" tIns="0" rIns="0" bIns="0" rtlCol="0" anchor="t">
            <a:spAutoFit/>
          </a:bodyPr>
          <a:lstStyle/>
          <a:p>
            <a:pPr algn="l" indent="0" marL="0">
              <a:lnSpc>
                <a:spcPts val="1400"/>
              </a:lnSpc>
              <a:buNone/>
            </a:pPr>
            <a:r>
              <a:rPr lang="en-US" sz="987" b="1" dirty="0">
                <a:solidFill>
                  <a:srgbClr val="FFFFFF"/>
                </a:solidFill>
              </a:rPr>
              <a:t>Federal &amp; DoD Contractors</a:t>
            </a:r>
            <a:endParaRPr lang="en-US" sz="987" dirty="0"/>
          </a:p>
        </p:txBody>
      </p:sp>
      <p:sp>
        <p:nvSpPr>
          <p:cNvPr id="19" name="Text 14"/>
          <p:cNvSpPr/>
          <p:nvPr/>
        </p:nvSpPr>
        <p:spPr>
          <a:xfrm>
            <a:off x="3679031" y="2118792"/>
            <a:ext cx="2035969" cy="462865"/>
          </a:xfrm>
          <a:prstGeom prst="rect">
            <a:avLst/>
          </a:prstGeom>
          <a:noFill/>
          <a:ln/>
        </p:spPr>
        <p:txBody>
          <a:bodyPr wrap="square" lIns="0" tIns="0" rIns="0" bIns="0" rtlCol="0" anchor="t">
            <a:spAutoFit/>
          </a:bodyPr>
          <a:lstStyle/>
          <a:p>
            <a:pPr algn="l" indent="0" marL="0">
              <a:lnSpc>
                <a:spcPts val="1200"/>
              </a:lnSpc>
              <a:buNone/>
            </a:pPr>
            <a:r>
              <a:rPr lang="en-US" sz="834" dirty="0">
                <a:solidFill>
                  <a:srgbClr val="E2E8F0"/>
                </a:solidFill>
              </a:rPr>
              <a:t>Organizations handling CUI that must meet mandatory CMMC 2.0 Level 2 requirements.</a:t>
            </a:r>
            <a:endParaRPr lang="en-US" sz="834" dirty="0"/>
          </a:p>
        </p:txBody>
      </p:sp>
      <p:sp>
        <p:nvSpPr>
          <p:cNvPr id="20" name="Shape 15"/>
          <p:cNvSpPr/>
          <p:nvPr/>
        </p:nvSpPr>
        <p:spPr>
          <a:xfrm>
            <a:off x="5965031" y="1615157"/>
            <a:ext cx="2607469" cy="843269"/>
          </a:xfrm>
          <a:prstGeom prst="rect">
            <a:avLst/>
          </a:prstGeom>
          <a:solidFill>
            <a:srgbClr val="0F2942">
              <a:alpha val="60000"/>
            </a:srgbClr>
          </a:solidFill>
          <a:ln/>
        </p:spPr>
      </p:sp>
      <p:sp>
        <p:nvSpPr>
          <p:cNvPr id="21" name="Shape 16"/>
          <p:cNvSpPr/>
          <p:nvPr/>
        </p:nvSpPr>
        <p:spPr>
          <a:xfrm>
            <a:off x="5965031" y="1615157"/>
            <a:ext cx="28575" cy="843269"/>
          </a:xfrm>
          <a:prstGeom prst="rect">
            <a:avLst/>
          </a:prstGeom>
          <a:solidFill>
            <a:srgbClr val="94A3B8"/>
          </a:solidFill>
          <a:ln/>
        </p:spPr>
      </p:sp>
      <p:sp>
        <p:nvSpPr>
          <p:cNvPr id="22" name="Shape 17"/>
          <p:cNvSpPr/>
          <p:nvPr/>
        </p:nvSpPr>
        <p:spPr>
          <a:xfrm>
            <a:off x="6072188" y="1686595"/>
            <a:ext cx="257175" cy="257175"/>
          </a:xfrm>
          <a:prstGeom prst="rect">
            <a:avLst/>
          </a:prstGeom>
          <a:solidFill>
            <a:srgbClr val="0F2942">
              <a:alpha val="80000"/>
            </a:srgbClr>
          </a:solidFill>
          <a:ln w="9144">
            <a:solidFill>
              <a:srgbClr val="38BDF8">
                <a:alpha val="30000"/>
              </a:srgbClr>
            </a:solidFill>
            <a:prstDash val="solid"/>
          </a:ln>
        </p:spPr>
      </p:sp>
      <p:pic>
        <p:nvPicPr>
          <p:cNvPr id="23" name="Image 2" descr="preencoded.png">    </p:cNvPr>
          <p:cNvPicPr>
            <a:picLocks noChangeAspect="1"/>
          </p:cNvPicPr>
          <p:nvPr/>
        </p:nvPicPr>
        <p:blipFill>
          <a:blip r:embed="rId3"/>
          <a:stretch>
            <a:fillRect/>
          </a:stretch>
        </p:blipFill>
        <p:spPr>
          <a:xfrm>
            <a:off x="6111478" y="1743745"/>
            <a:ext cx="178594" cy="142875"/>
          </a:xfrm>
          <a:prstGeom prst="rect">
            <a:avLst/>
          </a:prstGeom>
        </p:spPr>
      </p:pic>
      <p:sp>
        <p:nvSpPr>
          <p:cNvPr id="24" name="Text 18"/>
          <p:cNvSpPr/>
          <p:nvPr/>
        </p:nvSpPr>
        <p:spPr>
          <a:xfrm>
            <a:off x="6429375" y="1686595"/>
            <a:ext cx="2035969"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Small Businesses</a:t>
            </a:r>
            <a:endParaRPr lang="en-US" sz="987" dirty="0"/>
          </a:p>
        </p:txBody>
      </p:sp>
      <p:sp>
        <p:nvSpPr>
          <p:cNvPr id="25" name="Text 19"/>
          <p:cNvSpPr/>
          <p:nvPr/>
        </p:nvSpPr>
        <p:spPr>
          <a:xfrm>
            <a:off x="6429375" y="1924124"/>
            <a:ext cx="2035969" cy="462865"/>
          </a:xfrm>
          <a:prstGeom prst="rect">
            <a:avLst/>
          </a:prstGeom>
          <a:noFill/>
          <a:ln/>
        </p:spPr>
        <p:txBody>
          <a:bodyPr wrap="square" lIns="0" tIns="0" rIns="0" bIns="0" rtlCol="0" anchor="t">
            <a:spAutoFit/>
          </a:bodyPr>
          <a:lstStyle/>
          <a:p>
            <a:pPr algn="l" indent="0" marL="0">
              <a:lnSpc>
                <a:spcPts val="1200"/>
              </a:lnSpc>
              <a:buNone/>
            </a:pPr>
            <a:r>
              <a:rPr lang="en-US" sz="834" dirty="0">
                <a:solidFill>
                  <a:srgbClr val="E2E8F0"/>
                </a:solidFill>
              </a:rPr>
              <a:t>Companies without large IT or compliance teams who need a managed, efficient solution.</a:t>
            </a:r>
            <a:endParaRPr lang="en-US" sz="834" dirty="0"/>
          </a:p>
        </p:txBody>
      </p:sp>
      <p:sp>
        <p:nvSpPr>
          <p:cNvPr id="26" name="Shape 20"/>
          <p:cNvSpPr/>
          <p:nvPr/>
        </p:nvSpPr>
        <p:spPr>
          <a:xfrm>
            <a:off x="3214688" y="2738819"/>
            <a:ext cx="2607469" cy="843269"/>
          </a:xfrm>
          <a:prstGeom prst="rect">
            <a:avLst/>
          </a:prstGeom>
          <a:solidFill>
            <a:srgbClr val="0F2942">
              <a:alpha val="60000"/>
            </a:srgbClr>
          </a:solidFill>
          <a:ln/>
        </p:spPr>
      </p:sp>
      <p:sp>
        <p:nvSpPr>
          <p:cNvPr id="27" name="Shape 21"/>
          <p:cNvSpPr/>
          <p:nvPr/>
        </p:nvSpPr>
        <p:spPr>
          <a:xfrm>
            <a:off x="3214688" y="2738819"/>
            <a:ext cx="28575" cy="843269"/>
          </a:xfrm>
          <a:prstGeom prst="rect">
            <a:avLst/>
          </a:prstGeom>
          <a:solidFill>
            <a:srgbClr val="94A3B8"/>
          </a:solidFill>
          <a:ln/>
        </p:spPr>
      </p:sp>
      <p:sp>
        <p:nvSpPr>
          <p:cNvPr id="28" name="Shape 22"/>
          <p:cNvSpPr/>
          <p:nvPr/>
        </p:nvSpPr>
        <p:spPr>
          <a:xfrm>
            <a:off x="3321844" y="2810256"/>
            <a:ext cx="257175" cy="257175"/>
          </a:xfrm>
          <a:prstGeom prst="rect">
            <a:avLst/>
          </a:prstGeom>
          <a:solidFill>
            <a:srgbClr val="0F2942">
              <a:alpha val="80000"/>
            </a:srgbClr>
          </a:solidFill>
          <a:ln w="9144">
            <a:solidFill>
              <a:srgbClr val="38BDF8">
                <a:alpha val="30000"/>
              </a:srgbClr>
            </a:solidFill>
            <a:prstDash val="solid"/>
          </a:ln>
        </p:spPr>
      </p:sp>
      <p:pic>
        <p:nvPicPr>
          <p:cNvPr id="29" name="Image 3" descr="preencoded.png">    </p:cNvPr>
          <p:cNvPicPr>
            <a:picLocks noChangeAspect="1"/>
          </p:cNvPicPr>
          <p:nvPr/>
        </p:nvPicPr>
        <p:blipFill>
          <a:blip r:embed="rId4"/>
          <a:stretch>
            <a:fillRect/>
          </a:stretch>
        </p:blipFill>
        <p:spPr>
          <a:xfrm>
            <a:off x="3370064" y="2867406"/>
            <a:ext cx="160734" cy="142875"/>
          </a:xfrm>
          <a:prstGeom prst="rect">
            <a:avLst/>
          </a:prstGeom>
        </p:spPr>
      </p:pic>
      <p:sp>
        <p:nvSpPr>
          <p:cNvPr id="30" name="Text 23"/>
          <p:cNvSpPr/>
          <p:nvPr/>
        </p:nvSpPr>
        <p:spPr>
          <a:xfrm>
            <a:off x="3679031" y="2810256"/>
            <a:ext cx="2035969"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First-Time Assessments</a:t>
            </a:r>
            <a:endParaRPr lang="en-US" sz="987" dirty="0"/>
          </a:p>
        </p:txBody>
      </p:sp>
      <p:sp>
        <p:nvSpPr>
          <p:cNvPr id="31" name="Text 24"/>
          <p:cNvSpPr/>
          <p:nvPr/>
        </p:nvSpPr>
        <p:spPr>
          <a:xfrm>
            <a:off x="3679031" y="3047786"/>
            <a:ext cx="2035969" cy="462865"/>
          </a:xfrm>
          <a:prstGeom prst="rect">
            <a:avLst/>
          </a:prstGeom>
          <a:noFill/>
          <a:ln/>
        </p:spPr>
        <p:txBody>
          <a:bodyPr wrap="square" lIns="0" tIns="0" rIns="0" bIns="0" rtlCol="0" anchor="t">
            <a:spAutoFit/>
          </a:bodyPr>
          <a:lstStyle/>
          <a:p>
            <a:pPr algn="l" indent="0" marL="0">
              <a:lnSpc>
                <a:spcPts val="1200"/>
              </a:lnSpc>
              <a:buNone/>
            </a:pPr>
            <a:r>
              <a:rPr lang="en-US" sz="834" dirty="0">
                <a:solidFill>
                  <a:srgbClr val="E2E8F0"/>
                </a:solidFill>
              </a:rPr>
              <a:t>Organizations facing their first CMMC assessment and needing a clear starting point.</a:t>
            </a:r>
            <a:endParaRPr lang="en-US" sz="834" dirty="0"/>
          </a:p>
        </p:txBody>
      </p:sp>
      <p:sp>
        <p:nvSpPr>
          <p:cNvPr id="32" name="Shape 25"/>
          <p:cNvSpPr/>
          <p:nvPr/>
        </p:nvSpPr>
        <p:spPr>
          <a:xfrm>
            <a:off x="5965031" y="2738819"/>
            <a:ext cx="2607469" cy="843269"/>
          </a:xfrm>
          <a:prstGeom prst="rect">
            <a:avLst/>
          </a:prstGeom>
          <a:solidFill>
            <a:srgbClr val="0F2942">
              <a:alpha val="60000"/>
            </a:srgbClr>
          </a:solidFill>
          <a:ln/>
        </p:spPr>
      </p:sp>
      <p:sp>
        <p:nvSpPr>
          <p:cNvPr id="33" name="Shape 26"/>
          <p:cNvSpPr/>
          <p:nvPr/>
        </p:nvSpPr>
        <p:spPr>
          <a:xfrm>
            <a:off x="5965031" y="2738819"/>
            <a:ext cx="28575" cy="843269"/>
          </a:xfrm>
          <a:prstGeom prst="rect">
            <a:avLst/>
          </a:prstGeom>
          <a:solidFill>
            <a:srgbClr val="94A3B8"/>
          </a:solidFill>
          <a:ln/>
        </p:spPr>
      </p:sp>
      <p:sp>
        <p:nvSpPr>
          <p:cNvPr id="34" name="Shape 27"/>
          <p:cNvSpPr/>
          <p:nvPr/>
        </p:nvSpPr>
        <p:spPr>
          <a:xfrm>
            <a:off x="6072188" y="2810256"/>
            <a:ext cx="257175" cy="257175"/>
          </a:xfrm>
          <a:prstGeom prst="rect">
            <a:avLst/>
          </a:prstGeom>
          <a:solidFill>
            <a:srgbClr val="0F2942">
              <a:alpha val="80000"/>
            </a:srgbClr>
          </a:solidFill>
          <a:ln w="9144">
            <a:solidFill>
              <a:srgbClr val="38BDF8">
                <a:alpha val="30000"/>
              </a:srgbClr>
            </a:solidFill>
            <a:prstDash val="solid"/>
          </a:ln>
        </p:spPr>
      </p:sp>
      <p:pic>
        <p:nvPicPr>
          <p:cNvPr id="35" name="Image 4" descr="preencoded.png">    </p:cNvPr>
          <p:cNvPicPr>
            <a:picLocks noChangeAspect="1"/>
          </p:cNvPicPr>
          <p:nvPr/>
        </p:nvPicPr>
        <p:blipFill>
          <a:blip r:embed="rId5"/>
          <a:stretch>
            <a:fillRect/>
          </a:stretch>
        </p:blipFill>
        <p:spPr>
          <a:xfrm>
            <a:off x="6138267" y="2867406"/>
            <a:ext cx="125016" cy="142875"/>
          </a:xfrm>
          <a:prstGeom prst="rect">
            <a:avLst/>
          </a:prstGeom>
        </p:spPr>
      </p:pic>
      <p:sp>
        <p:nvSpPr>
          <p:cNvPr id="36" name="Text 28"/>
          <p:cNvSpPr/>
          <p:nvPr/>
        </p:nvSpPr>
        <p:spPr>
          <a:xfrm>
            <a:off x="6429375" y="2810256"/>
            <a:ext cx="2035969"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Fast Movers</a:t>
            </a:r>
            <a:endParaRPr lang="en-US" sz="987" dirty="0"/>
          </a:p>
        </p:txBody>
      </p:sp>
      <p:sp>
        <p:nvSpPr>
          <p:cNvPr id="37" name="Text 29"/>
          <p:cNvSpPr/>
          <p:nvPr/>
        </p:nvSpPr>
        <p:spPr>
          <a:xfrm>
            <a:off x="6429375" y="3047786"/>
            <a:ext cx="2035969" cy="462865"/>
          </a:xfrm>
          <a:prstGeom prst="rect">
            <a:avLst/>
          </a:prstGeom>
          <a:noFill/>
          <a:ln/>
        </p:spPr>
        <p:txBody>
          <a:bodyPr wrap="square" lIns="0" tIns="0" rIns="0" bIns="0" rtlCol="0" anchor="t">
            <a:spAutoFit/>
          </a:bodyPr>
          <a:lstStyle/>
          <a:p>
            <a:pPr algn="l" indent="0" marL="0">
              <a:lnSpc>
                <a:spcPts val="1200"/>
              </a:lnSpc>
              <a:buNone/>
            </a:pPr>
            <a:r>
              <a:rPr lang="en-US" sz="834" dirty="0">
                <a:solidFill>
                  <a:srgbClr val="E2E8F0"/>
                </a:solidFill>
              </a:rPr>
              <a:t>Companies that need to get compliant fast to bid on or retain contracts.</a:t>
            </a:r>
            <a:endParaRPr lang="en-US" sz="834" dirty="0"/>
          </a:p>
        </p:txBody>
      </p:sp>
      <p:sp>
        <p:nvSpPr>
          <p:cNvPr id="38" name="Shape 30"/>
          <p:cNvSpPr/>
          <p:nvPr/>
        </p:nvSpPr>
        <p:spPr>
          <a:xfrm>
            <a:off x="3214688" y="3667813"/>
            <a:ext cx="2607469" cy="688981"/>
          </a:xfrm>
          <a:prstGeom prst="rect">
            <a:avLst/>
          </a:prstGeom>
          <a:solidFill>
            <a:srgbClr val="0F2942">
              <a:alpha val="60000"/>
            </a:srgbClr>
          </a:solidFill>
          <a:ln/>
        </p:spPr>
      </p:sp>
      <p:sp>
        <p:nvSpPr>
          <p:cNvPr id="39" name="Shape 31"/>
          <p:cNvSpPr/>
          <p:nvPr/>
        </p:nvSpPr>
        <p:spPr>
          <a:xfrm>
            <a:off x="3214688" y="3667813"/>
            <a:ext cx="28575" cy="688981"/>
          </a:xfrm>
          <a:prstGeom prst="rect">
            <a:avLst/>
          </a:prstGeom>
          <a:solidFill>
            <a:srgbClr val="94A3B8"/>
          </a:solidFill>
          <a:ln/>
        </p:spPr>
      </p:sp>
      <p:sp>
        <p:nvSpPr>
          <p:cNvPr id="40" name="Shape 32"/>
          <p:cNvSpPr/>
          <p:nvPr/>
        </p:nvSpPr>
        <p:spPr>
          <a:xfrm>
            <a:off x="3321844" y="3739251"/>
            <a:ext cx="257175" cy="257175"/>
          </a:xfrm>
          <a:prstGeom prst="rect">
            <a:avLst/>
          </a:prstGeom>
          <a:solidFill>
            <a:srgbClr val="0F2942">
              <a:alpha val="80000"/>
            </a:srgbClr>
          </a:solidFill>
          <a:ln w="9144">
            <a:solidFill>
              <a:srgbClr val="38BDF8">
                <a:alpha val="30000"/>
              </a:srgbClr>
            </a:solidFill>
            <a:prstDash val="solid"/>
          </a:ln>
        </p:spPr>
      </p:sp>
      <p:pic>
        <p:nvPicPr>
          <p:cNvPr id="41" name="Image 5" descr="preencoded.png">    </p:cNvPr>
          <p:cNvPicPr>
            <a:picLocks noChangeAspect="1"/>
          </p:cNvPicPr>
          <p:nvPr/>
        </p:nvPicPr>
        <p:blipFill>
          <a:blip r:embed="rId6"/>
          <a:stretch>
            <a:fillRect/>
          </a:stretch>
        </p:blipFill>
        <p:spPr>
          <a:xfrm>
            <a:off x="3378994" y="3796401"/>
            <a:ext cx="142875" cy="142875"/>
          </a:xfrm>
          <a:prstGeom prst="rect">
            <a:avLst/>
          </a:prstGeom>
        </p:spPr>
      </p:pic>
      <p:sp>
        <p:nvSpPr>
          <p:cNvPr id="42" name="Text 33"/>
          <p:cNvSpPr/>
          <p:nvPr/>
        </p:nvSpPr>
        <p:spPr>
          <a:xfrm>
            <a:off x="3679031" y="3739251"/>
            <a:ext cx="2035969"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Evidence Seekers</a:t>
            </a:r>
            <a:endParaRPr lang="en-US" sz="987" dirty="0"/>
          </a:p>
        </p:txBody>
      </p:sp>
      <p:sp>
        <p:nvSpPr>
          <p:cNvPr id="43" name="Text 34"/>
          <p:cNvSpPr/>
          <p:nvPr/>
        </p:nvSpPr>
        <p:spPr>
          <a:xfrm>
            <a:off x="3679031" y="3976781"/>
            <a:ext cx="2035969" cy="308577"/>
          </a:xfrm>
          <a:prstGeom prst="rect">
            <a:avLst/>
          </a:prstGeom>
          <a:noFill/>
          <a:ln/>
        </p:spPr>
        <p:txBody>
          <a:bodyPr wrap="square" lIns="0" tIns="0" rIns="0" bIns="0" rtlCol="0" anchor="t">
            <a:spAutoFit/>
          </a:bodyPr>
          <a:lstStyle/>
          <a:p>
            <a:pPr algn="l" indent="0" marL="0">
              <a:lnSpc>
                <a:spcPts val="1200"/>
              </a:lnSpc>
              <a:buNone/>
            </a:pPr>
            <a:r>
              <a:rPr lang="en-US" sz="834" dirty="0">
                <a:solidFill>
                  <a:srgbClr val="E2E8F0"/>
                </a:solidFill>
              </a:rPr>
              <a:t>Anyone wanting a clear, auditable, evidence-ready CUI environment.</a:t>
            </a:r>
            <a:endParaRPr lang="en-US" sz="834" dirty="0"/>
          </a:p>
        </p:txBody>
      </p:sp>
      <p:sp>
        <p:nvSpPr>
          <p:cNvPr id="44" name="Text 35"/>
          <p:cNvSpPr/>
          <p:nvPr/>
        </p:nvSpPr>
        <p:spPr>
          <a:xfrm>
            <a:off x="571500" y="4936331"/>
            <a:ext cx="8001000" cy="135731"/>
          </a:xfrm>
          <a:prstGeom prst="rect">
            <a:avLst/>
          </a:prstGeom>
          <a:noFill/>
          <a:ln/>
        </p:spPr>
        <p:txBody>
          <a:bodyPr wrap="none" lIns="0" tIns="0" rIns="0" bIns="0" rtlCol="0" anchor="t">
            <a:spAutoFit/>
          </a:bodyPr>
          <a:lstStyle/>
          <a:p>
            <a:pPr algn="r" indent="0" marL="0">
              <a:lnSpc>
                <a:spcPts val="900"/>
              </a:lnSpc>
              <a:buNone/>
            </a:pPr>
            <a:r>
              <a:rPr lang="en-US" sz="727" dirty="0">
                <a:solidFill>
                  <a:srgbClr val="94A3B8">
                    <a:alpha val="60000"/>
                  </a:srgbClr>
                </a:solidFill>
              </a:rPr>
              <a:t>MACTECH TRUST CODEX // SLIDE 11</a:t>
            </a:r>
            <a:endParaRPr lang="en-US" sz="727"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71500" y="428625"/>
            <a:ext cx="8001000" cy="709352"/>
          </a:xfrm>
          <a:prstGeom prst="rect">
            <a:avLst/>
          </a:prstGeom>
          <a:solidFill>
            <a:srgbClr val="000000">
              <a:alpha val="0"/>
            </a:srgbClr>
          </a:solidFill>
          <a:ln/>
        </p:spPr>
      </p:sp>
      <p:sp>
        <p:nvSpPr>
          <p:cNvPr id="5" name="Shape 1"/>
          <p:cNvSpPr/>
          <p:nvPr/>
        </p:nvSpPr>
        <p:spPr>
          <a:xfrm>
            <a:off x="571500" y="1123690"/>
            <a:ext cx="8001000" cy="14288"/>
          </a:xfrm>
          <a:prstGeom prst="rect">
            <a:avLst/>
          </a:prstGeom>
          <a:solidFill>
            <a:srgbClr val="38BDF8"/>
          </a:solidFill>
          <a:ln/>
        </p:spPr>
      </p:sp>
      <p:sp>
        <p:nvSpPr>
          <p:cNvPr id="6" name="Text 2"/>
          <p:cNvSpPr/>
          <p:nvPr/>
        </p:nvSpPr>
        <p:spPr>
          <a:xfrm>
            <a:off x="571500" y="428625"/>
            <a:ext cx="8001000" cy="175022"/>
          </a:xfrm>
          <a:prstGeom prst="rect">
            <a:avLst/>
          </a:prstGeom>
          <a:noFill/>
          <a:ln/>
        </p:spPr>
        <p:txBody>
          <a:bodyPr wrap="none" lIns="0" tIns="0" rIns="0" bIns="0" rtlCol="0" anchor="t">
            <a:spAutoFit/>
          </a:bodyPr>
          <a:lstStyle/>
          <a:p>
            <a:pPr algn="l" indent="0" marL="0">
              <a:lnSpc>
                <a:spcPts val="1200"/>
              </a:lnSpc>
              <a:buNone/>
            </a:pPr>
            <a:r>
              <a:rPr lang="en-US" sz="942" spc="2" kern="0" dirty="0">
                <a:solidFill>
                  <a:srgbClr val="38BDF8"/>
                </a:solidFill>
              </a:rPr>
              <a:t>Why MacTech?</a:t>
            </a:r>
            <a:endParaRPr lang="en-US" sz="942" dirty="0"/>
          </a:p>
        </p:txBody>
      </p:sp>
      <p:sp>
        <p:nvSpPr>
          <p:cNvPr id="7" name="Text 3"/>
          <p:cNvSpPr/>
          <p:nvPr/>
        </p:nvSpPr>
        <p:spPr>
          <a:xfrm>
            <a:off x="571500" y="675084"/>
            <a:ext cx="7143750" cy="377168"/>
          </a:xfrm>
          <a:prstGeom prst="rect">
            <a:avLst/>
          </a:prstGeom>
          <a:noFill/>
          <a:ln/>
        </p:spPr>
        <p:txBody>
          <a:bodyPr wrap="none" lIns="0" tIns="0" rIns="0" bIns="0" rtlCol="0" anchor="t">
            <a:spAutoFit/>
          </a:bodyPr>
          <a:lstStyle/>
          <a:p>
            <a:pPr algn="l" indent="0" marL="0">
              <a:lnSpc>
                <a:spcPts val="3000"/>
              </a:lnSpc>
              <a:buNone/>
            </a:pPr>
            <a:r>
              <a:rPr lang="en-US" sz="2436" b="1" dirty="0">
                <a:solidFill>
                  <a:srgbClr val="FFFFFF"/>
                </a:solidFill>
              </a:rPr>
              <a:t>Experience, Precision, and Speed</a:t>
            </a:r>
            <a:endParaRPr lang="en-US" sz="2436" dirty="0"/>
          </a:p>
        </p:txBody>
      </p:sp>
      <p:sp>
        <p:nvSpPr>
          <p:cNvPr id="8" name="Shape 4"/>
          <p:cNvSpPr/>
          <p:nvPr/>
        </p:nvSpPr>
        <p:spPr>
          <a:xfrm>
            <a:off x="7858125" y="1095115"/>
            <a:ext cx="714375" cy="71438"/>
          </a:xfrm>
          <a:prstGeom prst="rect">
            <a:avLst/>
          </a:prstGeom>
          <a:solidFill>
            <a:srgbClr val="38BDF8"/>
          </a:solidFill>
          <a:ln/>
        </p:spPr>
      </p:sp>
      <p:sp>
        <p:nvSpPr>
          <p:cNvPr id="9" name="Shape 5"/>
          <p:cNvSpPr/>
          <p:nvPr/>
        </p:nvSpPr>
        <p:spPr>
          <a:xfrm>
            <a:off x="571500" y="1338002"/>
            <a:ext cx="8001000" cy="3455454"/>
          </a:xfrm>
          <a:prstGeom prst="rect">
            <a:avLst/>
          </a:prstGeom>
          <a:solidFill>
            <a:srgbClr val="000000">
              <a:alpha val="0"/>
            </a:srgbClr>
          </a:solidFill>
          <a:ln w="9144">
            <a:solidFill>
              <a:srgbClr val="38BDF8">
                <a:alpha val="30000"/>
              </a:srgbClr>
            </a:solidFill>
            <a:prstDash val="dash"/>
          </a:ln>
        </p:spPr>
      </p:sp>
      <p:sp>
        <p:nvSpPr>
          <p:cNvPr id="10" name="Shape 6"/>
          <p:cNvSpPr/>
          <p:nvPr/>
        </p:nvSpPr>
        <p:spPr>
          <a:xfrm>
            <a:off x="4357688" y="2851417"/>
            <a:ext cx="428625" cy="428625"/>
          </a:xfrm>
          <a:prstGeom prst="ellipse">
            <a:avLst/>
          </a:prstGeom>
          <a:solidFill>
            <a:srgbClr val="0F2942"/>
          </a:solidFill>
          <a:ln w="18288">
            <a:solidFill>
              <a:srgbClr val="38BDF8"/>
            </a:solidFill>
            <a:prstDash val="solid"/>
          </a:ln>
        </p:spPr>
      </p:sp>
      <p:pic>
        <p:nvPicPr>
          <p:cNvPr id="11" name="Image 1" descr="preencoded.png">    </p:cNvPr>
          <p:cNvPicPr>
            <a:picLocks noChangeAspect="1"/>
          </p:cNvPicPr>
          <p:nvPr/>
        </p:nvPicPr>
        <p:blipFill>
          <a:blip r:embed="rId2"/>
          <a:stretch>
            <a:fillRect/>
          </a:stretch>
        </p:blipFill>
        <p:spPr>
          <a:xfrm>
            <a:off x="4486275" y="2980004"/>
            <a:ext cx="171450" cy="171450"/>
          </a:xfrm>
          <a:prstGeom prst="rect">
            <a:avLst/>
          </a:prstGeom>
        </p:spPr>
      </p:pic>
      <p:pic>
        <p:nvPicPr>
          <p:cNvPr id="12" name="Image 2" descr="preencoded.png">    </p:cNvPr>
          <p:cNvPicPr>
            <a:picLocks noChangeAspect="1"/>
          </p:cNvPicPr>
          <p:nvPr/>
        </p:nvPicPr>
        <p:blipFill>
          <a:blip r:embed="rId3"/>
          <a:stretch>
            <a:fillRect/>
          </a:stretch>
        </p:blipFill>
        <p:spPr>
          <a:xfrm>
            <a:off x="857250" y="1744666"/>
            <a:ext cx="285750" cy="228600"/>
          </a:xfrm>
          <a:prstGeom prst="rect">
            <a:avLst/>
          </a:prstGeom>
        </p:spPr>
      </p:pic>
      <p:sp>
        <p:nvSpPr>
          <p:cNvPr id="13" name="Text 7"/>
          <p:cNvSpPr/>
          <p:nvPr/>
        </p:nvSpPr>
        <p:spPr>
          <a:xfrm>
            <a:off x="1250156" y="1733057"/>
            <a:ext cx="1467706" cy="251817"/>
          </a:xfrm>
          <a:prstGeom prst="rect">
            <a:avLst/>
          </a:prstGeom>
          <a:noFill/>
          <a:ln/>
        </p:spPr>
        <p:txBody>
          <a:bodyPr wrap="none" lIns="0" tIns="0" rIns="0" bIns="0" rtlCol="0" anchor="t">
            <a:spAutoFit/>
          </a:bodyPr>
          <a:lstStyle/>
          <a:p>
            <a:pPr algn="l" indent="0" marL="0">
              <a:lnSpc>
                <a:spcPts val="1800"/>
              </a:lnSpc>
              <a:buNone/>
            </a:pPr>
            <a:r>
              <a:rPr lang="en-US" sz="1295" b="1" dirty="0">
                <a:solidFill>
                  <a:srgbClr val="FFFFFF"/>
                </a:solidFill>
              </a:rPr>
              <a:t>Deep Expertise</a:t>
            </a:r>
            <a:endParaRPr lang="en-US" sz="1295" dirty="0"/>
          </a:p>
        </p:txBody>
      </p:sp>
      <p:sp>
        <p:nvSpPr>
          <p:cNvPr id="14" name="Text 8"/>
          <p:cNvSpPr/>
          <p:nvPr/>
        </p:nvSpPr>
        <p:spPr>
          <a:xfrm>
            <a:off x="857250" y="2092030"/>
            <a:ext cx="3429000" cy="578644"/>
          </a:xfrm>
          <a:prstGeom prst="rect">
            <a:avLst/>
          </a:prstGeom>
          <a:noFill/>
          <a:ln/>
        </p:spPr>
        <p:txBody>
          <a:bodyPr wrap="square" lIns="467741" tIns="0" rIns="0" bIns="0" rtlCol="0" anchor="t">
            <a:spAutoFit/>
          </a:bodyPr>
          <a:lstStyle/>
          <a:p>
            <a:pPr algn="l" indent="0" marL="0">
              <a:lnSpc>
                <a:spcPts val="1500"/>
              </a:lnSpc>
              <a:buNone/>
            </a:pPr>
            <a:r>
              <a:rPr lang="en-US" sz="942" dirty="0">
                <a:solidFill>
                  <a:srgbClr val="E2E8F0"/>
                </a:solidFill>
              </a:rPr>
              <a:t>Deep knowledge of CMMC 2.0, NIST 800-171, and federal compliance. We know what assessors look for.</a:t>
            </a:r>
            <a:endParaRPr lang="en-US" sz="942" dirty="0"/>
          </a:p>
        </p:txBody>
      </p:sp>
      <p:sp>
        <p:nvSpPr>
          <p:cNvPr id="15" name="Shape 9"/>
          <p:cNvSpPr/>
          <p:nvPr/>
        </p:nvSpPr>
        <p:spPr>
          <a:xfrm>
            <a:off x="4572000" y="1338002"/>
            <a:ext cx="4000500" cy="1727727"/>
          </a:xfrm>
          <a:prstGeom prst="rect">
            <a:avLst/>
          </a:prstGeom>
          <a:solidFill>
            <a:srgbClr val="0F2942">
              <a:alpha val="30000"/>
            </a:srgbClr>
          </a:solidFill>
          <a:ln/>
        </p:spPr>
      </p:sp>
      <p:pic>
        <p:nvPicPr>
          <p:cNvPr id="16" name="Image 3" descr="preencoded.png">    </p:cNvPr>
          <p:cNvPicPr>
            <a:picLocks noChangeAspect="1"/>
          </p:cNvPicPr>
          <p:nvPr/>
        </p:nvPicPr>
        <p:blipFill>
          <a:blip r:embed="rId4"/>
          <a:stretch>
            <a:fillRect/>
          </a:stretch>
        </p:blipFill>
        <p:spPr>
          <a:xfrm>
            <a:off x="4857750" y="1841106"/>
            <a:ext cx="285750" cy="228600"/>
          </a:xfrm>
          <a:prstGeom prst="rect">
            <a:avLst/>
          </a:prstGeom>
        </p:spPr>
      </p:pic>
      <p:sp>
        <p:nvSpPr>
          <p:cNvPr id="17" name="Text 10"/>
          <p:cNvSpPr/>
          <p:nvPr/>
        </p:nvSpPr>
        <p:spPr>
          <a:xfrm>
            <a:off x="5250656" y="1829498"/>
            <a:ext cx="2385454" cy="251817"/>
          </a:xfrm>
          <a:prstGeom prst="rect">
            <a:avLst/>
          </a:prstGeom>
          <a:noFill/>
          <a:ln/>
        </p:spPr>
        <p:txBody>
          <a:bodyPr wrap="none" lIns="0" tIns="0" rIns="0" bIns="0" rtlCol="0" anchor="t">
            <a:spAutoFit/>
          </a:bodyPr>
          <a:lstStyle/>
          <a:p>
            <a:pPr algn="l" indent="0" marL="0">
              <a:lnSpc>
                <a:spcPts val="1800"/>
              </a:lnSpc>
              <a:buNone/>
            </a:pPr>
            <a:r>
              <a:rPr lang="en-US" sz="1295" b="1" dirty="0">
                <a:solidFill>
                  <a:srgbClr val="FFFFFF"/>
                </a:solidFill>
              </a:rPr>
              <a:t>Pre-Built Architecture</a:t>
            </a:r>
            <a:endParaRPr lang="en-US" sz="1295" dirty="0"/>
          </a:p>
        </p:txBody>
      </p:sp>
      <p:sp>
        <p:nvSpPr>
          <p:cNvPr id="18" name="Text 11"/>
          <p:cNvSpPr/>
          <p:nvPr/>
        </p:nvSpPr>
        <p:spPr>
          <a:xfrm>
            <a:off x="4857750" y="2188471"/>
            <a:ext cx="3429000" cy="385763"/>
          </a:xfrm>
          <a:prstGeom prst="rect">
            <a:avLst/>
          </a:prstGeom>
          <a:noFill/>
          <a:ln/>
        </p:spPr>
        <p:txBody>
          <a:bodyPr wrap="square" lIns="467741" tIns="0" rIns="0" bIns="0" rtlCol="0" anchor="t">
            <a:spAutoFit/>
          </a:bodyPr>
          <a:lstStyle/>
          <a:p>
            <a:pPr algn="l" indent="0" marL="0">
              <a:lnSpc>
                <a:spcPts val="1500"/>
              </a:lnSpc>
              <a:buNone/>
            </a:pPr>
            <a:r>
              <a:rPr lang="en-US" sz="942" dirty="0">
                <a:solidFill>
                  <a:srgbClr val="E2E8F0"/>
                </a:solidFill>
              </a:rPr>
              <a:t>A tested, hardened environment. This is </a:t>
            </a:r>
            <a:pPr algn="l" indent="0" marL="0">
              <a:lnSpc>
                <a:spcPts val="1500"/>
              </a:lnSpc>
              <a:buNone/>
            </a:pPr>
            <a:r>
              <a:rPr lang="en-US" sz="885" b="1" dirty="0">
                <a:solidFill>
                  <a:srgbClr val="38BDF8"/>
                </a:solidFill>
              </a:rPr>
              <a:t>not </a:t>
            </a:r>
            <a:pPr algn="l" indent="0" marL="0">
              <a:lnSpc>
                <a:spcPts val="1500"/>
              </a:lnSpc>
              <a:buNone/>
            </a:pPr>
            <a:r>
              <a:rPr lang="en-US" sz="885" b="1" dirty="0">
                <a:solidFill>
                  <a:srgbClr val="38BDF8"/>
                </a:solidFill>
              </a:rPr>
              <a:t>custom consulting</a:t>
            </a:r>
            <a:pPr algn="l" indent="0" marL="0">
              <a:lnSpc>
                <a:spcPts val="1500"/>
              </a:lnSpc>
              <a:buNone/>
            </a:pPr>
            <a:r>
              <a:rPr lang="en-US" sz="942" dirty="0">
                <a:solidFill>
                  <a:srgbClr val="E2E8F0"/>
                </a:solidFill>
              </a:rPr>
              <a:t>—it's a productized solution.</a:t>
            </a:r>
            <a:endParaRPr lang="en-US" sz="942" dirty="0"/>
          </a:p>
        </p:txBody>
      </p:sp>
      <p:sp>
        <p:nvSpPr>
          <p:cNvPr id="19" name="Shape 12"/>
          <p:cNvSpPr/>
          <p:nvPr/>
        </p:nvSpPr>
        <p:spPr>
          <a:xfrm>
            <a:off x="571500" y="3065729"/>
            <a:ext cx="4000500" cy="1727727"/>
          </a:xfrm>
          <a:prstGeom prst="rect">
            <a:avLst/>
          </a:prstGeom>
          <a:solidFill>
            <a:srgbClr val="0F2942">
              <a:alpha val="30000"/>
            </a:srgbClr>
          </a:solidFill>
          <a:ln/>
        </p:spPr>
      </p:sp>
      <p:pic>
        <p:nvPicPr>
          <p:cNvPr id="20" name="Image 4" descr="preencoded.png">    </p:cNvPr>
          <p:cNvPicPr>
            <a:picLocks noChangeAspect="1"/>
          </p:cNvPicPr>
          <p:nvPr/>
        </p:nvPicPr>
        <p:blipFill>
          <a:blip r:embed="rId5"/>
          <a:stretch>
            <a:fillRect/>
          </a:stretch>
        </p:blipFill>
        <p:spPr>
          <a:xfrm>
            <a:off x="857250" y="3568833"/>
            <a:ext cx="285750" cy="228600"/>
          </a:xfrm>
          <a:prstGeom prst="rect">
            <a:avLst/>
          </a:prstGeom>
        </p:spPr>
      </p:pic>
      <p:sp>
        <p:nvSpPr>
          <p:cNvPr id="21" name="Text 13"/>
          <p:cNvSpPr/>
          <p:nvPr/>
        </p:nvSpPr>
        <p:spPr>
          <a:xfrm>
            <a:off x="1250156" y="3557225"/>
            <a:ext cx="1794979" cy="251817"/>
          </a:xfrm>
          <a:prstGeom prst="rect">
            <a:avLst/>
          </a:prstGeom>
          <a:noFill/>
          <a:ln/>
        </p:spPr>
        <p:txBody>
          <a:bodyPr wrap="none" lIns="0" tIns="0" rIns="0" bIns="0" rtlCol="0" anchor="t">
            <a:spAutoFit/>
          </a:bodyPr>
          <a:lstStyle/>
          <a:p>
            <a:pPr algn="l" indent="0" marL="0">
              <a:lnSpc>
                <a:spcPts val="1800"/>
              </a:lnSpc>
              <a:buNone/>
            </a:pPr>
            <a:r>
              <a:rPr lang="en-US" sz="1295" b="1" dirty="0">
                <a:solidFill>
                  <a:srgbClr val="FFFFFF"/>
                </a:solidFill>
              </a:rPr>
              <a:t>Turnkey Delivery</a:t>
            </a:r>
            <a:endParaRPr lang="en-US" sz="1295" dirty="0"/>
          </a:p>
        </p:txBody>
      </p:sp>
      <p:sp>
        <p:nvSpPr>
          <p:cNvPr id="22" name="Text 14"/>
          <p:cNvSpPr/>
          <p:nvPr/>
        </p:nvSpPr>
        <p:spPr>
          <a:xfrm>
            <a:off x="857250" y="3916198"/>
            <a:ext cx="3429000" cy="385763"/>
          </a:xfrm>
          <a:prstGeom prst="rect">
            <a:avLst/>
          </a:prstGeom>
          <a:noFill/>
          <a:ln/>
        </p:spPr>
        <p:txBody>
          <a:bodyPr wrap="square" lIns="467741" tIns="0" rIns="0" bIns="0" rtlCol="0" anchor="t">
            <a:spAutoFit/>
          </a:bodyPr>
          <a:lstStyle/>
          <a:p>
            <a:pPr algn="l" indent="0" marL="0">
              <a:lnSpc>
                <a:spcPts val="1500"/>
              </a:lnSpc>
              <a:buNone/>
            </a:pPr>
            <a:r>
              <a:rPr lang="en-US" sz="942" dirty="0">
                <a:solidFill>
                  <a:srgbClr val="E2E8F0"/>
                </a:solidFill>
              </a:rPr>
              <a:t>You get a working vault, not a plan. </a:t>
            </a:r>
            <a:pPr algn="l" indent="0" marL="0">
              <a:lnSpc>
                <a:spcPts val="1500"/>
              </a:lnSpc>
              <a:buNone/>
            </a:pPr>
            <a:r>
              <a:rPr lang="en-US" sz="885" b="1" dirty="0">
                <a:solidFill>
                  <a:srgbClr val="38BDF8"/>
                </a:solidFill>
              </a:rPr>
              <a:t>Evidence-</a:t>
            </a:r>
            <a:pPr algn="l" indent="0" marL="0">
              <a:lnSpc>
                <a:spcPts val="1500"/>
              </a:lnSpc>
              <a:buNone/>
            </a:pPr>
            <a:r>
              <a:rPr lang="en-US" sz="885" b="1" dirty="0">
                <a:solidFill>
                  <a:srgbClr val="38BDF8"/>
                </a:solidFill>
              </a:rPr>
              <a:t>ready</a:t>
            </a:r>
            <a:pPr algn="l" indent="0" marL="0">
              <a:lnSpc>
                <a:spcPts val="1500"/>
              </a:lnSpc>
              <a:buNone/>
            </a:pPr>
            <a:r>
              <a:rPr lang="en-US" sz="942" dirty="0">
                <a:solidFill>
                  <a:srgbClr val="E2E8F0"/>
                </a:solidFill>
              </a:rPr>
              <a:t> from day one.</a:t>
            </a:r>
            <a:endParaRPr lang="en-US" sz="942" dirty="0"/>
          </a:p>
        </p:txBody>
      </p:sp>
      <p:sp>
        <p:nvSpPr>
          <p:cNvPr id="23" name="Shape 15"/>
          <p:cNvSpPr/>
          <p:nvPr/>
        </p:nvSpPr>
        <p:spPr>
          <a:xfrm>
            <a:off x="4572000" y="3065729"/>
            <a:ext cx="4000500" cy="1727727"/>
          </a:xfrm>
          <a:prstGeom prst="rect">
            <a:avLst/>
          </a:prstGeom>
          <a:solidFill>
            <a:srgbClr val="0F2942">
              <a:alpha val="30000"/>
            </a:srgbClr>
          </a:solidFill>
          <a:ln/>
        </p:spPr>
      </p:sp>
      <p:pic>
        <p:nvPicPr>
          <p:cNvPr id="24" name="Image 5" descr="preencoded.png">    </p:cNvPr>
          <p:cNvPicPr>
            <a:picLocks noChangeAspect="1"/>
          </p:cNvPicPr>
          <p:nvPr/>
        </p:nvPicPr>
        <p:blipFill>
          <a:blip r:embed="rId6"/>
          <a:stretch>
            <a:fillRect/>
          </a:stretch>
        </p:blipFill>
        <p:spPr>
          <a:xfrm>
            <a:off x="4857750" y="3568833"/>
            <a:ext cx="285750" cy="228600"/>
          </a:xfrm>
          <a:prstGeom prst="rect">
            <a:avLst/>
          </a:prstGeom>
        </p:spPr>
      </p:pic>
      <p:sp>
        <p:nvSpPr>
          <p:cNvPr id="25" name="Text 16"/>
          <p:cNvSpPr/>
          <p:nvPr/>
        </p:nvSpPr>
        <p:spPr>
          <a:xfrm>
            <a:off x="5250656" y="3557225"/>
            <a:ext cx="1822298" cy="251817"/>
          </a:xfrm>
          <a:prstGeom prst="rect">
            <a:avLst/>
          </a:prstGeom>
          <a:noFill/>
          <a:ln/>
        </p:spPr>
        <p:txBody>
          <a:bodyPr wrap="none" lIns="0" tIns="0" rIns="0" bIns="0" rtlCol="0" anchor="t">
            <a:spAutoFit/>
          </a:bodyPr>
          <a:lstStyle/>
          <a:p>
            <a:pPr algn="l" indent="0" marL="0">
              <a:lnSpc>
                <a:spcPts val="1800"/>
              </a:lnSpc>
              <a:buNone/>
            </a:pPr>
            <a:r>
              <a:rPr lang="en-US" sz="1295" b="1" dirty="0">
                <a:solidFill>
                  <a:srgbClr val="FFFFFF"/>
                </a:solidFill>
              </a:rPr>
              <a:t>Proven Approach</a:t>
            </a:r>
            <a:endParaRPr lang="en-US" sz="1295" dirty="0"/>
          </a:p>
        </p:txBody>
      </p:sp>
      <p:sp>
        <p:nvSpPr>
          <p:cNvPr id="26" name="Text 17"/>
          <p:cNvSpPr/>
          <p:nvPr/>
        </p:nvSpPr>
        <p:spPr>
          <a:xfrm>
            <a:off x="4857750" y="3916198"/>
            <a:ext cx="3429000" cy="385763"/>
          </a:xfrm>
          <a:prstGeom prst="rect">
            <a:avLst/>
          </a:prstGeom>
          <a:noFill/>
          <a:ln/>
        </p:spPr>
        <p:txBody>
          <a:bodyPr wrap="square" lIns="467741" tIns="0" rIns="0" bIns="0" rtlCol="0" anchor="t">
            <a:spAutoFit/>
          </a:bodyPr>
          <a:lstStyle/>
          <a:p>
            <a:pPr algn="l" indent="0" marL="0">
              <a:lnSpc>
                <a:spcPts val="1500"/>
              </a:lnSpc>
              <a:buNone/>
            </a:pPr>
            <a:r>
              <a:rPr lang="en-US" sz="942" dirty="0">
                <a:solidFill>
                  <a:srgbClr val="E2E8F0"/>
                </a:solidFill>
              </a:rPr>
              <a:t>Designed specifically for small businesses and </a:t>
            </a:r>
            <a:pPr algn="l" indent="0" marL="0">
              <a:lnSpc>
                <a:spcPts val="1500"/>
              </a:lnSpc>
              <a:buNone/>
            </a:pPr>
            <a:r>
              <a:rPr lang="en-US" sz="885" b="1" dirty="0">
                <a:solidFill>
                  <a:srgbClr val="38BDF8"/>
                </a:solidFill>
              </a:rPr>
              <a:t>validated by assessors</a:t>
            </a:r>
            <a:pPr algn="l" indent="0" marL="0">
              <a:lnSpc>
                <a:spcPts val="1500"/>
              </a:lnSpc>
              <a:buNone/>
            </a:pPr>
            <a:r>
              <a:rPr lang="en-US" sz="942" dirty="0">
                <a:solidFill>
                  <a:srgbClr val="E2E8F0"/>
                </a:solidFill>
              </a:rPr>
              <a:t>.</a:t>
            </a:r>
            <a:endParaRPr lang="en-US" sz="942" dirty="0"/>
          </a:p>
        </p:txBody>
      </p:sp>
      <p:sp>
        <p:nvSpPr>
          <p:cNvPr id="27" name="Text 18"/>
          <p:cNvSpPr/>
          <p:nvPr/>
        </p:nvSpPr>
        <p:spPr>
          <a:xfrm>
            <a:off x="571500" y="4936331"/>
            <a:ext cx="8001000" cy="135731"/>
          </a:xfrm>
          <a:prstGeom prst="rect">
            <a:avLst/>
          </a:prstGeom>
          <a:noFill/>
          <a:ln/>
        </p:spPr>
        <p:txBody>
          <a:bodyPr wrap="none" lIns="0" tIns="0" rIns="0" bIns="0" rtlCol="0" anchor="t">
            <a:spAutoFit/>
          </a:bodyPr>
          <a:lstStyle/>
          <a:p>
            <a:pPr algn="r" indent="0" marL="0">
              <a:lnSpc>
                <a:spcPts val="900"/>
              </a:lnSpc>
              <a:buNone/>
            </a:pPr>
            <a:r>
              <a:rPr lang="en-US" sz="727" dirty="0">
                <a:solidFill>
                  <a:srgbClr val="94A3B8">
                    <a:alpha val="60000"/>
                  </a:srgbClr>
                </a:solidFill>
              </a:rPr>
              <a:t>MACTECH TRUST CODEX // SLIDE 12</a:t>
            </a:r>
            <a:endParaRPr lang="en-US" sz="727"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71500" y="428625"/>
            <a:ext cx="8001000" cy="709352"/>
          </a:xfrm>
          <a:prstGeom prst="rect">
            <a:avLst/>
          </a:prstGeom>
          <a:solidFill>
            <a:srgbClr val="000000">
              <a:alpha val="0"/>
            </a:srgbClr>
          </a:solidFill>
          <a:ln/>
        </p:spPr>
      </p:sp>
      <p:sp>
        <p:nvSpPr>
          <p:cNvPr id="5" name="Shape 1"/>
          <p:cNvSpPr/>
          <p:nvPr/>
        </p:nvSpPr>
        <p:spPr>
          <a:xfrm>
            <a:off x="571500" y="1123690"/>
            <a:ext cx="8001000" cy="14288"/>
          </a:xfrm>
          <a:prstGeom prst="rect">
            <a:avLst/>
          </a:prstGeom>
          <a:solidFill>
            <a:srgbClr val="38BDF8"/>
          </a:solidFill>
          <a:ln/>
        </p:spPr>
      </p:sp>
      <p:sp>
        <p:nvSpPr>
          <p:cNvPr id="6" name="Text 2"/>
          <p:cNvSpPr/>
          <p:nvPr/>
        </p:nvSpPr>
        <p:spPr>
          <a:xfrm>
            <a:off x="571500" y="428625"/>
            <a:ext cx="8001000" cy="175022"/>
          </a:xfrm>
          <a:prstGeom prst="rect">
            <a:avLst/>
          </a:prstGeom>
          <a:noFill/>
          <a:ln/>
        </p:spPr>
        <p:txBody>
          <a:bodyPr wrap="none" lIns="0" tIns="0" rIns="0" bIns="0" rtlCol="0" anchor="t">
            <a:spAutoFit/>
          </a:bodyPr>
          <a:lstStyle/>
          <a:p>
            <a:pPr algn="l" indent="0" marL="0">
              <a:lnSpc>
                <a:spcPts val="1200"/>
              </a:lnSpc>
              <a:buNone/>
            </a:pPr>
            <a:r>
              <a:rPr lang="en-US" sz="942" spc="2" kern="0" dirty="0">
                <a:solidFill>
                  <a:srgbClr val="38BDF8"/>
                </a:solidFill>
              </a:rPr>
              <a:t>Getting Started</a:t>
            </a:r>
            <a:endParaRPr lang="en-US" sz="942" dirty="0"/>
          </a:p>
        </p:txBody>
      </p:sp>
      <p:sp>
        <p:nvSpPr>
          <p:cNvPr id="7" name="Text 3"/>
          <p:cNvSpPr/>
          <p:nvPr/>
        </p:nvSpPr>
        <p:spPr>
          <a:xfrm>
            <a:off x="571500" y="675084"/>
            <a:ext cx="7143750" cy="377168"/>
          </a:xfrm>
          <a:prstGeom prst="rect">
            <a:avLst/>
          </a:prstGeom>
          <a:noFill/>
          <a:ln/>
        </p:spPr>
        <p:txBody>
          <a:bodyPr wrap="none" lIns="0" tIns="0" rIns="0" bIns="0" rtlCol="0" anchor="t">
            <a:spAutoFit/>
          </a:bodyPr>
          <a:lstStyle/>
          <a:p>
            <a:pPr algn="l" indent="0" marL="0">
              <a:lnSpc>
                <a:spcPts val="3000"/>
              </a:lnSpc>
              <a:buNone/>
            </a:pPr>
            <a:r>
              <a:rPr lang="en-US" sz="2436" b="1" dirty="0">
                <a:solidFill>
                  <a:srgbClr val="FFFFFF"/>
                </a:solidFill>
              </a:rPr>
              <a:t>Three Simple Steps</a:t>
            </a:r>
            <a:endParaRPr lang="en-US" sz="2436" dirty="0"/>
          </a:p>
        </p:txBody>
      </p:sp>
      <p:sp>
        <p:nvSpPr>
          <p:cNvPr id="8" name="Shape 4"/>
          <p:cNvSpPr/>
          <p:nvPr/>
        </p:nvSpPr>
        <p:spPr>
          <a:xfrm>
            <a:off x="7858125" y="1095115"/>
            <a:ext cx="714375" cy="71438"/>
          </a:xfrm>
          <a:prstGeom prst="rect">
            <a:avLst/>
          </a:prstGeom>
          <a:solidFill>
            <a:srgbClr val="38BDF8"/>
          </a:solidFill>
          <a:ln/>
        </p:spPr>
      </p:sp>
      <p:sp>
        <p:nvSpPr>
          <p:cNvPr id="9" name="Shape 5"/>
          <p:cNvSpPr/>
          <p:nvPr/>
        </p:nvSpPr>
        <p:spPr>
          <a:xfrm>
            <a:off x="571500" y="1480877"/>
            <a:ext cx="2476509" cy="2414253"/>
          </a:xfrm>
          <a:prstGeom prst="rect">
            <a:avLst/>
          </a:prstGeom>
          <a:solidFill>
            <a:srgbClr val="0F2942">
              <a:alpha val="80000"/>
            </a:srgbClr>
          </a:solidFill>
          <a:ln w="9144">
            <a:solidFill>
              <a:srgbClr val="38BDF8"/>
            </a:solidFill>
            <a:prstDash val="solid"/>
          </a:ln>
        </p:spPr>
      </p:sp>
      <p:sp>
        <p:nvSpPr>
          <p:cNvPr id="10" name="Text 6"/>
          <p:cNvSpPr/>
          <p:nvPr/>
        </p:nvSpPr>
        <p:spPr>
          <a:xfrm>
            <a:off x="714375" y="1338002"/>
            <a:ext cx="392292" cy="466130"/>
          </a:xfrm>
          <a:prstGeom prst="rect">
            <a:avLst/>
          </a:prstGeom>
          <a:noFill/>
          <a:ln/>
        </p:spPr>
        <p:txBody>
          <a:bodyPr wrap="none" lIns="0" tIns="0" rIns="0" bIns="0" rtlCol="0" anchor="t">
            <a:spAutoFit/>
          </a:bodyPr>
          <a:lstStyle/>
          <a:p>
            <a:pPr algn="ctr" indent="0" marL="0">
              <a:lnSpc>
                <a:spcPts val="3200"/>
              </a:lnSpc>
              <a:buNone/>
            </a:pPr>
            <a:r>
              <a:rPr lang="en-US" sz="2436" b="1" dirty="0">
                <a:solidFill>
                  <a:srgbClr val="38BDF8">
                    <a:alpha val="20000"/>
                  </a:srgbClr>
                </a:solidFill>
              </a:rPr>
              <a:t>01</a:t>
            </a:r>
            <a:endParaRPr lang="en-US" sz="2436" dirty="0"/>
          </a:p>
        </p:txBody>
      </p:sp>
      <p:sp>
        <p:nvSpPr>
          <p:cNvPr id="11" name="Shape 7"/>
          <p:cNvSpPr/>
          <p:nvPr/>
        </p:nvSpPr>
        <p:spPr>
          <a:xfrm>
            <a:off x="1519219" y="1695190"/>
            <a:ext cx="571500" cy="571500"/>
          </a:xfrm>
          <a:prstGeom prst="ellipse">
            <a:avLst/>
          </a:prstGeom>
          <a:solidFill>
            <a:srgbClr val="0F2942"/>
          </a:solidFill>
          <a:ln w="18288">
            <a:solidFill>
              <a:srgbClr val="38BDF8"/>
            </a:solidFill>
            <a:prstDash val="solid"/>
          </a:ln>
        </p:spPr>
      </p:sp>
      <p:pic>
        <p:nvPicPr>
          <p:cNvPr id="12" name="Image 1" descr="preencoded.png">    </p:cNvPr>
          <p:cNvPicPr>
            <a:picLocks noChangeAspect="1"/>
          </p:cNvPicPr>
          <p:nvPr/>
        </p:nvPicPr>
        <p:blipFill>
          <a:blip r:embed="rId2"/>
          <a:stretch>
            <a:fillRect/>
          </a:stretch>
        </p:blipFill>
        <p:spPr>
          <a:xfrm>
            <a:off x="1662094" y="1866640"/>
            <a:ext cx="285750" cy="228600"/>
          </a:xfrm>
          <a:prstGeom prst="rect">
            <a:avLst/>
          </a:prstGeom>
        </p:spPr>
      </p:pic>
      <p:sp>
        <p:nvSpPr>
          <p:cNvPr id="13" name="Text 8"/>
          <p:cNvSpPr/>
          <p:nvPr/>
        </p:nvSpPr>
        <p:spPr>
          <a:xfrm>
            <a:off x="1399812" y="2409565"/>
            <a:ext cx="810313" cy="273248"/>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38BDF8"/>
                </a:solidFill>
              </a:rPr>
              <a:t>Engage</a:t>
            </a:r>
            <a:endParaRPr lang="en-US" sz="1397" dirty="0"/>
          </a:p>
        </p:txBody>
      </p:sp>
      <p:sp>
        <p:nvSpPr>
          <p:cNvPr id="14" name="Text 9"/>
          <p:cNvSpPr/>
          <p:nvPr/>
        </p:nvSpPr>
        <p:spPr>
          <a:xfrm>
            <a:off x="714375" y="2789969"/>
            <a:ext cx="2181216" cy="514350"/>
          </a:xfrm>
          <a:prstGeom prst="rect">
            <a:avLst/>
          </a:prstGeom>
          <a:noFill/>
          <a:ln/>
        </p:spPr>
        <p:txBody>
          <a:bodyPr wrap="square" lIns="0" tIns="0" rIns="0" bIns="0" rtlCol="0" anchor="t">
            <a:spAutoFit/>
          </a:bodyPr>
          <a:lstStyle/>
          <a:p>
            <a:pPr algn="ctr" indent="0" marL="0">
              <a:lnSpc>
                <a:spcPts val="1400"/>
              </a:lnSpc>
              <a:buNone/>
            </a:pPr>
            <a:r>
              <a:rPr lang="en-US" sz="834" dirty="0">
                <a:solidFill>
                  <a:srgbClr val="E2E8F0"/>
                </a:solidFill>
              </a:rPr>
              <a:t>Initial consultation to understand your CUI environment and contract requirements.</a:t>
            </a:r>
            <a:endParaRPr lang="en-US" sz="834" dirty="0"/>
          </a:p>
        </p:txBody>
      </p:sp>
      <p:sp>
        <p:nvSpPr>
          <p:cNvPr id="15" name="Shape 10"/>
          <p:cNvSpPr/>
          <p:nvPr/>
        </p:nvSpPr>
        <p:spPr>
          <a:xfrm>
            <a:off x="3324216" y="1480877"/>
            <a:ext cx="2481253" cy="2414253"/>
          </a:xfrm>
          <a:prstGeom prst="rect">
            <a:avLst/>
          </a:prstGeom>
          <a:solidFill>
            <a:srgbClr val="0F2942">
              <a:alpha val="80000"/>
            </a:srgbClr>
          </a:solidFill>
          <a:ln w="9144">
            <a:solidFill>
              <a:srgbClr val="38BDF8"/>
            </a:solidFill>
            <a:prstDash val="solid"/>
          </a:ln>
        </p:spPr>
      </p:sp>
      <p:sp>
        <p:nvSpPr>
          <p:cNvPr id="16" name="Text 11"/>
          <p:cNvSpPr/>
          <p:nvPr/>
        </p:nvSpPr>
        <p:spPr>
          <a:xfrm>
            <a:off x="3471863" y="1338002"/>
            <a:ext cx="392292" cy="466130"/>
          </a:xfrm>
          <a:prstGeom prst="rect">
            <a:avLst/>
          </a:prstGeom>
          <a:noFill/>
          <a:ln/>
        </p:spPr>
        <p:txBody>
          <a:bodyPr wrap="none" lIns="0" tIns="0" rIns="0" bIns="0" rtlCol="0" anchor="t">
            <a:spAutoFit/>
          </a:bodyPr>
          <a:lstStyle/>
          <a:p>
            <a:pPr algn="ctr" indent="0" marL="0">
              <a:lnSpc>
                <a:spcPts val="3200"/>
              </a:lnSpc>
              <a:buNone/>
            </a:pPr>
            <a:r>
              <a:rPr lang="en-US" sz="2436" b="1" dirty="0">
                <a:solidFill>
                  <a:srgbClr val="38BDF8">
                    <a:alpha val="20000"/>
                  </a:srgbClr>
                </a:solidFill>
              </a:rPr>
              <a:t>02</a:t>
            </a:r>
            <a:endParaRPr lang="en-US" sz="2436" dirty="0"/>
          </a:p>
        </p:txBody>
      </p:sp>
      <p:sp>
        <p:nvSpPr>
          <p:cNvPr id="17" name="Shape 12"/>
          <p:cNvSpPr/>
          <p:nvPr/>
        </p:nvSpPr>
        <p:spPr>
          <a:xfrm>
            <a:off x="4279106" y="1695190"/>
            <a:ext cx="571500" cy="571500"/>
          </a:xfrm>
          <a:prstGeom prst="ellipse">
            <a:avLst/>
          </a:prstGeom>
          <a:solidFill>
            <a:srgbClr val="0F2942"/>
          </a:solidFill>
          <a:ln w="18288">
            <a:solidFill>
              <a:srgbClr val="38BDF8"/>
            </a:solidFill>
            <a:prstDash val="solid"/>
          </a:ln>
        </p:spPr>
      </p:sp>
      <p:pic>
        <p:nvPicPr>
          <p:cNvPr id="18" name="Image 2" descr="preencoded.png">    </p:cNvPr>
          <p:cNvPicPr>
            <a:picLocks noChangeAspect="1"/>
          </p:cNvPicPr>
          <p:nvPr/>
        </p:nvPicPr>
        <p:blipFill>
          <a:blip r:embed="rId3"/>
          <a:stretch>
            <a:fillRect/>
          </a:stretch>
        </p:blipFill>
        <p:spPr>
          <a:xfrm>
            <a:off x="4450556" y="1866640"/>
            <a:ext cx="228600" cy="228600"/>
          </a:xfrm>
          <a:prstGeom prst="rect">
            <a:avLst/>
          </a:prstGeom>
        </p:spPr>
      </p:pic>
      <p:sp>
        <p:nvSpPr>
          <p:cNvPr id="19" name="Text 13"/>
          <p:cNvSpPr/>
          <p:nvPr/>
        </p:nvSpPr>
        <p:spPr>
          <a:xfrm>
            <a:off x="4176499" y="2409565"/>
            <a:ext cx="776715" cy="273248"/>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38BDF8"/>
                </a:solidFill>
              </a:rPr>
              <a:t>Deploy</a:t>
            </a:r>
            <a:endParaRPr lang="en-US" sz="1397" dirty="0"/>
          </a:p>
        </p:txBody>
      </p:sp>
      <p:sp>
        <p:nvSpPr>
          <p:cNvPr id="20" name="Text 14"/>
          <p:cNvSpPr/>
          <p:nvPr/>
        </p:nvSpPr>
        <p:spPr>
          <a:xfrm>
            <a:off x="3471863" y="2789969"/>
            <a:ext cx="2185988" cy="342900"/>
          </a:xfrm>
          <a:prstGeom prst="rect">
            <a:avLst/>
          </a:prstGeom>
          <a:noFill/>
          <a:ln/>
        </p:spPr>
        <p:txBody>
          <a:bodyPr wrap="square" lIns="0" tIns="0" rIns="0" bIns="0" rtlCol="0" anchor="t">
            <a:spAutoFit/>
          </a:bodyPr>
          <a:lstStyle/>
          <a:p>
            <a:pPr algn="ctr" indent="0" marL="0">
              <a:lnSpc>
                <a:spcPts val="1400"/>
              </a:lnSpc>
              <a:buNone/>
            </a:pPr>
            <a:r>
              <a:rPr lang="en-US" sz="834" dirty="0">
                <a:solidFill>
                  <a:srgbClr val="E2E8F0"/>
                </a:solidFill>
              </a:rPr>
              <a:t>MacTech delivers and configures your CUI Vault Enclave + Trust Codex.</a:t>
            </a:r>
            <a:endParaRPr lang="en-US" sz="834" dirty="0"/>
          </a:p>
        </p:txBody>
      </p:sp>
      <p:sp>
        <p:nvSpPr>
          <p:cNvPr id="21" name="Shape 15"/>
          <p:cNvSpPr/>
          <p:nvPr/>
        </p:nvSpPr>
        <p:spPr>
          <a:xfrm>
            <a:off x="6086475" y="1480877"/>
            <a:ext cx="2486025" cy="2414253"/>
          </a:xfrm>
          <a:prstGeom prst="rect">
            <a:avLst/>
          </a:prstGeom>
          <a:solidFill>
            <a:srgbClr val="0F2942">
              <a:alpha val="80000"/>
            </a:srgbClr>
          </a:solidFill>
          <a:ln w="9144">
            <a:solidFill>
              <a:srgbClr val="38BDF8"/>
            </a:solidFill>
            <a:prstDash val="solid"/>
          </a:ln>
        </p:spPr>
      </p:sp>
      <p:sp>
        <p:nvSpPr>
          <p:cNvPr id="22" name="Text 16"/>
          <p:cNvSpPr/>
          <p:nvPr/>
        </p:nvSpPr>
        <p:spPr>
          <a:xfrm>
            <a:off x="6238894" y="1338002"/>
            <a:ext cx="392292" cy="466130"/>
          </a:xfrm>
          <a:prstGeom prst="rect">
            <a:avLst/>
          </a:prstGeom>
          <a:noFill/>
          <a:ln/>
        </p:spPr>
        <p:txBody>
          <a:bodyPr wrap="none" lIns="0" tIns="0" rIns="0" bIns="0" rtlCol="0" anchor="t">
            <a:spAutoFit/>
          </a:bodyPr>
          <a:lstStyle/>
          <a:p>
            <a:pPr algn="ctr" indent="0" marL="0">
              <a:lnSpc>
                <a:spcPts val="3200"/>
              </a:lnSpc>
              <a:buNone/>
            </a:pPr>
            <a:r>
              <a:rPr lang="en-US" sz="2436" b="1" dirty="0">
                <a:solidFill>
                  <a:srgbClr val="38BDF8">
                    <a:alpha val="20000"/>
                  </a:srgbClr>
                </a:solidFill>
              </a:rPr>
              <a:t>03</a:t>
            </a:r>
            <a:endParaRPr lang="en-US" sz="2436" dirty="0"/>
          </a:p>
        </p:txBody>
      </p:sp>
      <p:sp>
        <p:nvSpPr>
          <p:cNvPr id="23" name="Shape 17"/>
          <p:cNvSpPr/>
          <p:nvPr/>
        </p:nvSpPr>
        <p:spPr>
          <a:xfrm>
            <a:off x="7048509" y="1695190"/>
            <a:ext cx="571500" cy="571500"/>
          </a:xfrm>
          <a:prstGeom prst="ellipse">
            <a:avLst/>
          </a:prstGeom>
          <a:solidFill>
            <a:srgbClr val="0F2942"/>
          </a:solidFill>
          <a:ln w="18288">
            <a:solidFill>
              <a:srgbClr val="38BDF8"/>
            </a:solidFill>
            <a:prstDash val="solid"/>
          </a:ln>
        </p:spPr>
      </p:sp>
      <p:pic>
        <p:nvPicPr>
          <p:cNvPr id="24" name="Image 3" descr="preencoded.png">    </p:cNvPr>
          <p:cNvPicPr>
            <a:picLocks noChangeAspect="1"/>
          </p:cNvPicPr>
          <p:nvPr/>
        </p:nvPicPr>
        <p:blipFill>
          <a:blip r:embed="rId4"/>
          <a:stretch>
            <a:fillRect/>
          </a:stretch>
        </p:blipFill>
        <p:spPr>
          <a:xfrm>
            <a:off x="7248534" y="1866640"/>
            <a:ext cx="171450" cy="228600"/>
          </a:xfrm>
          <a:prstGeom prst="rect">
            <a:avLst/>
          </a:prstGeom>
        </p:spPr>
      </p:pic>
      <p:sp>
        <p:nvSpPr>
          <p:cNvPr id="25" name="Text 18"/>
          <p:cNvSpPr/>
          <p:nvPr/>
        </p:nvSpPr>
        <p:spPr>
          <a:xfrm>
            <a:off x="6988820" y="2409565"/>
            <a:ext cx="690907" cy="273248"/>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38BDF8"/>
                </a:solidFill>
              </a:rPr>
              <a:t>Assess</a:t>
            </a:r>
            <a:endParaRPr lang="en-US" sz="1397" dirty="0"/>
          </a:p>
        </p:txBody>
      </p:sp>
      <p:sp>
        <p:nvSpPr>
          <p:cNvPr id="26" name="Text 19"/>
          <p:cNvSpPr/>
          <p:nvPr/>
        </p:nvSpPr>
        <p:spPr>
          <a:xfrm>
            <a:off x="6238894" y="2789969"/>
            <a:ext cx="2190759" cy="342900"/>
          </a:xfrm>
          <a:prstGeom prst="rect">
            <a:avLst/>
          </a:prstGeom>
          <a:noFill/>
          <a:ln/>
        </p:spPr>
        <p:txBody>
          <a:bodyPr wrap="square" lIns="0" tIns="0" rIns="0" bIns="0" rtlCol="0" anchor="t">
            <a:spAutoFit/>
          </a:bodyPr>
          <a:lstStyle/>
          <a:p>
            <a:pPr algn="ctr" indent="0" marL="0">
              <a:lnSpc>
                <a:spcPts val="1400"/>
              </a:lnSpc>
              <a:buNone/>
            </a:pPr>
            <a:r>
              <a:rPr lang="en-US" sz="834" dirty="0">
                <a:solidFill>
                  <a:srgbClr val="E2E8F0"/>
                </a:solidFill>
              </a:rPr>
              <a:t>Walk into your C3PAO assessment with confidence and evidence.</a:t>
            </a:r>
            <a:endParaRPr lang="en-US" sz="834" dirty="0"/>
          </a:p>
        </p:txBody>
      </p:sp>
      <p:sp>
        <p:nvSpPr>
          <p:cNvPr id="27" name="Shape 20"/>
          <p:cNvSpPr/>
          <p:nvPr/>
        </p:nvSpPr>
        <p:spPr>
          <a:xfrm>
            <a:off x="571500" y="4180880"/>
            <a:ext cx="8001000" cy="612577"/>
          </a:xfrm>
          <a:prstGeom prst="rect">
            <a:avLst/>
          </a:prstGeom>
          <a:solidFill>
            <a:srgbClr val="38BDF8">
              <a:alpha val="20000"/>
            </a:srgbClr>
          </a:solidFill>
          <a:ln w="9144">
            <a:solidFill>
              <a:srgbClr val="38BDF8"/>
            </a:solidFill>
            <a:prstDash val="solid"/>
          </a:ln>
        </p:spPr>
      </p:sp>
      <p:sp>
        <p:nvSpPr>
          <p:cNvPr id="28" name="Text 21"/>
          <p:cNvSpPr/>
          <p:nvPr/>
        </p:nvSpPr>
        <p:spPr>
          <a:xfrm>
            <a:off x="1526139" y="4396978"/>
            <a:ext cx="1143167" cy="194667"/>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94A3B8"/>
                </a:solidFill>
              </a:rPr>
              <a:t>Total Timeline:</a:t>
            </a:r>
            <a:endParaRPr lang="en-US" sz="1050" dirty="0"/>
          </a:p>
        </p:txBody>
      </p:sp>
      <p:sp>
        <p:nvSpPr>
          <p:cNvPr id="29" name="Text 22"/>
          <p:cNvSpPr/>
          <p:nvPr/>
        </p:nvSpPr>
        <p:spPr>
          <a:xfrm>
            <a:off x="2812182" y="4338042"/>
            <a:ext cx="4805651" cy="31253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FFFFF"/>
                </a:solidFill>
              </a:rPr>
              <a:t>Under One Week for Small Businesses</a:t>
            </a:r>
            <a:endParaRPr lang="en-US" sz="1602" dirty="0"/>
          </a:p>
        </p:txBody>
      </p:sp>
      <p:sp>
        <p:nvSpPr>
          <p:cNvPr id="30" name="Text 23"/>
          <p:cNvSpPr/>
          <p:nvPr/>
        </p:nvSpPr>
        <p:spPr>
          <a:xfrm>
            <a:off x="571500" y="4936331"/>
            <a:ext cx="8001000" cy="135731"/>
          </a:xfrm>
          <a:prstGeom prst="rect">
            <a:avLst/>
          </a:prstGeom>
          <a:noFill/>
          <a:ln/>
        </p:spPr>
        <p:txBody>
          <a:bodyPr wrap="none" lIns="0" tIns="0" rIns="0" bIns="0" rtlCol="0" anchor="t">
            <a:spAutoFit/>
          </a:bodyPr>
          <a:lstStyle/>
          <a:p>
            <a:pPr algn="r" indent="0" marL="0">
              <a:lnSpc>
                <a:spcPts val="900"/>
              </a:lnSpc>
              <a:buNone/>
            </a:pPr>
            <a:r>
              <a:rPr lang="en-US" sz="727" dirty="0">
                <a:solidFill>
                  <a:srgbClr val="94A3B8">
                    <a:alpha val="60000"/>
                  </a:srgbClr>
                </a:solidFill>
              </a:rPr>
              <a:t>MACTECH TRUST CODEX // SLIDE 13</a:t>
            </a:r>
            <a:endParaRPr lang="en-US" sz="72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71500" y="428625"/>
            <a:ext cx="8001000" cy="1086520"/>
          </a:xfrm>
          <a:prstGeom prst="rect">
            <a:avLst/>
          </a:prstGeom>
          <a:solidFill>
            <a:srgbClr val="000000">
              <a:alpha val="0"/>
            </a:srgbClr>
          </a:solidFill>
          <a:ln/>
        </p:spPr>
      </p:sp>
      <p:sp>
        <p:nvSpPr>
          <p:cNvPr id="5" name="Shape 1"/>
          <p:cNvSpPr/>
          <p:nvPr/>
        </p:nvSpPr>
        <p:spPr>
          <a:xfrm>
            <a:off x="571500" y="1500857"/>
            <a:ext cx="8001000" cy="14288"/>
          </a:xfrm>
          <a:prstGeom prst="rect">
            <a:avLst/>
          </a:prstGeom>
          <a:solidFill>
            <a:srgbClr val="38BDF8"/>
          </a:solidFill>
          <a:ln/>
        </p:spPr>
      </p:sp>
      <p:sp>
        <p:nvSpPr>
          <p:cNvPr id="6" name="Text 2"/>
          <p:cNvSpPr/>
          <p:nvPr/>
        </p:nvSpPr>
        <p:spPr>
          <a:xfrm>
            <a:off x="571500" y="428625"/>
            <a:ext cx="8001000" cy="175022"/>
          </a:xfrm>
          <a:prstGeom prst="rect">
            <a:avLst/>
          </a:prstGeom>
          <a:noFill/>
          <a:ln/>
        </p:spPr>
        <p:txBody>
          <a:bodyPr wrap="none" lIns="0" tIns="0" rIns="0" bIns="0" rtlCol="0" anchor="t">
            <a:spAutoFit/>
          </a:bodyPr>
          <a:lstStyle/>
          <a:p>
            <a:pPr algn="l" indent="0" marL="0">
              <a:lnSpc>
                <a:spcPts val="1200"/>
              </a:lnSpc>
              <a:buNone/>
            </a:pPr>
            <a:r>
              <a:rPr lang="en-US" sz="942" spc="2" kern="0" dirty="0">
                <a:solidFill>
                  <a:srgbClr val="38BDF8"/>
                </a:solidFill>
              </a:rPr>
              <a:t>Call to Action</a:t>
            </a:r>
            <a:endParaRPr lang="en-US" sz="942" dirty="0"/>
          </a:p>
        </p:txBody>
      </p:sp>
      <p:sp>
        <p:nvSpPr>
          <p:cNvPr id="7" name="Text 3"/>
          <p:cNvSpPr/>
          <p:nvPr/>
        </p:nvSpPr>
        <p:spPr>
          <a:xfrm>
            <a:off x="571500" y="675084"/>
            <a:ext cx="7143750"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rPr>
              <a:t>Don't Let Compliance Block Your Contracts</a:t>
            </a:r>
            <a:endParaRPr lang="en-US" sz="2436" dirty="0"/>
          </a:p>
        </p:txBody>
      </p:sp>
      <p:sp>
        <p:nvSpPr>
          <p:cNvPr id="8" name="Shape 4"/>
          <p:cNvSpPr/>
          <p:nvPr/>
        </p:nvSpPr>
        <p:spPr>
          <a:xfrm>
            <a:off x="7858125" y="1472282"/>
            <a:ext cx="714375" cy="71438"/>
          </a:xfrm>
          <a:prstGeom prst="rect">
            <a:avLst/>
          </a:prstGeom>
          <a:solidFill>
            <a:srgbClr val="38BDF8"/>
          </a:solidFill>
          <a:ln/>
        </p:spPr>
      </p:sp>
      <p:sp>
        <p:nvSpPr>
          <p:cNvPr id="9" name="Shape 5"/>
          <p:cNvSpPr/>
          <p:nvPr/>
        </p:nvSpPr>
        <p:spPr>
          <a:xfrm>
            <a:off x="571500" y="1643732"/>
            <a:ext cx="3936206" cy="755786"/>
          </a:xfrm>
          <a:prstGeom prst="rect">
            <a:avLst/>
          </a:prstGeom>
          <a:solidFill>
            <a:srgbClr val="0F2942">
              <a:alpha val="60000"/>
            </a:srgbClr>
          </a:solidFill>
          <a:ln w="9144">
            <a:solidFill>
              <a:srgbClr val="FF6B6B"/>
            </a:solidFill>
            <a:prstDash val="solid"/>
          </a:ln>
        </p:spPr>
      </p:sp>
      <p:sp>
        <p:nvSpPr>
          <p:cNvPr id="10" name="Shape 6"/>
          <p:cNvSpPr/>
          <p:nvPr/>
        </p:nvSpPr>
        <p:spPr>
          <a:xfrm>
            <a:off x="657225" y="1729457"/>
            <a:ext cx="357188" cy="357188"/>
          </a:xfrm>
          <a:prstGeom prst="rect">
            <a:avLst/>
          </a:prstGeom>
          <a:solidFill>
            <a:srgbClr val="FF6B6B">
              <a:alpha val="10000"/>
            </a:srgbClr>
          </a:solidFill>
          <a:ln w="9144">
            <a:solidFill>
              <a:srgbClr val="FF6B6B">
                <a:alpha val="30000"/>
              </a:srgbClr>
            </a:solidFill>
            <a:prstDash val="solid"/>
          </a:ln>
        </p:spPr>
      </p:sp>
      <p:pic>
        <p:nvPicPr>
          <p:cNvPr id="11" name="Image 1" descr="preencoded.png">    </p:cNvPr>
          <p:cNvPicPr>
            <a:picLocks noChangeAspect="1"/>
          </p:cNvPicPr>
          <p:nvPr/>
        </p:nvPicPr>
        <p:blipFill>
          <a:blip r:embed="rId2"/>
          <a:stretch>
            <a:fillRect/>
          </a:stretch>
        </p:blipFill>
        <p:spPr>
          <a:xfrm>
            <a:off x="750094" y="1822326"/>
            <a:ext cx="171450" cy="171450"/>
          </a:xfrm>
          <a:prstGeom prst="rect">
            <a:avLst/>
          </a:prstGeom>
        </p:spPr>
      </p:pic>
      <p:sp>
        <p:nvSpPr>
          <p:cNvPr id="12" name="Text 7"/>
          <p:cNvSpPr/>
          <p:nvPr/>
        </p:nvSpPr>
        <p:spPr>
          <a:xfrm>
            <a:off x="1114425" y="1729457"/>
            <a:ext cx="3300413"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rPr>
              <a:t>Required, Not Optional</a:t>
            </a:r>
            <a:endParaRPr lang="en-US" sz="1090" dirty="0"/>
          </a:p>
        </p:txBody>
      </p:sp>
      <p:sp>
        <p:nvSpPr>
          <p:cNvPr id="13" name="Text 8"/>
          <p:cNvSpPr/>
          <p:nvPr/>
        </p:nvSpPr>
        <p:spPr>
          <a:xfrm>
            <a:off x="1114425" y="1979488"/>
            <a:ext cx="3300413"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E2E8F0"/>
                </a:solidFill>
              </a:rPr>
              <a:t>CMMC 2.0 Level 2 is mandatory. No compliance means no contract eligibility.</a:t>
            </a:r>
            <a:endParaRPr lang="en-US" sz="834" dirty="0"/>
          </a:p>
        </p:txBody>
      </p:sp>
      <p:sp>
        <p:nvSpPr>
          <p:cNvPr id="14" name="Shape 9"/>
          <p:cNvSpPr/>
          <p:nvPr/>
        </p:nvSpPr>
        <p:spPr>
          <a:xfrm>
            <a:off x="4629150" y="1643732"/>
            <a:ext cx="3943350" cy="755786"/>
          </a:xfrm>
          <a:prstGeom prst="rect">
            <a:avLst/>
          </a:prstGeom>
          <a:solidFill>
            <a:srgbClr val="0F2942">
              <a:alpha val="60000"/>
            </a:srgbClr>
          </a:solidFill>
          <a:ln w="9144">
            <a:solidFill>
              <a:srgbClr val="FF6B6B"/>
            </a:solidFill>
            <a:prstDash val="solid"/>
          </a:ln>
        </p:spPr>
      </p:sp>
      <p:sp>
        <p:nvSpPr>
          <p:cNvPr id="15" name="Shape 10"/>
          <p:cNvSpPr/>
          <p:nvPr/>
        </p:nvSpPr>
        <p:spPr>
          <a:xfrm>
            <a:off x="4722019" y="1729457"/>
            <a:ext cx="357188" cy="357188"/>
          </a:xfrm>
          <a:prstGeom prst="rect">
            <a:avLst/>
          </a:prstGeom>
          <a:solidFill>
            <a:srgbClr val="FF6B6B">
              <a:alpha val="10000"/>
            </a:srgbClr>
          </a:solidFill>
          <a:ln w="9144">
            <a:solidFill>
              <a:srgbClr val="FF6B6B">
                <a:alpha val="30000"/>
              </a:srgbClr>
            </a:solidFill>
            <a:prstDash val="solid"/>
          </a:ln>
        </p:spPr>
      </p:sp>
      <p:pic>
        <p:nvPicPr>
          <p:cNvPr id="16" name="Image 2" descr="preencoded.png">    </p:cNvPr>
          <p:cNvPicPr>
            <a:picLocks noChangeAspect="1"/>
          </p:cNvPicPr>
          <p:nvPr/>
        </p:nvPicPr>
        <p:blipFill>
          <a:blip r:embed="rId3"/>
          <a:stretch>
            <a:fillRect/>
          </a:stretch>
        </p:blipFill>
        <p:spPr>
          <a:xfrm>
            <a:off x="4814888" y="1822326"/>
            <a:ext cx="171450" cy="171450"/>
          </a:xfrm>
          <a:prstGeom prst="rect">
            <a:avLst/>
          </a:prstGeom>
        </p:spPr>
      </p:pic>
      <p:sp>
        <p:nvSpPr>
          <p:cNvPr id="17" name="Text 11"/>
          <p:cNvSpPr/>
          <p:nvPr/>
        </p:nvSpPr>
        <p:spPr>
          <a:xfrm>
            <a:off x="5179219" y="1729457"/>
            <a:ext cx="3307556"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rPr>
              <a:t>Ad Hoc Fails</a:t>
            </a:r>
            <a:endParaRPr lang="en-US" sz="1090" dirty="0"/>
          </a:p>
        </p:txBody>
      </p:sp>
      <p:sp>
        <p:nvSpPr>
          <p:cNvPr id="18" name="Text 12"/>
          <p:cNvSpPr/>
          <p:nvPr/>
        </p:nvSpPr>
        <p:spPr>
          <a:xfrm>
            <a:off x="5179219" y="1979488"/>
            <a:ext cx="3307556"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E2E8F0"/>
                </a:solidFill>
              </a:rPr>
              <a:t>Scattered CUI and manual processes will fail the assessment. Don't risk it.</a:t>
            </a:r>
            <a:endParaRPr lang="en-US" sz="834" dirty="0"/>
          </a:p>
        </p:txBody>
      </p:sp>
      <p:sp>
        <p:nvSpPr>
          <p:cNvPr id="19" name="Shape 13"/>
          <p:cNvSpPr/>
          <p:nvPr/>
        </p:nvSpPr>
        <p:spPr>
          <a:xfrm>
            <a:off x="1645686" y="2528106"/>
            <a:ext cx="5852629" cy="233958"/>
          </a:xfrm>
          <a:prstGeom prst="rect">
            <a:avLst/>
          </a:prstGeom>
          <a:solidFill>
            <a:srgbClr val="0F2942"/>
          </a:solidFill>
          <a:ln/>
        </p:spPr>
      </p:sp>
      <p:sp>
        <p:nvSpPr>
          <p:cNvPr id="20" name="Text 14"/>
          <p:cNvSpPr/>
          <p:nvPr/>
        </p:nvSpPr>
        <p:spPr>
          <a:xfrm>
            <a:off x="1645686" y="2528106"/>
            <a:ext cx="5852629" cy="233958"/>
          </a:xfrm>
          <a:prstGeom prst="rect">
            <a:avLst/>
          </a:prstGeom>
          <a:noFill/>
          <a:ln/>
        </p:spPr>
        <p:txBody>
          <a:bodyPr wrap="none" lIns="153035" tIns="0" rIns="153035" bIns="0" rtlCol="0" anchor="t">
            <a:spAutoFit/>
          </a:bodyPr>
          <a:lstStyle/>
          <a:p>
            <a:pPr algn="ctr" indent="0" marL="0">
              <a:lnSpc>
                <a:spcPts val="1600"/>
              </a:lnSpc>
              <a:buNone/>
            </a:pPr>
            <a:r>
              <a:rPr lang="en-US" sz="1269" dirty="0">
                <a:solidFill>
                  <a:srgbClr val="FFFFFF"/>
                </a:solidFill>
              </a:rPr>
              <a:t>The CUI Vault Enclave + Trust Codex Gets You Compliant Fast</a:t>
            </a:r>
            <a:endParaRPr lang="en-US" sz="1269" dirty="0"/>
          </a:p>
        </p:txBody>
      </p:sp>
      <p:sp>
        <p:nvSpPr>
          <p:cNvPr id="21" name="Shape 15"/>
          <p:cNvSpPr/>
          <p:nvPr/>
        </p:nvSpPr>
        <p:spPr>
          <a:xfrm>
            <a:off x="571500" y="3073208"/>
            <a:ext cx="8001000" cy="1694855"/>
          </a:xfrm>
          <a:prstGeom prst="rect">
            <a:avLst/>
          </a:prstGeom>
          <a:solidFill>
            <a:srgbClr val="38BDF8">
              <a:alpha val="10000"/>
            </a:srgbClr>
          </a:solidFill>
          <a:ln w="18288">
            <a:solidFill>
              <a:srgbClr val="38BDF8"/>
            </a:solidFill>
            <a:prstDash val="solid"/>
          </a:ln>
        </p:spPr>
      </p:sp>
      <p:sp>
        <p:nvSpPr>
          <p:cNvPr id="22" name="Text 16"/>
          <p:cNvSpPr/>
          <p:nvPr/>
        </p:nvSpPr>
        <p:spPr>
          <a:xfrm>
            <a:off x="785813" y="3308952"/>
            <a:ext cx="7572375" cy="466130"/>
          </a:xfrm>
          <a:prstGeom prst="rect">
            <a:avLst/>
          </a:prstGeom>
          <a:noFill/>
          <a:ln/>
        </p:spPr>
        <p:txBody>
          <a:bodyPr wrap="none" lIns="0" tIns="0" rIns="0" bIns="0" rtlCol="0" anchor="t">
            <a:spAutoFit/>
          </a:bodyPr>
          <a:lstStyle/>
          <a:p>
            <a:pPr algn="ctr" indent="0" marL="0">
              <a:lnSpc>
                <a:spcPts val="3200"/>
              </a:lnSpc>
              <a:buNone/>
            </a:pPr>
            <a:r>
              <a:rPr lang="en-US" sz="2436" b="1" spc="1" kern="0" dirty="0">
                <a:solidFill>
                  <a:srgbClr val="FFFFFF"/>
                </a:solidFill>
              </a:rPr>
              <a:t>Contact MacTech Today</a:t>
            </a:r>
            <a:endParaRPr lang="en-US" sz="2436" dirty="0"/>
          </a:p>
        </p:txBody>
      </p:sp>
      <p:sp>
        <p:nvSpPr>
          <p:cNvPr id="23" name="Text 17"/>
          <p:cNvSpPr/>
          <p:nvPr/>
        </p:nvSpPr>
        <p:spPr>
          <a:xfrm>
            <a:off x="785813" y="3832231"/>
            <a:ext cx="7572375" cy="233958"/>
          </a:xfrm>
          <a:prstGeom prst="rect">
            <a:avLst/>
          </a:prstGeom>
          <a:noFill/>
          <a:ln/>
        </p:spPr>
        <p:txBody>
          <a:bodyPr wrap="none" lIns="0" tIns="0" rIns="0" bIns="0" rtlCol="0" anchor="t">
            <a:spAutoFit/>
          </a:bodyPr>
          <a:lstStyle/>
          <a:p>
            <a:pPr algn="ctr" indent="0" marL="0">
              <a:lnSpc>
                <a:spcPts val="1600"/>
              </a:lnSpc>
              <a:buNone/>
            </a:pPr>
            <a:r>
              <a:rPr lang="en-US" sz="1269" dirty="0">
                <a:solidFill>
                  <a:srgbClr val="E2E8F0"/>
                </a:solidFill>
              </a:rPr>
              <a:t>Start your CMMC accelerator engagement now.</a:t>
            </a:r>
            <a:endParaRPr lang="en-US" sz="1269" dirty="0"/>
          </a:p>
        </p:txBody>
      </p:sp>
      <p:sp>
        <p:nvSpPr>
          <p:cNvPr id="24" name="Shape 18"/>
          <p:cNvSpPr/>
          <p:nvPr/>
        </p:nvSpPr>
        <p:spPr>
          <a:xfrm>
            <a:off x="2520376" y="4194777"/>
            <a:ext cx="4103247" cy="337542"/>
          </a:xfrm>
          <a:prstGeom prst="rect">
            <a:avLst/>
          </a:prstGeom>
          <a:solidFill>
            <a:srgbClr val="38BDF8"/>
          </a:solidFill>
          <a:ln/>
        </p:spPr>
      </p:sp>
      <p:pic>
        <p:nvPicPr>
          <p:cNvPr id="25" name="Image 3" descr="preencoded.png">    </p:cNvPr>
          <p:cNvPicPr>
            <a:picLocks noChangeAspect="1"/>
          </p:cNvPicPr>
          <p:nvPr/>
        </p:nvPicPr>
        <p:blipFill>
          <a:blip r:embed="rId4"/>
          <a:stretch>
            <a:fillRect/>
          </a:stretch>
        </p:blipFill>
        <p:spPr>
          <a:xfrm>
            <a:off x="2734689" y="4293003"/>
            <a:ext cx="114300" cy="142875"/>
          </a:xfrm>
          <a:prstGeom prst="rect">
            <a:avLst/>
          </a:prstGeom>
        </p:spPr>
      </p:pic>
      <p:sp>
        <p:nvSpPr>
          <p:cNvPr id="26" name="Text 19"/>
          <p:cNvSpPr/>
          <p:nvPr/>
        </p:nvSpPr>
        <p:spPr>
          <a:xfrm>
            <a:off x="2848989" y="4266214"/>
            <a:ext cx="3560322" cy="194667"/>
          </a:xfrm>
          <a:prstGeom prst="rect">
            <a:avLst/>
          </a:prstGeom>
          <a:noFill/>
          <a:ln/>
        </p:spPr>
        <p:txBody>
          <a:bodyPr wrap="none" lIns="0" tIns="0" rIns="0" bIns="0" rtlCol="0" anchor="t">
            <a:spAutoFit/>
          </a:bodyPr>
          <a:lstStyle/>
          <a:p>
            <a:pPr algn="ctr" indent="0" marL="0">
              <a:lnSpc>
                <a:spcPts val="1400"/>
              </a:lnSpc>
              <a:buNone/>
            </a:pPr>
            <a:r>
              <a:rPr lang="en-US" sz="987" b="1" spc="1" kern="0" dirty="0">
                <a:solidFill>
                  <a:srgbClr val="0F2942"/>
                </a:solidFill>
              </a:rPr>
              <a:t>Get Assessment-Ready in Under One Week</a:t>
            </a:r>
            <a:endParaRPr lang="en-US" sz="987" dirty="0"/>
          </a:p>
        </p:txBody>
      </p:sp>
      <p:sp>
        <p:nvSpPr>
          <p:cNvPr id="27" name="Text 20"/>
          <p:cNvSpPr/>
          <p:nvPr/>
        </p:nvSpPr>
        <p:spPr>
          <a:xfrm>
            <a:off x="571500" y="4936331"/>
            <a:ext cx="8001000" cy="135731"/>
          </a:xfrm>
          <a:prstGeom prst="rect">
            <a:avLst/>
          </a:prstGeom>
          <a:noFill/>
          <a:ln/>
        </p:spPr>
        <p:txBody>
          <a:bodyPr wrap="none" lIns="0" tIns="0" rIns="0" bIns="0" rtlCol="0" anchor="t">
            <a:spAutoFit/>
          </a:bodyPr>
          <a:lstStyle/>
          <a:p>
            <a:pPr algn="r" indent="0" marL="0">
              <a:lnSpc>
                <a:spcPts val="900"/>
              </a:lnSpc>
              <a:buNone/>
            </a:pPr>
            <a:r>
              <a:rPr lang="en-US" sz="727" dirty="0">
                <a:solidFill>
                  <a:srgbClr val="94A3B8">
                    <a:alpha val="60000"/>
                  </a:srgbClr>
                </a:solidFill>
              </a:rPr>
              <a:t>MACTECH TRUST CODEX // SLIDE 14</a:t>
            </a:r>
            <a:endParaRPr lang="en-US" sz="72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1038941" cy="333970"/>
          </a:xfrm>
          <a:prstGeom prst="rect">
            <a:avLst/>
          </a:prstGeom>
          <a:solidFill>
            <a:srgbClr val="0F2942"/>
          </a:solidFill>
          <a:ln w="18288">
            <a:solidFill>
              <a:srgbClr val="FFFFFF"/>
            </a:solidFill>
            <a:prstDash val="solid"/>
          </a:ln>
        </p:spPr>
      </p:sp>
      <p:sp>
        <p:nvSpPr>
          <p:cNvPr id="5" name="Text 1"/>
          <p:cNvSpPr/>
          <p:nvPr/>
        </p:nvSpPr>
        <p:spPr>
          <a:xfrm>
            <a:off x="428625" y="428625"/>
            <a:ext cx="1038941" cy="333970"/>
          </a:xfrm>
          <a:prstGeom prst="rect">
            <a:avLst/>
          </a:prstGeom>
          <a:noFill/>
          <a:ln/>
        </p:spPr>
        <p:txBody>
          <a:bodyPr wrap="square" lIns="127508" tIns="42545" rIns="127508" bIns="42545" rtlCol="0" anchor="t">
            <a:spAutoFit/>
          </a:bodyPr>
          <a:lstStyle/>
          <a:p>
            <a:pPr algn="l" indent="0" marL="0">
              <a:lnSpc>
                <a:spcPts val="1600"/>
              </a:lnSpc>
              <a:buNone/>
            </a:pPr>
            <a:r>
              <a:rPr lang="en-US" sz="1269" dirty="0">
                <a:solidFill>
                  <a:srgbClr val="FFFFFF"/>
                </a:solidFill>
              </a:rPr>
              <a:t>MACTECH</a:t>
            </a:r>
            <a:endParaRPr lang="en-US" sz="1269" dirty="0"/>
          </a:p>
        </p:txBody>
      </p:sp>
      <p:sp>
        <p:nvSpPr>
          <p:cNvPr id="6" name="Shape 2"/>
          <p:cNvSpPr/>
          <p:nvPr/>
        </p:nvSpPr>
        <p:spPr>
          <a:xfrm>
            <a:off x="1714500" y="338798"/>
            <a:ext cx="5715000" cy="4465904"/>
          </a:xfrm>
          <a:prstGeom prst="rect">
            <a:avLst/>
          </a:prstGeom>
          <a:solidFill>
            <a:srgbClr val="0F2942">
              <a:alpha val="85000"/>
            </a:srgbClr>
          </a:solidFill>
          <a:ln w="9144">
            <a:solidFill>
              <a:srgbClr val="38BDF8"/>
            </a:solidFill>
            <a:prstDash val="solid"/>
          </a:ln>
        </p:spPr>
      </p:sp>
      <p:sp>
        <p:nvSpPr>
          <p:cNvPr id="7" name="Text 3"/>
          <p:cNvSpPr/>
          <p:nvPr/>
        </p:nvSpPr>
        <p:spPr>
          <a:xfrm>
            <a:off x="2143125" y="774567"/>
            <a:ext cx="4857750" cy="1131559"/>
          </a:xfrm>
          <a:prstGeom prst="rect">
            <a:avLst/>
          </a:prstGeom>
          <a:noFill/>
          <a:ln/>
        </p:spPr>
        <p:txBody>
          <a:bodyPr wrap="square" lIns="0" tIns="0" rIns="0" bIns="0" rtlCol="0" anchor="t">
            <a:spAutoFit/>
          </a:bodyPr>
          <a:lstStyle/>
          <a:p>
            <a:pPr algn="ctr" indent="0" marL="0">
              <a:lnSpc>
                <a:spcPts val="4500"/>
              </a:lnSpc>
              <a:buNone/>
            </a:pPr>
            <a:r>
              <a:rPr lang="en-US" sz="3731" b="1" spc="2" kern="0" dirty="0">
                <a:solidFill>
                  <a:srgbClr val="FFFFFF"/>
                </a:solidFill>
              </a:rPr>
              <a:t>MacTech Trust Codex</a:t>
            </a:r>
            <a:endParaRPr lang="en-US" sz="3731" dirty="0"/>
          </a:p>
        </p:txBody>
      </p:sp>
      <p:sp>
        <p:nvSpPr>
          <p:cNvPr id="8" name="Text 4"/>
          <p:cNvSpPr/>
          <p:nvPr/>
        </p:nvSpPr>
        <p:spPr>
          <a:xfrm>
            <a:off x="2143125" y="2120438"/>
            <a:ext cx="4857750" cy="501848"/>
          </a:xfrm>
          <a:prstGeom prst="rect">
            <a:avLst/>
          </a:prstGeom>
          <a:noFill/>
          <a:ln/>
        </p:spPr>
        <p:txBody>
          <a:bodyPr wrap="square" lIns="0" tIns="127508" rIns="0" bIns="127508" rtlCol="0" anchor="t">
            <a:spAutoFit/>
          </a:bodyPr>
          <a:lstStyle/>
          <a:p>
            <a:pPr algn="ctr" indent="0" marL="0">
              <a:lnSpc>
                <a:spcPts val="1900"/>
              </a:lnSpc>
              <a:buNone/>
            </a:pPr>
            <a:r>
              <a:rPr lang="en-US" sz="1486" spc="1" kern="0" dirty="0">
                <a:solidFill>
                  <a:srgbClr val="38BDF8"/>
                </a:solidFill>
              </a:rPr>
              <a:t>Simple. Contained. Delivered Seamlessly.</a:t>
            </a:r>
            <a:endParaRPr lang="en-US" sz="1486" dirty="0"/>
          </a:p>
        </p:txBody>
      </p:sp>
      <p:pic>
        <p:nvPicPr>
          <p:cNvPr id="9" name="Image 1" descr="preencoded.png">    </p:cNvPr>
          <p:cNvPicPr>
            <a:picLocks noChangeAspect="1"/>
          </p:cNvPicPr>
          <p:nvPr/>
        </p:nvPicPr>
        <p:blipFill>
          <a:blip r:embed="rId2"/>
          <a:stretch>
            <a:fillRect/>
          </a:stretch>
        </p:blipFill>
        <p:spPr>
          <a:xfrm>
            <a:off x="3777397" y="2991083"/>
            <a:ext cx="214313" cy="171450"/>
          </a:xfrm>
          <a:prstGeom prst="rect">
            <a:avLst/>
          </a:prstGeom>
        </p:spPr>
      </p:pic>
      <p:sp>
        <p:nvSpPr>
          <p:cNvPr id="10" name="Text 5"/>
          <p:cNvSpPr/>
          <p:nvPr/>
        </p:nvSpPr>
        <p:spPr>
          <a:xfrm>
            <a:off x="4098866" y="2979474"/>
            <a:ext cx="1267737" cy="194667"/>
          </a:xfrm>
          <a:prstGeom prst="rect">
            <a:avLst/>
          </a:prstGeom>
          <a:noFill/>
          <a:ln/>
        </p:spPr>
        <p:txBody>
          <a:bodyPr wrap="none" lIns="0" tIns="0" rIns="0" bIns="0" rtlCol="0" anchor="t">
            <a:spAutoFit/>
          </a:bodyPr>
          <a:lstStyle/>
          <a:p>
            <a:pPr algn="ctr" indent="0" marL="0">
              <a:lnSpc>
                <a:spcPts val="1400"/>
              </a:lnSpc>
              <a:buNone/>
            </a:pPr>
            <a:r>
              <a:rPr lang="en-US" sz="1050" dirty="0">
                <a:solidFill>
                  <a:srgbClr val="E2E8F0"/>
                </a:solidFill>
              </a:rPr>
              <a:t>www.mactech.com</a:t>
            </a:r>
            <a:endParaRPr lang="en-US" sz="1050" dirty="0"/>
          </a:p>
        </p:txBody>
      </p:sp>
      <p:pic>
        <p:nvPicPr>
          <p:cNvPr id="11" name="Image 2" descr="preencoded.png">    </p:cNvPr>
          <p:cNvPicPr>
            <a:picLocks noChangeAspect="1"/>
          </p:cNvPicPr>
          <p:nvPr/>
        </p:nvPicPr>
        <p:blipFill>
          <a:blip r:embed="rId3"/>
          <a:stretch>
            <a:fillRect/>
          </a:stretch>
        </p:blipFill>
        <p:spPr>
          <a:xfrm>
            <a:off x="3650289" y="3328625"/>
            <a:ext cx="214313" cy="171450"/>
          </a:xfrm>
          <a:prstGeom prst="rect">
            <a:avLst/>
          </a:prstGeom>
        </p:spPr>
      </p:pic>
      <p:sp>
        <p:nvSpPr>
          <p:cNvPr id="12" name="Text 6"/>
          <p:cNvSpPr/>
          <p:nvPr/>
        </p:nvSpPr>
        <p:spPr>
          <a:xfrm>
            <a:off x="3971758" y="3317016"/>
            <a:ext cx="1521926" cy="194667"/>
          </a:xfrm>
          <a:prstGeom prst="rect">
            <a:avLst/>
          </a:prstGeom>
          <a:noFill/>
          <a:ln/>
        </p:spPr>
        <p:txBody>
          <a:bodyPr wrap="none" lIns="0" tIns="0" rIns="0" bIns="0" rtlCol="0" anchor="t">
            <a:spAutoFit/>
          </a:bodyPr>
          <a:lstStyle/>
          <a:p>
            <a:pPr algn="ctr" indent="0" marL="0">
              <a:lnSpc>
                <a:spcPts val="1400"/>
              </a:lnSpc>
              <a:buNone/>
            </a:pPr>
            <a:r>
              <a:rPr lang="en-US" sz="1050" dirty="0">
                <a:solidFill>
                  <a:srgbClr val="E2E8F0"/>
                </a:solidFill>
              </a:rPr>
              <a:t>contact@mactech.com</a:t>
            </a:r>
            <a:endParaRPr lang="en-US" sz="1050" dirty="0"/>
          </a:p>
        </p:txBody>
      </p:sp>
      <p:pic>
        <p:nvPicPr>
          <p:cNvPr id="13" name="Image 3" descr="preencoded.png">    </p:cNvPr>
          <p:cNvPicPr>
            <a:picLocks noChangeAspect="1"/>
          </p:cNvPicPr>
          <p:nvPr/>
        </p:nvPicPr>
        <p:blipFill>
          <a:blip r:embed="rId4"/>
          <a:stretch>
            <a:fillRect/>
          </a:stretch>
        </p:blipFill>
        <p:spPr>
          <a:xfrm>
            <a:off x="3918179" y="3666167"/>
            <a:ext cx="214313" cy="171450"/>
          </a:xfrm>
          <a:prstGeom prst="rect">
            <a:avLst/>
          </a:prstGeom>
        </p:spPr>
      </p:pic>
      <p:sp>
        <p:nvSpPr>
          <p:cNvPr id="14" name="Text 7"/>
          <p:cNvSpPr/>
          <p:nvPr/>
        </p:nvSpPr>
        <p:spPr>
          <a:xfrm>
            <a:off x="4239648" y="3654558"/>
            <a:ext cx="986144" cy="194667"/>
          </a:xfrm>
          <a:prstGeom prst="rect">
            <a:avLst/>
          </a:prstGeom>
          <a:noFill/>
          <a:ln/>
        </p:spPr>
        <p:txBody>
          <a:bodyPr wrap="none" lIns="0" tIns="0" rIns="0" bIns="0" rtlCol="0" anchor="t">
            <a:spAutoFit/>
          </a:bodyPr>
          <a:lstStyle/>
          <a:p>
            <a:pPr algn="ctr" indent="0" marL="0">
              <a:lnSpc>
                <a:spcPts val="1400"/>
              </a:lnSpc>
              <a:buNone/>
            </a:pPr>
            <a:r>
              <a:rPr lang="en-US" sz="1050" dirty="0">
                <a:solidFill>
                  <a:srgbClr val="E2E8F0"/>
                </a:solidFill>
              </a:rPr>
              <a:t>(555) 123-4567</a:t>
            </a:r>
            <a:endParaRPr lang="en-US" sz="1050" dirty="0"/>
          </a:p>
        </p:txBody>
      </p:sp>
      <p:sp>
        <p:nvSpPr>
          <p:cNvPr id="15" name="Text 8"/>
          <p:cNvSpPr/>
          <p:nvPr/>
        </p:nvSpPr>
        <p:spPr>
          <a:xfrm>
            <a:off x="2143125" y="4134976"/>
            <a:ext cx="4857750" cy="233958"/>
          </a:xfrm>
          <a:prstGeom prst="rect">
            <a:avLst/>
          </a:prstGeom>
          <a:noFill/>
          <a:ln/>
        </p:spPr>
        <p:txBody>
          <a:bodyPr wrap="none" lIns="0" tIns="0" rIns="0" bIns="0" rtlCol="0" anchor="t">
            <a:spAutoFit/>
          </a:bodyPr>
          <a:lstStyle/>
          <a:p>
            <a:pPr algn="ctr" indent="0" marL="0">
              <a:lnSpc>
                <a:spcPts val="1600"/>
              </a:lnSpc>
              <a:buNone/>
            </a:pPr>
            <a:r>
              <a:rPr lang="en-US" sz="1269" spc="2" kern="0" dirty="0">
                <a:solidFill>
                  <a:srgbClr val="94A3B8"/>
                </a:solidFill>
              </a:rPr>
              <a:t>Thank You</a:t>
            </a:r>
            <a:endParaRPr lang="en-US" sz="1269"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2026-02-13T06:07:01Z</dcterms:created>
  <dcterms:modified xsi:type="dcterms:W3CDTF">2026-02-13T06:07:01Z</dcterms:modified>
</cp:coreProperties>
</file>